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4a35cb8-31dc-a388-1f99-63fe457156b9}">
          <p14:sldIdLst>
            <p14:sldId id="257"/>
          </p14:sldIdLst>
        </p14:section>
        <p14:section name="Getting in" id="{030aee75-b6a8-6878-2030-940ba936262a}">
          <p14:sldIdLst>
            <p14:sldId id="258"/>
            <p14:sldId id="259"/>
          </p14:sldIdLst>
        </p14:section>
        <p14:section name="Finding your way" id="{80294bdc-bd05-ba94-ab9f-9d145075bf82}">
          <p14:sldIdLst>
            <p14:sldId id="260"/>
            <p14:sldId id="261"/>
            <p14:sldId id="262"/>
          </p14:sldIdLst>
        </p14:section>
        <p14:section name="Product pages" id="{56eef23d-552a-b579-22f0-41a13c40f3e5}">
          <p14:sldIdLst>
            <p14:sldId id="263"/>
            <p14:sldId id="264"/>
            <p14:sldId id="265"/>
            <p14:sldId id="266"/>
          </p14:sldIdLst>
        </p14:section>
        <p14:section name="Resources, claims and contact" id="{d7470664-24be-bb0e-5470-6e3dfbb49608}">
          <p14:sldIdLst>
            <p14:sldId id="267"/>
            <p14:sldId id="268"/>
            <p14:sldId id="269"/>
            <p14:sldId id="270"/>
            <p14:sldId id="271"/>
            <p14:sldId id="272"/>
          </p14:sldIdLst>
        </p14:section>
        <p14:section name="Summary" id="{2ba7b860-6b19-e1f7-6443-ca84064ed2d8}">
          <p14:sldIdLst>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Otta website. An overview of ottainsurance.co.nz and how to find your way around.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module covers. Getting in: The preview password while the site is in Coming Soon mode. Finding your way: The header, main menu, search and the Account login button. Product pages: Product overviews, policy documents and how Apply now works. Resources, claims and contact: Forms and wordings, claims steps, enquiries and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Getting in. While the site is being prepared, every visitor sees a Coming Soon page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Otta prepares for launch, the public website sits behind a Coming Soon page. Anyone with the preview password can see the full site. Type the password and select Enter. Your browser remembers it, so you only do this once per device.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your way. Every page shares the same header, so you can always get back to where you need to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home page. The header at the top appears on every page. The logo always brings you home. The main menu holds the six sections of the site. The magnifying glass opens search. Account login is where brokers sign in to the portal. Lower down, Discover Otta Solutions takes visitors to our products, and the otter in the corner opens the chat assistant.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Hover over Solutions in the main menu and a list of every Otta product appears. Select any product to open its page. On a phone, tap the menu icon instead and the same list appears.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 pages. Each product has its own page with an overview, the key covers and the documents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product page opens with the product name and an overview. The buttons underneath are the main actions: Apply now, View policy documents, and Download fact sheet. The page used here is Rental Property Insurance, but every product page follows the same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Further down each product page is the policy at a glance section. It summarises the key covers. For the exact terms, follow the link to the policy wording.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Otta works through brokers, so Apply now always starts by confirming the visitor is a broker. Brokers can then go to the broker portal, where they can complete the application online or send a secure link to their client. If they prefer paper, they can download the PDF proposal form. Members of the public are directed to talk to their broker.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Resources, claims and contact. Where visitors find documents, make a claim, or get in touch with the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Resources holds every policy wording, fact sheet and form, grouped by product. Pick a product, then download the document you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Claims page tells customers what to do in an emergency first, then how to lodge a non emergency claim, and links to the claim form for each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Contact Us form is the main way visitors get in touch. When someone selects Send enquiry, it is saved in the admin portal under Enquiries, it pops up on the admin dashboard, and it is emailed to the team. The page also lists our address and phone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Search looks across products, forms and pages. Results appear as you type. Select one to go straight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otter in the corner opens the website chat. Brad is an AI assistant that gives general information about our products, claims and contact details. It does not give advice. Steve is a light hearted extra and points people back to Brad.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points. The header, logo and main menu are the same on every page. Products live under Solutions. Each has Apply now, policy documents and a fact sheet. Only brokers can apply on behalf of clients: online in the portal or with the PDF form. Enquiries from Contact Us arrive in the admin portal and by email.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tta title">
    <p:bg>
      <p:bgPr>
        <a:solidFill>
          <a:schemeClr val="tx2"/>
        </a:solidFill>
      </p:bgPr>
    </p:bg>
    <p:spTree>
      <p:nvGrpSpPr>
        <p:cNvPr id="1" name=""/>
        <p:cNvGrpSpPr/>
        <p:nvPr/>
      </p:nvGrpSpPr>
      <p:grpSpPr>
        <a:xfrm>
          <a:off x="0" y="0"/>
          <a:ext cx="0" cy="0"/>
          <a:chOff x="0" y="0"/>
          <a:chExt cx="0" cy="0"/>
        </a:xfrm>
      </p:grpSpPr>
      <p:pic>
        <p:nvPicPr>
          <p:cNvPr id="2" name="Image 0" descr="/home/user/otta-MVP/public/brand/otta-logo-white.png">    </p:cNvPr>
          <p:cNvPicPr>
            <a:picLocks noChangeAspect="1"/>
          </p:cNvPicPr>
          <p:nvPr/>
        </p:nvPicPr>
        <p:blipFill>
          <a:blip r:embed="rId1"/>
          <a:stretch>
            <a:fillRect/>
          </a:stretch>
        </p:blipFill>
        <p:spPr>
          <a:xfrm>
            <a:off x="731520" y="640080"/>
            <a:ext cx="1737360" cy="649224"/>
          </a:xfrm>
          <a:prstGeom prst="rect">
            <a:avLst/>
          </a:prstGeom>
        </p:spPr>
      </p:pic>
      <p:sp>
        <p:nvSpPr>
          <p:cNvPr id="3" name="Shape 0"/>
          <p:cNvSpPr/>
          <p:nvPr/>
        </p:nvSpPr>
        <p:spPr>
          <a:xfrm>
            <a:off x="731520" y="2788920"/>
            <a:ext cx="1097280" cy="73152"/>
          </a:xfrm>
          <a:prstGeom prst="rect">
            <a:avLst/>
          </a:prstGeom>
          <a:solidFill>
            <a:schemeClr val="accent2"/>
          </a:solidFill>
          <a:ln/>
        </p:spPr>
      </p:sp>
      <p:sp>
        <p:nvSpPr>
          <p:cNvPr id="4" name="Text 1"/>
          <p:cNvSpPr/>
          <p:nvPr>
            <p:ph idx="102" type="title" hasCustomPrompt="1"/>
          </p:nvPr>
        </p:nvSpPr>
        <p:spPr>
          <a:xfrm>
            <a:off x="731520" y="3017520"/>
            <a:ext cx="10058400" cy="13716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5" name="Text 1"/>
          <p:cNvSpPr/>
          <p:nvPr>
            <p:ph idx="103" type="body" hasCustomPrompt="1"/>
          </p:nvPr>
        </p:nvSpPr>
        <p:spPr>
          <a:xfrm>
            <a:off x="731520" y="4434840"/>
            <a:ext cx="9144000" cy="822960"/>
          </a:xfrm>
          <a:prstGeom prst="rect">
            <a:avLst/>
          </a:prstGeom>
          <a:noFill/>
          <a:ln/>
        </p:spPr>
        <p:txBody>
          <a:bodyPr wrap="square" rtlCol="0"/>
          <a:lstStyle>
            <a:lvl1pPr algn="l" indent="0" marL="0">
              <a:buNone/>
              <a:defRPr lang="en-US" sz="2000" dirty="0">
                <a:solidFill>
                  <a:schemeClr val="bg1"/>
                </a:solidFill>
              </a:defRPr>
            </a:lvl1pPr>
          </a:lstStyle>
          <a:p>
            <a:pPr algn="l" indent="0" marL="0">
              <a:buNone/>
            </a:pPr>
            <a:endParaRPr lang="en-US" sz="2000" dirty="0"/>
          </a:p>
        </p:txBody>
      </p:sp>
      <p:sp>
        <p:nvSpPr>
          <p:cNvPr id="6" name="Text 1"/>
          <p:cNvSpPr/>
          <p:nvPr>
            <p:ph idx="104" type="body" hasCustomPrompt="1"/>
          </p:nvPr>
        </p:nvSpPr>
        <p:spPr>
          <a:xfrm>
            <a:off x="731520" y="5852160"/>
            <a:ext cx="7315200" cy="365760"/>
          </a:xfrm>
          <a:prstGeom prst="rect">
            <a:avLst/>
          </a:prstGeom>
          <a:noFill/>
          <a:ln/>
        </p:spPr>
        <p:txBody>
          <a:bodyPr wrap="square" rtlCol="0"/>
          <a:lstStyle>
            <a:lvl1pPr algn="l" indent="0" marL="0">
              <a:buNone/>
              <a:defRPr lang="en-US" sz="1300" b="1" spc="200" kern="0" dirty="0">
                <a:solidFill>
                  <a:schemeClr val="accent2"/>
                </a:solidFill>
              </a:defRPr>
            </a:lvl1pPr>
          </a:lstStyle>
          <a:p>
            <a:pPr algn="l" indent="0" marL="0">
              <a:buNone/>
            </a:pPr>
            <a:endParaRPr lang="en-US" sz="13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tta section">
    <p:bg>
      <p:bgPr>
        <a:solidFill>
          <a:schemeClr val="accent1"/>
        </a:solidFill>
      </p:bgPr>
    </p:bg>
    <p:spTree>
      <p:nvGrpSpPr>
        <p:cNvPr id="1" name=""/>
        <p:cNvGrpSpPr/>
        <p:nvPr/>
      </p:nvGrpSpPr>
      <p:grpSpPr>
        <a:xfrm>
          <a:off x="0" y="0"/>
          <a:ext cx="0" cy="0"/>
          <a:chOff x="0" y="0"/>
          <a:chExt cx="0" cy="0"/>
        </a:xfrm>
      </p:grpSpPr>
      <p:pic>
        <p:nvPicPr>
          <p:cNvPr id="2" name="Image 0" descr="/home/user/otta-MVP/public/brand/otta-logo-white.png">    </p:cNvPr>
          <p:cNvPicPr>
            <a:picLocks noChangeAspect="1"/>
          </p:cNvPicPr>
          <p:nvPr/>
        </p:nvPicPr>
        <p:blipFill>
          <a:blip r:embed="rId1"/>
          <a:stretch>
            <a:fillRect/>
          </a:stretch>
        </p:blipFill>
        <p:spPr>
          <a:xfrm>
            <a:off x="10607040" y="411480"/>
            <a:ext cx="1143000" cy="429768"/>
          </a:xfrm>
          <a:prstGeom prst="rect">
            <a:avLst/>
          </a:prstGeom>
        </p:spPr>
      </p:pic>
      <p:sp>
        <p:nvSpPr>
          <p:cNvPr id="3" name="Text 0"/>
          <p:cNvSpPr/>
          <p:nvPr>
            <p:ph idx="101" type="title" hasCustomPrompt="1"/>
          </p:nvPr>
        </p:nvSpPr>
        <p:spPr>
          <a:xfrm>
            <a:off x="731520" y="2743200"/>
            <a:ext cx="10058400" cy="10058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731520" y="3794760"/>
            <a:ext cx="8686800" cy="1097280"/>
          </a:xfrm>
          <a:prstGeom prst="rect">
            <a:avLst/>
          </a:prstGeom>
          <a:noFill/>
          <a:ln/>
        </p:spPr>
        <p:txBody>
          <a:bodyPr wrap="square" rtlCol="0"/>
          <a:lstStyle>
            <a:lvl1pPr algn="l" indent="0" marL="0">
              <a:buNone/>
              <a:defRPr lang="en-US" sz="2000" dirty="0">
                <a:solidFill>
                  <a:schemeClr val="bg1"/>
                </a:solidFill>
              </a:defRPr>
            </a:lvl1pPr>
          </a:lstStyle>
          <a:p>
            <a:pPr algn="l" indent="0" marL="0">
              <a:buNone/>
            </a:pPr>
            <a:endParaRPr lang="en-US" sz="2000" dirty="0"/>
          </a:p>
        </p:txBody>
      </p:sp>
      <p:sp>
        <p:nvSpPr>
          <p:cNvPr id="5" name="Text 0"/>
          <p:cNvSpPr/>
          <p:nvPr/>
        </p:nvSpPr>
        <p:spPr>
          <a:xfrm>
            <a:off x="731520" y="6263640"/>
            <a:ext cx="7315200" cy="274320"/>
          </a:xfrm>
          <a:prstGeom prst="rect">
            <a:avLst/>
          </a:prstGeom>
          <a:noFill/>
          <a:ln/>
        </p:spPr>
        <p:txBody>
          <a:bodyPr wrap="square" lIns="0" tIns="0" rIns="0" bIns="0" rtlCol="0" anchor="ctr"/>
          <a:lstStyle/>
          <a:p>
            <a:pPr indent="0" marL="0">
              <a:buNone/>
            </a:pPr>
            <a:r>
              <a:rPr lang="en-US" sz="1000" dirty="0">
                <a:solidFill>
                  <a:schemeClr val="bg1"/>
                </a:solidFill>
              </a:rPr>
              <a:t>Otta training  |  The Otta website</a:t>
            </a:r>
            <a:endParaRPr lang="en-US" sz="1000" dirty="0"/>
          </a:p>
        </p:txBody>
      </p:sp>
      <p:sp>
        <p:nvSpPr>
          <p:cNvPr id="25" name="Slide Number Placeholder 0"/>
          <p:cNvSpPr>
            <a:spLocks noGrp="1"/>
          </p:cNvSpPr>
          <p:nvPr>
            <p:ph type="sldNum" sz="quarter" idx="4294967295"/>
          </p:nvPr>
        </p:nvSpPr>
        <p:spPr>
          <a:xfrm>
            <a:off x="11155680" y="62636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Otta content">
    <p:bg>
      <p:bgPr>
        <a:solidFill>
          <a:schemeClr val="bg2"/>
        </a:solidFill>
      </p:bgPr>
    </p:bg>
    <p:spTree>
      <p:nvGrpSpPr>
        <p:cNvPr id="1" name=""/>
        <p:cNvGrpSpPr/>
        <p:nvPr/>
      </p:nvGrpSpPr>
      <p:grpSpPr>
        <a:xfrm>
          <a:off x="0" y="0"/>
          <a:ext cx="0" cy="0"/>
          <a:chOff x="0" y="0"/>
          <a:chExt cx="0" cy="0"/>
        </a:xfrm>
      </p:grpSpPr>
      <p:pic>
        <p:nvPicPr>
          <p:cNvPr id="2" name="Image 0" descr="/home/user/otta-MVP/public/brand/otta-logo.png">    </p:cNvPr>
          <p:cNvPicPr>
            <a:picLocks noChangeAspect="1"/>
          </p:cNvPicPr>
          <p:nvPr/>
        </p:nvPicPr>
        <p:blipFill>
          <a:blip r:embed="rId1"/>
          <a:stretch>
            <a:fillRect/>
          </a:stretch>
        </p:blipFill>
        <p:spPr>
          <a:xfrm>
            <a:off x="10835640" y="347472"/>
            <a:ext cx="914400" cy="338328"/>
          </a:xfrm>
          <a:prstGeom prst="rect">
            <a:avLst/>
          </a:prstGeom>
        </p:spPr>
      </p:pic>
      <p:sp>
        <p:nvSpPr>
          <p:cNvPr id="3" name="Text 0"/>
          <p:cNvSpPr/>
          <p:nvPr>
            <p:ph idx="101" type="title" hasCustomPrompt="1"/>
          </p:nvPr>
        </p:nvSpPr>
        <p:spPr>
          <a:xfrm>
            <a:off x="457200" y="274320"/>
            <a:ext cx="10058400" cy="68580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4" name="Text 0"/>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6B6E72"/>
                </a:solidFill>
              </a:rPr>
              <a:t>Otta training  |  The Otta website</a:t>
            </a:r>
            <a:endParaRPr lang="en-US" sz="100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2636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2" type="title" hasCustomPrompt="1"/>
          </p:nvPr>
        </p:nvSpPr>
        <p:spPr>
          <a:xfrm>
            <a:off x="731520" y="3017520"/>
            <a:ext cx="10058400" cy="1371600"/>
          </a:xfrm>
          <a:prstGeom prst="rect">
            <a:avLst/>
          </a:prstGeom>
          <a:noFill/>
          <a:ln/>
        </p:spPr>
        <p:txBody>
          <a:bodyPr wrap="square" lIns="0" tIns="0" rIns="0" bIns="0" rtlCol="0" anchor="t"/>
          <a:lstStyle/>
          <a:p>
            <a:pPr algn="l" indent="0" marL="0">
              <a:buNone/>
            </a:pPr>
            <a:r>
              <a:rPr lang="en-US" sz="4400" b="1" dirty="0">
                <a:solidFill>
                  <a:schemeClr val="bg1"/>
                </a:solidFill>
              </a:rPr>
              <a:t>The Otta website</a:t>
            </a:r>
            <a:endParaRPr lang="en-US" sz="4400" dirty="0"/>
          </a:p>
        </p:txBody>
      </p:sp>
      <p:sp>
        <p:nvSpPr>
          <p:cNvPr id="3" name="Text 1"/>
          <p:cNvSpPr/>
          <p:nvPr>
            <p:ph idx="103" type="body" hasCustomPrompt="1"/>
          </p:nvPr>
        </p:nvSpPr>
        <p:spPr>
          <a:xfrm>
            <a:off x="731520" y="4434840"/>
            <a:ext cx="9144000" cy="822960"/>
          </a:xfrm>
          <a:prstGeom prst="rect">
            <a:avLst/>
          </a:prstGeom>
          <a:noFill/>
          <a:ln/>
        </p:spPr>
        <p:txBody>
          <a:bodyPr wrap="square" lIns="0" tIns="0" rIns="0" bIns="0" rtlCol="0" anchor="t"/>
          <a:lstStyle/>
          <a:p>
            <a:pPr algn="l" indent="0" marL="0">
              <a:buNone/>
            </a:pPr>
            <a:r>
              <a:rPr lang="en-US" sz="2000" dirty="0">
                <a:solidFill>
                  <a:schemeClr val="bg1"/>
                </a:solidFill>
              </a:rPr>
              <a:t>An overview of ottainsurance.co.nz and how to find your way around</a:t>
            </a:r>
            <a:endParaRPr lang="en-US" sz="2000" dirty="0"/>
          </a:p>
        </p:txBody>
      </p:sp>
      <p:sp>
        <p:nvSpPr>
          <p:cNvPr id="4" name="Text 1"/>
          <p:cNvSpPr/>
          <p:nvPr>
            <p:ph idx="104" type="body" hasCustomPrompt="1"/>
          </p:nvPr>
        </p:nvSpPr>
        <p:spPr>
          <a:xfrm>
            <a:off x="731520" y="5852160"/>
            <a:ext cx="7315200" cy="365760"/>
          </a:xfrm>
          <a:prstGeom prst="rect">
            <a:avLst/>
          </a:prstGeom>
          <a:noFill/>
          <a:ln/>
        </p:spPr>
        <p:txBody>
          <a:bodyPr wrap="square" lIns="0" tIns="0" rIns="0" bIns="0" rtlCol="0"/>
          <a:lstStyle/>
          <a:p>
            <a:pPr algn="l" indent="0" marL="0">
              <a:buNone/>
            </a:pPr>
            <a:r>
              <a:rPr lang="en-US" sz="1300" b="1" spc="200" kern="0" dirty="0">
                <a:solidFill>
                  <a:schemeClr val="accent2"/>
                </a:solidFill>
              </a:rPr>
              <a:t>FOR OTTA TEAM</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What this module covers</a:t>
            </a:r>
            <a:endParaRPr lang="en-US" sz="2800" dirty="0"/>
          </a:p>
        </p:txBody>
      </p:sp>
      <p:sp>
        <p:nvSpPr>
          <p:cNvPr id="3" name="Card 1"/>
          <p:cNvSpPr/>
          <p:nvPr/>
        </p:nvSpPr>
        <p:spPr>
          <a:xfrm>
            <a:off x="457200" y="1280160"/>
            <a:ext cx="5486400" cy="2331720"/>
          </a:xfrm>
          <a:prstGeom prst="roundRect">
            <a:avLst>
              <a:gd name="adj" fmla="val 3137"/>
            </a:avLst>
          </a:prstGeom>
          <a:solidFill>
            <a:schemeClr val="bg1"/>
          </a:solidFill>
          <a:ln w="12700">
            <a:solidFill>
              <a:srgbClr val="DDE7E5"/>
            </a:solidFill>
            <a:prstDash val="solid"/>
          </a:ln>
        </p:spPr>
      </p:sp>
      <p:sp>
        <p:nvSpPr>
          <p:cNvPr id="4" name="Card 1 marker"/>
          <p:cNvSpPr/>
          <p:nvPr/>
        </p:nvSpPr>
        <p:spPr>
          <a:xfrm>
            <a:off x="777240" y="1600200"/>
            <a:ext cx="502920" cy="502920"/>
          </a:xfrm>
          <a:prstGeom prst="ellipse">
            <a:avLst/>
          </a:prstGeom>
          <a:solidFill>
            <a:schemeClr val="accent1"/>
          </a:solidFill>
          <a:ln w="12700">
            <a:solidFill>
              <a:schemeClr val="accent1"/>
            </a:solidFill>
            <a:prstDash val="solid"/>
          </a:ln>
        </p:spPr>
      </p:sp>
      <p:sp>
        <p:nvSpPr>
          <p:cNvPr id="5" name="Card 1 number"/>
          <p:cNvSpPr txBox="1"/>
          <p:nvPr/>
        </p:nvSpPr>
        <p:spPr>
          <a:xfrm>
            <a:off x="777240" y="160020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Card 1 heading"/>
          <p:cNvSpPr txBox="1"/>
          <p:nvPr/>
        </p:nvSpPr>
        <p:spPr>
          <a:xfrm>
            <a:off x="1463040" y="1554480"/>
            <a:ext cx="4206240" cy="594360"/>
          </a:xfrm>
          <a:prstGeom prst="rect">
            <a:avLst/>
          </a:prstGeom>
          <a:noFill/>
          <a:ln/>
        </p:spPr>
        <p:txBody>
          <a:bodyPr wrap="square" lIns="0" tIns="0" rIns="0" bIns="0" rtlCol="0" anchor="ctr"/>
          <a:lstStyle/>
          <a:p>
            <a:pPr indent="0" marL="0">
              <a:buNone/>
            </a:pPr>
            <a:r>
              <a:rPr lang="en-US" sz="1900" b="1" dirty="0">
                <a:solidFill>
                  <a:schemeClr val="tx2"/>
                </a:solidFill>
              </a:rPr>
              <a:t>Getting in</a:t>
            </a:r>
            <a:endParaRPr lang="en-US" sz="1900" dirty="0"/>
          </a:p>
        </p:txBody>
      </p:sp>
      <p:sp>
        <p:nvSpPr>
          <p:cNvPr id="7" name="Card 1 text"/>
          <p:cNvSpPr txBox="1"/>
          <p:nvPr/>
        </p:nvSpPr>
        <p:spPr>
          <a:xfrm>
            <a:off x="1463040" y="2194560"/>
            <a:ext cx="4206240" cy="1188720"/>
          </a:xfrm>
          <a:prstGeom prst="rect">
            <a:avLst/>
          </a:prstGeom>
          <a:noFill/>
          <a:ln/>
        </p:spPr>
        <p:txBody>
          <a:bodyPr wrap="square" lIns="0" tIns="0" rIns="0" bIns="0" rtlCol="0" anchor="t"/>
          <a:lstStyle/>
          <a:p>
            <a:pPr indent="0" marL="0">
              <a:buNone/>
            </a:pPr>
            <a:r>
              <a:rPr lang="en-US" sz="1500" dirty="0">
                <a:solidFill>
                  <a:schemeClr val="tx1"/>
                </a:solidFill>
              </a:rPr>
              <a:t>The preview password while the site is in Coming Soon mode.</a:t>
            </a:r>
            <a:endParaRPr lang="en-US" sz="1500" dirty="0"/>
          </a:p>
        </p:txBody>
      </p:sp>
      <p:sp>
        <p:nvSpPr>
          <p:cNvPr id="8" name="Card 2"/>
          <p:cNvSpPr/>
          <p:nvPr/>
        </p:nvSpPr>
        <p:spPr>
          <a:xfrm>
            <a:off x="6217920" y="1280160"/>
            <a:ext cx="5486400" cy="2331720"/>
          </a:xfrm>
          <a:prstGeom prst="roundRect">
            <a:avLst>
              <a:gd name="adj" fmla="val 3137"/>
            </a:avLst>
          </a:prstGeom>
          <a:solidFill>
            <a:schemeClr val="bg1"/>
          </a:solidFill>
          <a:ln w="12700">
            <a:solidFill>
              <a:srgbClr val="DDE7E5"/>
            </a:solidFill>
            <a:prstDash val="solid"/>
          </a:ln>
        </p:spPr>
      </p:sp>
      <p:sp>
        <p:nvSpPr>
          <p:cNvPr id="9" name="Card 2 marker"/>
          <p:cNvSpPr/>
          <p:nvPr/>
        </p:nvSpPr>
        <p:spPr>
          <a:xfrm>
            <a:off x="6537960" y="1600200"/>
            <a:ext cx="502920" cy="502920"/>
          </a:xfrm>
          <a:prstGeom prst="ellipse">
            <a:avLst/>
          </a:prstGeom>
          <a:solidFill>
            <a:schemeClr val="accent1"/>
          </a:solidFill>
          <a:ln w="12700">
            <a:solidFill>
              <a:schemeClr val="accent1"/>
            </a:solidFill>
            <a:prstDash val="solid"/>
          </a:ln>
        </p:spPr>
      </p:sp>
      <p:sp>
        <p:nvSpPr>
          <p:cNvPr id="10" name="Card 2 number"/>
          <p:cNvSpPr txBox="1"/>
          <p:nvPr/>
        </p:nvSpPr>
        <p:spPr>
          <a:xfrm>
            <a:off x="6537960" y="160020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Card 2 heading"/>
          <p:cNvSpPr txBox="1"/>
          <p:nvPr/>
        </p:nvSpPr>
        <p:spPr>
          <a:xfrm>
            <a:off x="7223760" y="1554480"/>
            <a:ext cx="4206240" cy="594360"/>
          </a:xfrm>
          <a:prstGeom prst="rect">
            <a:avLst/>
          </a:prstGeom>
          <a:noFill/>
          <a:ln/>
        </p:spPr>
        <p:txBody>
          <a:bodyPr wrap="square" lIns="0" tIns="0" rIns="0" bIns="0" rtlCol="0" anchor="ctr"/>
          <a:lstStyle/>
          <a:p>
            <a:pPr indent="0" marL="0">
              <a:buNone/>
            </a:pPr>
            <a:r>
              <a:rPr lang="en-US" sz="1900" b="1" dirty="0">
                <a:solidFill>
                  <a:schemeClr val="tx2"/>
                </a:solidFill>
              </a:rPr>
              <a:t>Finding your way</a:t>
            </a:r>
            <a:endParaRPr lang="en-US" sz="1900" dirty="0"/>
          </a:p>
        </p:txBody>
      </p:sp>
      <p:sp>
        <p:nvSpPr>
          <p:cNvPr id="12" name="Card 2 text"/>
          <p:cNvSpPr txBox="1"/>
          <p:nvPr/>
        </p:nvSpPr>
        <p:spPr>
          <a:xfrm>
            <a:off x="7223760" y="2194560"/>
            <a:ext cx="4206240" cy="1188720"/>
          </a:xfrm>
          <a:prstGeom prst="rect">
            <a:avLst/>
          </a:prstGeom>
          <a:noFill/>
          <a:ln/>
        </p:spPr>
        <p:txBody>
          <a:bodyPr wrap="square" lIns="0" tIns="0" rIns="0" bIns="0" rtlCol="0" anchor="t"/>
          <a:lstStyle/>
          <a:p>
            <a:pPr indent="0" marL="0">
              <a:buNone/>
            </a:pPr>
            <a:r>
              <a:rPr lang="en-US" sz="1500" dirty="0">
                <a:solidFill>
                  <a:schemeClr val="tx1"/>
                </a:solidFill>
              </a:rPr>
              <a:t>The header, main menu, search and the Account login button.</a:t>
            </a:r>
            <a:endParaRPr lang="en-US" sz="1500" dirty="0"/>
          </a:p>
        </p:txBody>
      </p:sp>
      <p:sp>
        <p:nvSpPr>
          <p:cNvPr id="13" name="Card 3"/>
          <p:cNvSpPr/>
          <p:nvPr/>
        </p:nvSpPr>
        <p:spPr>
          <a:xfrm>
            <a:off x="457200" y="3886200"/>
            <a:ext cx="5486400" cy="2331720"/>
          </a:xfrm>
          <a:prstGeom prst="roundRect">
            <a:avLst>
              <a:gd name="adj" fmla="val 3137"/>
            </a:avLst>
          </a:prstGeom>
          <a:solidFill>
            <a:schemeClr val="bg1"/>
          </a:solidFill>
          <a:ln w="12700">
            <a:solidFill>
              <a:srgbClr val="DDE7E5"/>
            </a:solidFill>
            <a:prstDash val="solid"/>
          </a:ln>
        </p:spPr>
      </p:sp>
      <p:sp>
        <p:nvSpPr>
          <p:cNvPr id="14" name="Card 3 marker"/>
          <p:cNvSpPr/>
          <p:nvPr/>
        </p:nvSpPr>
        <p:spPr>
          <a:xfrm>
            <a:off x="777240" y="4206240"/>
            <a:ext cx="502920" cy="502920"/>
          </a:xfrm>
          <a:prstGeom prst="ellipse">
            <a:avLst/>
          </a:prstGeom>
          <a:solidFill>
            <a:schemeClr val="accent1"/>
          </a:solidFill>
          <a:ln w="12700">
            <a:solidFill>
              <a:schemeClr val="accent1"/>
            </a:solidFill>
            <a:prstDash val="solid"/>
          </a:ln>
        </p:spPr>
      </p:sp>
      <p:sp>
        <p:nvSpPr>
          <p:cNvPr id="15" name="Card 3 number"/>
          <p:cNvSpPr txBox="1"/>
          <p:nvPr/>
        </p:nvSpPr>
        <p:spPr>
          <a:xfrm>
            <a:off x="777240" y="42062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Card 3 heading"/>
          <p:cNvSpPr txBox="1"/>
          <p:nvPr/>
        </p:nvSpPr>
        <p:spPr>
          <a:xfrm>
            <a:off x="1463040" y="4160520"/>
            <a:ext cx="4206240" cy="594360"/>
          </a:xfrm>
          <a:prstGeom prst="rect">
            <a:avLst/>
          </a:prstGeom>
          <a:noFill/>
          <a:ln/>
        </p:spPr>
        <p:txBody>
          <a:bodyPr wrap="square" lIns="0" tIns="0" rIns="0" bIns="0" rtlCol="0" anchor="ctr"/>
          <a:lstStyle/>
          <a:p>
            <a:pPr indent="0" marL="0">
              <a:buNone/>
            </a:pPr>
            <a:r>
              <a:rPr lang="en-US" sz="1900" b="1" dirty="0">
                <a:solidFill>
                  <a:schemeClr val="tx2"/>
                </a:solidFill>
              </a:rPr>
              <a:t>Product pages</a:t>
            </a:r>
            <a:endParaRPr lang="en-US" sz="1900" dirty="0"/>
          </a:p>
        </p:txBody>
      </p:sp>
      <p:sp>
        <p:nvSpPr>
          <p:cNvPr id="17" name="Card 3 text"/>
          <p:cNvSpPr txBox="1"/>
          <p:nvPr/>
        </p:nvSpPr>
        <p:spPr>
          <a:xfrm>
            <a:off x="1463040" y="4800600"/>
            <a:ext cx="4206240" cy="1188720"/>
          </a:xfrm>
          <a:prstGeom prst="rect">
            <a:avLst/>
          </a:prstGeom>
          <a:noFill/>
          <a:ln/>
        </p:spPr>
        <p:txBody>
          <a:bodyPr wrap="square" lIns="0" tIns="0" rIns="0" bIns="0" rtlCol="0" anchor="t"/>
          <a:lstStyle/>
          <a:p>
            <a:pPr indent="0" marL="0">
              <a:buNone/>
            </a:pPr>
            <a:r>
              <a:rPr lang="en-US" sz="1500" dirty="0">
                <a:solidFill>
                  <a:schemeClr val="tx1"/>
                </a:solidFill>
              </a:rPr>
              <a:t>Product overviews, policy documents and how Apply now works.</a:t>
            </a:r>
            <a:endParaRPr lang="en-US" sz="1500" dirty="0"/>
          </a:p>
        </p:txBody>
      </p:sp>
      <p:sp>
        <p:nvSpPr>
          <p:cNvPr id="18" name="Card 4"/>
          <p:cNvSpPr/>
          <p:nvPr/>
        </p:nvSpPr>
        <p:spPr>
          <a:xfrm>
            <a:off x="6217920" y="3886200"/>
            <a:ext cx="5486400" cy="2331720"/>
          </a:xfrm>
          <a:prstGeom prst="roundRect">
            <a:avLst>
              <a:gd name="adj" fmla="val 3137"/>
            </a:avLst>
          </a:prstGeom>
          <a:solidFill>
            <a:schemeClr val="bg1"/>
          </a:solidFill>
          <a:ln w="12700">
            <a:solidFill>
              <a:srgbClr val="DDE7E5"/>
            </a:solidFill>
            <a:prstDash val="solid"/>
          </a:ln>
        </p:spPr>
      </p:sp>
      <p:sp>
        <p:nvSpPr>
          <p:cNvPr id="19" name="Card 4 marker"/>
          <p:cNvSpPr/>
          <p:nvPr/>
        </p:nvSpPr>
        <p:spPr>
          <a:xfrm>
            <a:off x="6537960" y="4206240"/>
            <a:ext cx="502920" cy="502920"/>
          </a:xfrm>
          <a:prstGeom prst="ellipse">
            <a:avLst/>
          </a:prstGeom>
          <a:solidFill>
            <a:schemeClr val="accent1"/>
          </a:solidFill>
          <a:ln w="12700">
            <a:solidFill>
              <a:schemeClr val="accent1"/>
            </a:solidFill>
            <a:prstDash val="solid"/>
          </a:ln>
        </p:spPr>
      </p:sp>
      <p:sp>
        <p:nvSpPr>
          <p:cNvPr id="20" name="Card 4 number"/>
          <p:cNvSpPr txBox="1"/>
          <p:nvPr/>
        </p:nvSpPr>
        <p:spPr>
          <a:xfrm>
            <a:off x="6537960" y="42062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1" name="Card 4 heading"/>
          <p:cNvSpPr txBox="1"/>
          <p:nvPr/>
        </p:nvSpPr>
        <p:spPr>
          <a:xfrm>
            <a:off x="7223760" y="4160520"/>
            <a:ext cx="4206240" cy="594360"/>
          </a:xfrm>
          <a:prstGeom prst="rect">
            <a:avLst/>
          </a:prstGeom>
          <a:noFill/>
          <a:ln/>
        </p:spPr>
        <p:txBody>
          <a:bodyPr wrap="square" lIns="0" tIns="0" rIns="0" bIns="0" rtlCol="0" anchor="ctr"/>
          <a:lstStyle/>
          <a:p>
            <a:pPr indent="0" marL="0">
              <a:buNone/>
            </a:pPr>
            <a:r>
              <a:rPr lang="en-US" sz="1900" b="1" dirty="0">
                <a:solidFill>
                  <a:schemeClr val="tx2"/>
                </a:solidFill>
              </a:rPr>
              <a:t>Resources, claims and contact</a:t>
            </a:r>
            <a:endParaRPr lang="en-US" sz="1900" dirty="0"/>
          </a:p>
        </p:txBody>
      </p:sp>
      <p:sp>
        <p:nvSpPr>
          <p:cNvPr id="22" name="Card 4 text"/>
          <p:cNvSpPr txBox="1"/>
          <p:nvPr/>
        </p:nvSpPr>
        <p:spPr>
          <a:xfrm>
            <a:off x="7223760" y="4800600"/>
            <a:ext cx="4206240" cy="1188720"/>
          </a:xfrm>
          <a:prstGeom prst="rect">
            <a:avLst/>
          </a:prstGeom>
          <a:noFill/>
          <a:ln/>
        </p:spPr>
        <p:txBody>
          <a:bodyPr wrap="square" lIns="0" tIns="0" rIns="0" bIns="0" rtlCol="0" anchor="t"/>
          <a:lstStyle/>
          <a:p>
            <a:pPr indent="0" marL="0">
              <a:buNone/>
            </a:pPr>
            <a:r>
              <a:rPr lang="en-US" sz="1500" dirty="0">
                <a:solidFill>
                  <a:schemeClr val="tx1"/>
                </a:solidFill>
              </a:rPr>
              <a:t>Forms and wordings, claims steps, enquiries and the chat.</a:t>
            </a:r>
            <a:endParaRPr lang="en-US" sz="150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ection number"/>
          <p:cNvSpPr txBox="1"/>
          <p:nvPr/>
        </p:nvSpPr>
        <p:spPr>
          <a:xfrm>
            <a:off x="731520" y="1463040"/>
            <a:ext cx="1828800" cy="1097280"/>
          </a:xfrm>
          <a:prstGeom prst="rect">
            <a:avLst/>
          </a:prstGeom>
          <a:noFill/>
          <a:ln/>
        </p:spPr>
        <p:txBody>
          <a:bodyPr wrap="square" lIns="0" tIns="0" rIns="0" bIns="0" rtlCol="0" anchor="ctr"/>
          <a:lstStyle/>
          <a:p>
            <a:pPr indent="0" marL="0">
              <a:buNone/>
            </a:pPr>
            <a:r>
              <a:rPr lang="en-US" sz="6600" b="1" dirty="0">
                <a:solidFill>
                  <a:schemeClr val="accent2"/>
                </a:solidFill>
              </a:rPr>
              <a:t>01</a:t>
            </a:r>
            <a:endParaRPr lang="en-US" sz="6600" dirty="0"/>
          </a:p>
        </p:txBody>
      </p:sp>
      <p:sp>
        <p:nvSpPr>
          <p:cNvPr id="3" name="Text 0"/>
          <p:cNvSpPr/>
          <p:nvPr>
            <p:ph idx="101" type="title" hasCustomPrompt="1"/>
          </p:nvPr>
        </p:nvSpPr>
        <p:spPr>
          <a:xfrm>
            <a:off x="731520" y="2743200"/>
            <a:ext cx="10058400" cy="1005840"/>
          </a:xfrm>
          <a:prstGeom prst="rect">
            <a:avLst/>
          </a:prstGeom>
          <a:noFill/>
          <a:ln/>
        </p:spPr>
        <p:txBody>
          <a:bodyPr wrap="square" lIns="0" tIns="0" rIns="0" bIns="0" rtlCol="0" anchor="t"/>
          <a:lstStyle/>
          <a:p>
            <a:pPr algn="l" indent="0" marL="0">
              <a:buNone/>
            </a:pPr>
            <a:r>
              <a:rPr lang="en-US" sz="4000" b="1" dirty="0">
                <a:solidFill>
                  <a:schemeClr val="bg1"/>
                </a:solidFill>
              </a:rPr>
              <a:t>Getting in</a:t>
            </a:r>
            <a:endParaRPr lang="en-US" sz="4000" dirty="0"/>
          </a:p>
        </p:txBody>
      </p:sp>
      <p:sp>
        <p:nvSpPr>
          <p:cNvPr id="4" name="Text 0"/>
          <p:cNvSpPr/>
          <p:nvPr>
            <p:ph idx="102" type="body" hasCustomPrompt="1"/>
          </p:nvPr>
        </p:nvSpPr>
        <p:spPr>
          <a:xfrm>
            <a:off x="731520" y="3794760"/>
            <a:ext cx="8686800" cy="1097280"/>
          </a:xfrm>
          <a:prstGeom prst="rect">
            <a:avLst/>
          </a:prstGeom>
          <a:noFill/>
          <a:ln/>
        </p:spPr>
        <p:txBody>
          <a:bodyPr wrap="square" lIns="0" tIns="0" rIns="0" bIns="0" rtlCol="0" anchor="t"/>
          <a:lstStyle/>
          <a:p>
            <a:pPr algn="l" indent="0" marL="0">
              <a:buNone/>
            </a:pPr>
            <a:r>
              <a:rPr lang="en-US" sz="2000" dirty="0">
                <a:solidFill>
                  <a:schemeClr val="bg1"/>
                </a:solidFill>
              </a:rPr>
              <a:t>While the site is being prepared, every visitor sees a Coming Soon page first.</a:t>
            </a:r>
            <a:endParaRPr lang="en-US" sz="2000" dirty="0"/>
          </a:p>
        </p:txBody>
      </p:sp>
      <p:sp>
        <p:nvSpPr>
          <p:cNvPr id="25" name="Slide Number Placeholder 0"/>
          <p:cNvSpPr>
            <a:spLocks noGrp="1"/>
          </p:cNvSpPr>
          <p:nvPr>
            <p:ph type="sldNum" sz="quarter" idx="4294967295"/>
          </p:nvPr>
        </p:nvSpPr>
        <p:spPr>
          <a:xfrm>
            <a:off x="11155680" y="62636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The Coming Soon page</a:t>
            </a:r>
            <a:endParaRPr lang="en-US" sz="2800" dirty="0"/>
          </a:p>
        </p:txBody>
      </p:sp>
      <p:sp>
        <p:nvSpPr>
          <p:cNvPr id="3" name="Screenshot frame"/>
          <p:cNvSpPr/>
          <p:nvPr/>
        </p:nvSpPr>
        <p:spPr>
          <a:xfrm>
            <a:off x="402336" y="1133856"/>
            <a:ext cx="7790688" cy="4910328"/>
          </a:xfrm>
          <a:prstGeom prst="rect">
            <a:avLst/>
          </a:prstGeom>
          <a:solidFill>
            <a:schemeClr val="bg1"/>
          </a:solidFill>
          <a:ln w="12700">
            <a:solidFill>
              <a:srgbClr val="D5DFDD"/>
            </a:solidFill>
            <a:prstDash val="solid"/>
          </a:ln>
          <a:effectLst>
            <a:outerShdw sx="100000" sy="100000" kx="0" ky="0" algn="bl" rotWithShape="0" blurRad="76200" dist="25400" dir="5400000">
              <a:srgbClr val="000000">
                <a:alpha val="12000"/>
              </a:srgbClr>
            </a:outerShdw>
          </a:effectLst>
        </p:spPr>
      </p:sp>
      <p:pic>
        <p:nvPicPr>
          <p:cNvPr id="4" name="Screenshot" descr="The Coming Soon page: screenshot with numbered callouts">    </p:cNvPr>
          <p:cNvPicPr>
            <a:picLocks noChangeAspect="1"/>
          </p:cNvPicPr>
          <p:nvPr/>
        </p:nvPicPr>
        <p:blipFill>
          <a:blip r:embed="rId1"/>
          <a:stretch>
            <a:fillRect/>
          </a:stretch>
        </p:blipFill>
        <p:spPr>
          <a:xfrm>
            <a:off x="457200" y="1188720"/>
            <a:ext cx="7680960" cy="4800600"/>
          </a:xfrm>
          <a:prstGeom prst="rect">
            <a:avLst/>
          </a:prstGeom>
        </p:spPr>
      </p:pic>
      <p:sp>
        <p:nvSpPr>
          <p:cNvPr id="5" name="Step 1 marker"/>
          <p:cNvSpPr/>
          <p:nvPr/>
        </p:nvSpPr>
        <p:spPr>
          <a:xfrm>
            <a:off x="8503920" y="1207008"/>
            <a:ext cx="347472" cy="347472"/>
          </a:xfrm>
          <a:prstGeom prst="ellipse">
            <a:avLst/>
          </a:prstGeom>
          <a:solidFill>
            <a:schemeClr val="accent3"/>
          </a:solidFill>
          <a:ln w="12700">
            <a:solidFill>
              <a:schemeClr val="accent3"/>
            </a:solidFill>
            <a:prstDash val="solid"/>
          </a:ln>
        </p:spPr>
      </p:sp>
      <p:sp>
        <p:nvSpPr>
          <p:cNvPr id="6" name="Step 1 number"/>
          <p:cNvSpPr txBox="1"/>
          <p:nvPr/>
        </p:nvSpPr>
        <p:spPr>
          <a:xfrm>
            <a:off x="8503920" y="120700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Step 1 text"/>
          <p:cNvSpPr txBox="1"/>
          <p:nvPr/>
        </p:nvSpPr>
        <p:spPr>
          <a:xfrm>
            <a:off x="8979408" y="1188720"/>
            <a:ext cx="2770632" cy="1115568"/>
          </a:xfrm>
          <a:prstGeom prst="rect">
            <a:avLst/>
          </a:prstGeom>
          <a:noFill/>
          <a:ln/>
        </p:spPr>
        <p:txBody>
          <a:bodyPr wrap="square" lIns="0" tIns="0" rIns="0" bIns="0" rtlCol="0" anchor="t"/>
          <a:lstStyle/>
          <a:p>
            <a:pPr indent="0" marL="0">
              <a:buNone/>
            </a:pPr>
            <a:r>
              <a:rPr lang="en-US" sz="1350" dirty="0">
                <a:solidFill>
                  <a:schemeClr val="tx1"/>
                </a:solidFill>
              </a:rPr>
              <a:t>Type the preview password. Ask the Otta team if you don't have it.</a:t>
            </a:r>
            <a:endParaRPr lang="en-US" sz="1350" dirty="0"/>
          </a:p>
        </p:txBody>
      </p:sp>
      <p:sp>
        <p:nvSpPr>
          <p:cNvPr id="8" name="Step 2 marker"/>
          <p:cNvSpPr/>
          <p:nvPr/>
        </p:nvSpPr>
        <p:spPr>
          <a:xfrm>
            <a:off x="8503920" y="2395728"/>
            <a:ext cx="347472" cy="347472"/>
          </a:xfrm>
          <a:prstGeom prst="ellipse">
            <a:avLst/>
          </a:prstGeom>
          <a:solidFill>
            <a:schemeClr val="accent3"/>
          </a:solidFill>
          <a:ln w="12700">
            <a:solidFill>
              <a:schemeClr val="accent3"/>
            </a:solidFill>
            <a:prstDash val="solid"/>
          </a:ln>
        </p:spPr>
      </p:sp>
      <p:sp>
        <p:nvSpPr>
          <p:cNvPr id="9" name="Step 2 number"/>
          <p:cNvSpPr txBox="1"/>
          <p:nvPr/>
        </p:nvSpPr>
        <p:spPr>
          <a:xfrm>
            <a:off x="8503920" y="239572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Step 2 text"/>
          <p:cNvSpPr txBox="1"/>
          <p:nvPr/>
        </p:nvSpPr>
        <p:spPr>
          <a:xfrm>
            <a:off x="8979408" y="2377440"/>
            <a:ext cx="2770632" cy="1115568"/>
          </a:xfrm>
          <a:prstGeom prst="rect">
            <a:avLst/>
          </a:prstGeom>
          <a:noFill/>
          <a:ln/>
        </p:spPr>
        <p:txBody>
          <a:bodyPr wrap="square" lIns="0" tIns="0" rIns="0" bIns="0" rtlCol="0" anchor="t"/>
          <a:lstStyle/>
          <a:p>
            <a:pPr indent="0" marL="0">
              <a:buNone/>
            </a:pPr>
            <a:r>
              <a:rPr lang="en-US" sz="1350" dirty="0">
                <a:solidFill>
                  <a:schemeClr val="tx1"/>
                </a:solidFill>
              </a:rPr>
              <a:t>Select Enter to open the full site. You stay signed in on that browser.</a:t>
            </a:r>
            <a:endParaRPr lang="en-US" sz="135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ection number"/>
          <p:cNvSpPr txBox="1"/>
          <p:nvPr/>
        </p:nvSpPr>
        <p:spPr>
          <a:xfrm>
            <a:off x="731520" y="1463040"/>
            <a:ext cx="1828800" cy="1097280"/>
          </a:xfrm>
          <a:prstGeom prst="rect">
            <a:avLst/>
          </a:prstGeom>
          <a:noFill/>
          <a:ln/>
        </p:spPr>
        <p:txBody>
          <a:bodyPr wrap="square" lIns="0" tIns="0" rIns="0" bIns="0" rtlCol="0" anchor="ctr"/>
          <a:lstStyle/>
          <a:p>
            <a:pPr indent="0" marL="0">
              <a:buNone/>
            </a:pPr>
            <a:r>
              <a:rPr lang="en-US" sz="6600" b="1" dirty="0">
                <a:solidFill>
                  <a:schemeClr val="accent2"/>
                </a:solidFill>
              </a:rPr>
              <a:t>02</a:t>
            </a:r>
            <a:endParaRPr lang="en-US" sz="6600" dirty="0"/>
          </a:p>
        </p:txBody>
      </p:sp>
      <p:sp>
        <p:nvSpPr>
          <p:cNvPr id="3" name="Text 0"/>
          <p:cNvSpPr/>
          <p:nvPr>
            <p:ph idx="101" type="title" hasCustomPrompt="1"/>
          </p:nvPr>
        </p:nvSpPr>
        <p:spPr>
          <a:xfrm>
            <a:off x="731520" y="2743200"/>
            <a:ext cx="10058400" cy="1005840"/>
          </a:xfrm>
          <a:prstGeom prst="rect">
            <a:avLst/>
          </a:prstGeom>
          <a:noFill/>
          <a:ln/>
        </p:spPr>
        <p:txBody>
          <a:bodyPr wrap="square" lIns="0" tIns="0" rIns="0" bIns="0" rtlCol="0" anchor="t"/>
          <a:lstStyle/>
          <a:p>
            <a:pPr algn="l" indent="0" marL="0">
              <a:buNone/>
            </a:pPr>
            <a:r>
              <a:rPr lang="en-US" sz="4000" b="1" dirty="0">
                <a:solidFill>
                  <a:schemeClr val="bg1"/>
                </a:solidFill>
              </a:rPr>
              <a:t>Finding your way</a:t>
            </a:r>
            <a:endParaRPr lang="en-US" sz="4000" dirty="0"/>
          </a:p>
        </p:txBody>
      </p:sp>
      <p:sp>
        <p:nvSpPr>
          <p:cNvPr id="4" name="Text 0"/>
          <p:cNvSpPr/>
          <p:nvPr>
            <p:ph idx="102" type="body" hasCustomPrompt="1"/>
          </p:nvPr>
        </p:nvSpPr>
        <p:spPr>
          <a:xfrm>
            <a:off x="731520" y="3794760"/>
            <a:ext cx="8686800" cy="1097280"/>
          </a:xfrm>
          <a:prstGeom prst="rect">
            <a:avLst/>
          </a:prstGeom>
          <a:noFill/>
          <a:ln/>
        </p:spPr>
        <p:txBody>
          <a:bodyPr wrap="square" lIns="0" tIns="0" rIns="0" bIns="0" rtlCol="0" anchor="t"/>
          <a:lstStyle/>
          <a:p>
            <a:pPr algn="l" indent="0" marL="0">
              <a:buNone/>
            </a:pPr>
            <a:r>
              <a:rPr lang="en-US" sz="2000" dirty="0">
                <a:solidFill>
                  <a:schemeClr val="bg1"/>
                </a:solidFill>
              </a:rPr>
              <a:t>Every page shares the same header, so you can always get back to where you need to be.</a:t>
            </a:r>
            <a:endParaRPr lang="en-US" sz="2000" dirty="0"/>
          </a:p>
        </p:txBody>
      </p:sp>
      <p:sp>
        <p:nvSpPr>
          <p:cNvPr id="25" name="Slide Number Placeholder 0"/>
          <p:cNvSpPr>
            <a:spLocks noGrp="1"/>
          </p:cNvSpPr>
          <p:nvPr>
            <p:ph type="sldNum" sz="quarter" idx="4294967295"/>
          </p:nvPr>
        </p:nvSpPr>
        <p:spPr>
          <a:xfrm>
            <a:off x="11155680" y="62636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The home page and header</a:t>
            </a:r>
            <a:endParaRPr lang="en-US" sz="2800" dirty="0"/>
          </a:p>
        </p:txBody>
      </p:sp>
      <p:sp>
        <p:nvSpPr>
          <p:cNvPr id="3" name="Screenshot frame"/>
          <p:cNvSpPr/>
          <p:nvPr/>
        </p:nvSpPr>
        <p:spPr>
          <a:xfrm>
            <a:off x="402336" y="1133856"/>
            <a:ext cx="7790688" cy="4910328"/>
          </a:xfrm>
          <a:prstGeom prst="rect">
            <a:avLst/>
          </a:prstGeom>
          <a:solidFill>
            <a:schemeClr val="bg1"/>
          </a:solidFill>
          <a:ln w="12700">
            <a:solidFill>
              <a:srgbClr val="D5DFDD"/>
            </a:solidFill>
            <a:prstDash val="solid"/>
          </a:ln>
          <a:effectLst>
            <a:outerShdw sx="100000" sy="100000" kx="0" ky="0" algn="bl" rotWithShape="0" blurRad="76200" dist="25400" dir="5400000">
              <a:srgbClr val="000000">
                <a:alpha val="12000"/>
              </a:srgbClr>
            </a:outerShdw>
          </a:effectLst>
        </p:spPr>
      </p:sp>
      <p:pic>
        <p:nvPicPr>
          <p:cNvPr id="4" name="Screenshot" descr="The home page and header: screenshot with numbered callouts">    </p:cNvPr>
          <p:cNvPicPr>
            <a:picLocks noChangeAspect="1"/>
          </p:cNvPicPr>
          <p:nvPr/>
        </p:nvPicPr>
        <p:blipFill>
          <a:blip r:embed="rId1"/>
          <a:stretch>
            <a:fillRect/>
          </a:stretch>
        </p:blipFill>
        <p:spPr>
          <a:xfrm>
            <a:off x="457200" y="1188720"/>
            <a:ext cx="7680960" cy="4800600"/>
          </a:xfrm>
          <a:prstGeom prst="rect">
            <a:avLst/>
          </a:prstGeom>
        </p:spPr>
      </p:pic>
      <p:sp>
        <p:nvSpPr>
          <p:cNvPr id="5" name="Step 1 marker"/>
          <p:cNvSpPr/>
          <p:nvPr/>
        </p:nvSpPr>
        <p:spPr>
          <a:xfrm>
            <a:off x="8503920" y="1207008"/>
            <a:ext cx="347472" cy="347472"/>
          </a:xfrm>
          <a:prstGeom prst="ellipse">
            <a:avLst/>
          </a:prstGeom>
          <a:solidFill>
            <a:schemeClr val="accent3"/>
          </a:solidFill>
          <a:ln w="12700">
            <a:solidFill>
              <a:schemeClr val="accent3"/>
            </a:solidFill>
            <a:prstDash val="solid"/>
          </a:ln>
        </p:spPr>
      </p:sp>
      <p:sp>
        <p:nvSpPr>
          <p:cNvPr id="6" name="Step 1 number"/>
          <p:cNvSpPr txBox="1"/>
          <p:nvPr/>
        </p:nvSpPr>
        <p:spPr>
          <a:xfrm>
            <a:off x="8503920" y="120700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Step 1 text"/>
          <p:cNvSpPr txBox="1"/>
          <p:nvPr/>
        </p:nvSpPr>
        <p:spPr>
          <a:xfrm>
            <a:off x="8979408" y="1188720"/>
            <a:ext cx="2770632" cy="726948"/>
          </a:xfrm>
          <a:prstGeom prst="rect">
            <a:avLst/>
          </a:prstGeom>
          <a:noFill/>
          <a:ln/>
        </p:spPr>
        <p:txBody>
          <a:bodyPr wrap="square" lIns="0" tIns="0" rIns="0" bIns="0" rtlCol="0" anchor="t"/>
          <a:lstStyle/>
          <a:p>
            <a:pPr indent="0" marL="0">
              <a:buNone/>
            </a:pPr>
            <a:r>
              <a:rPr lang="en-US" sz="1200" dirty="0">
                <a:solidFill>
                  <a:schemeClr val="tx1"/>
                </a:solidFill>
              </a:rPr>
              <a:t>The Otta logo takes you back to the home page from anywhere.</a:t>
            </a:r>
            <a:endParaRPr lang="en-US" sz="1200" dirty="0"/>
          </a:p>
        </p:txBody>
      </p:sp>
      <p:sp>
        <p:nvSpPr>
          <p:cNvPr id="8" name="Step 2 marker"/>
          <p:cNvSpPr/>
          <p:nvPr/>
        </p:nvSpPr>
        <p:spPr>
          <a:xfrm>
            <a:off x="8503920" y="2007108"/>
            <a:ext cx="347472" cy="347472"/>
          </a:xfrm>
          <a:prstGeom prst="ellipse">
            <a:avLst/>
          </a:prstGeom>
          <a:solidFill>
            <a:schemeClr val="accent3"/>
          </a:solidFill>
          <a:ln w="12700">
            <a:solidFill>
              <a:schemeClr val="accent3"/>
            </a:solidFill>
            <a:prstDash val="solid"/>
          </a:ln>
        </p:spPr>
      </p:sp>
      <p:sp>
        <p:nvSpPr>
          <p:cNvPr id="9" name="Step 2 number"/>
          <p:cNvSpPr txBox="1"/>
          <p:nvPr/>
        </p:nvSpPr>
        <p:spPr>
          <a:xfrm>
            <a:off x="8503920" y="200710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Step 2 text"/>
          <p:cNvSpPr txBox="1"/>
          <p:nvPr/>
        </p:nvSpPr>
        <p:spPr>
          <a:xfrm>
            <a:off x="8979408" y="1988820"/>
            <a:ext cx="2770632" cy="726948"/>
          </a:xfrm>
          <a:prstGeom prst="rect">
            <a:avLst/>
          </a:prstGeom>
          <a:noFill/>
          <a:ln/>
        </p:spPr>
        <p:txBody>
          <a:bodyPr wrap="square" lIns="0" tIns="0" rIns="0" bIns="0" rtlCol="0" anchor="t"/>
          <a:lstStyle/>
          <a:p>
            <a:pPr indent="0" marL="0">
              <a:buNone/>
            </a:pPr>
            <a:r>
              <a:rPr lang="en-US" sz="1200" dirty="0">
                <a:solidFill>
                  <a:schemeClr val="tx1"/>
                </a:solidFill>
              </a:rPr>
              <a:t>The main menu: Home, About us, Solutions, Claims, Resources and Contact Us.</a:t>
            </a:r>
            <a:endParaRPr lang="en-US" sz="1200" dirty="0"/>
          </a:p>
        </p:txBody>
      </p:sp>
      <p:sp>
        <p:nvSpPr>
          <p:cNvPr id="11" name="Step 3 marker"/>
          <p:cNvSpPr/>
          <p:nvPr/>
        </p:nvSpPr>
        <p:spPr>
          <a:xfrm>
            <a:off x="8503920" y="2807208"/>
            <a:ext cx="347472" cy="347472"/>
          </a:xfrm>
          <a:prstGeom prst="ellipse">
            <a:avLst/>
          </a:prstGeom>
          <a:solidFill>
            <a:schemeClr val="accent3"/>
          </a:solidFill>
          <a:ln w="12700">
            <a:solidFill>
              <a:schemeClr val="accent3"/>
            </a:solidFill>
            <a:prstDash val="solid"/>
          </a:ln>
        </p:spPr>
      </p:sp>
      <p:sp>
        <p:nvSpPr>
          <p:cNvPr id="12" name="Step 3 number"/>
          <p:cNvSpPr txBox="1"/>
          <p:nvPr/>
        </p:nvSpPr>
        <p:spPr>
          <a:xfrm>
            <a:off x="8503920" y="280720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Step 3 text"/>
          <p:cNvSpPr txBox="1"/>
          <p:nvPr/>
        </p:nvSpPr>
        <p:spPr>
          <a:xfrm>
            <a:off x="8979408" y="2788920"/>
            <a:ext cx="2770632" cy="726948"/>
          </a:xfrm>
          <a:prstGeom prst="rect">
            <a:avLst/>
          </a:prstGeom>
          <a:noFill/>
          <a:ln/>
        </p:spPr>
        <p:txBody>
          <a:bodyPr wrap="square" lIns="0" tIns="0" rIns="0" bIns="0" rtlCol="0" anchor="t"/>
          <a:lstStyle/>
          <a:p>
            <a:pPr indent="0" marL="0">
              <a:buNone/>
            </a:pPr>
            <a:r>
              <a:rPr lang="en-US" sz="1200" dirty="0">
                <a:solidFill>
                  <a:schemeClr val="tx1"/>
                </a:solidFill>
              </a:rPr>
              <a:t>Search finds products, forms and pages by keyword.</a:t>
            </a:r>
            <a:endParaRPr lang="en-US" sz="1200" dirty="0"/>
          </a:p>
        </p:txBody>
      </p:sp>
      <p:sp>
        <p:nvSpPr>
          <p:cNvPr id="14" name="Step 4 marker"/>
          <p:cNvSpPr/>
          <p:nvPr/>
        </p:nvSpPr>
        <p:spPr>
          <a:xfrm>
            <a:off x="8503920" y="3607308"/>
            <a:ext cx="347472" cy="347472"/>
          </a:xfrm>
          <a:prstGeom prst="ellipse">
            <a:avLst/>
          </a:prstGeom>
          <a:solidFill>
            <a:schemeClr val="accent3"/>
          </a:solidFill>
          <a:ln w="12700">
            <a:solidFill>
              <a:schemeClr val="accent3"/>
            </a:solidFill>
            <a:prstDash val="solid"/>
          </a:ln>
        </p:spPr>
      </p:sp>
      <p:sp>
        <p:nvSpPr>
          <p:cNvPr id="15" name="Step 4 number"/>
          <p:cNvSpPr txBox="1"/>
          <p:nvPr/>
        </p:nvSpPr>
        <p:spPr>
          <a:xfrm>
            <a:off x="8503920" y="360730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6" name="Step 4 text"/>
          <p:cNvSpPr txBox="1"/>
          <p:nvPr/>
        </p:nvSpPr>
        <p:spPr>
          <a:xfrm>
            <a:off x="8979408" y="3589020"/>
            <a:ext cx="2770632" cy="726948"/>
          </a:xfrm>
          <a:prstGeom prst="rect">
            <a:avLst/>
          </a:prstGeom>
          <a:noFill/>
          <a:ln/>
        </p:spPr>
        <p:txBody>
          <a:bodyPr wrap="square" lIns="0" tIns="0" rIns="0" bIns="0" rtlCol="0" anchor="t"/>
          <a:lstStyle/>
          <a:p>
            <a:pPr indent="0" marL="0">
              <a:buNone/>
            </a:pPr>
            <a:r>
              <a:rPr lang="en-US" sz="1200" dirty="0">
                <a:solidFill>
                  <a:schemeClr val="tx1"/>
                </a:solidFill>
              </a:rPr>
              <a:t>Account login takes brokers to the Otta Broker Portal.</a:t>
            </a:r>
            <a:endParaRPr lang="en-US" sz="1200" dirty="0"/>
          </a:p>
        </p:txBody>
      </p:sp>
      <p:sp>
        <p:nvSpPr>
          <p:cNvPr id="17" name="Step 5 marker"/>
          <p:cNvSpPr/>
          <p:nvPr/>
        </p:nvSpPr>
        <p:spPr>
          <a:xfrm>
            <a:off x="8503920" y="4407408"/>
            <a:ext cx="347472" cy="347472"/>
          </a:xfrm>
          <a:prstGeom prst="ellipse">
            <a:avLst/>
          </a:prstGeom>
          <a:solidFill>
            <a:schemeClr val="accent3"/>
          </a:solidFill>
          <a:ln w="12700">
            <a:solidFill>
              <a:schemeClr val="accent3"/>
            </a:solidFill>
            <a:prstDash val="solid"/>
          </a:ln>
        </p:spPr>
      </p:sp>
      <p:sp>
        <p:nvSpPr>
          <p:cNvPr id="18" name="Step 5 number"/>
          <p:cNvSpPr txBox="1"/>
          <p:nvPr/>
        </p:nvSpPr>
        <p:spPr>
          <a:xfrm>
            <a:off x="8503920" y="440740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19" name="Step 5 text"/>
          <p:cNvSpPr txBox="1"/>
          <p:nvPr/>
        </p:nvSpPr>
        <p:spPr>
          <a:xfrm>
            <a:off x="8979408" y="4389120"/>
            <a:ext cx="2770632" cy="726948"/>
          </a:xfrm>
          <a:prstGeom prst="rect">
            <a:avLst/>
          </a:prstGeom>
          <a:noFill/>
          <a:ln/>
        </p:spPr>
        <p:txBody>
          <a:bodyPr wrap="square" lIns="0" tIns="0" rIns="0" bIns="0" rtlCol="0" anchor="t"/>
          <a:lstStyle/>
          <a:p>
            <a:pPr indent="0" marL="0">
              <a:buNone/>
            </a:pPr>
            <a:r>
              <a:rPr lang="en-US" sz="1200" dirty="0">
                <a:solidFill>
                  <a:schemeClr val="tx1"/>
                </a:solidFill>
              </a:rPr>
              <a:t>Discover Otta Solutions jumps straight to our products.</a:t>
            </a:r>
            <a:endParaRPr lang="en-US" sz="1200" dirty="0"/>
          </a:p>
        </p:txBody>
      </p:sp>
      <p:sp>
        <p:nvSpPr>
          <p:cNvPr id="20" name="Step 6 marker"/>
          <p:cNvSpPr/>
          <p:nvPr/>
        </p:nvSpPr>
        <p:spPr>
          <a:xfrm>
            <a:off x="8503920" y="5207508"/>
            <a:ext cx="347472" cy="347472"/>
          </a:xfrm>
          <a:prstGeom prst="ellipse">
            <a:avLst/>
          </a:prstGeom>
          <a:solidFill>
            <a:schemeClr val="accent3"/>
          </a:solidFill>
          <a:ln w="12700">
            <a:solidFill>
              <a:schemeClr val="accent3"/>
            </a:solidFill>
            <a:prstDash val="solid"/>
          </a:ln>
        </p:spPr>
      </p:sp>
      <p:sp>
        <p:nvSpPr>
          <p:cNvPr id="21" name="Step 6 number"/>
          <p:cNvSpPr txBox="1"/>
          <p:nvPr/>
        </p:nvSpPr>
        <p:spPr>
          <a:xfrm>
            <a:off x="8503920" y="520750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22" name="Step 6 text"/>
          <p:cNvSpPr txBox="1"/>
          <p:nvPr/>
        </p:nvSpPr>
        <p:spPr>
          <a:xfrm>
            <a:off x="8979408" y="5189220"/>
            <a:ext cx="2770632" cy="726948"/>
          </a:xfrm>
          <a:prstGeom prst="rect">
            <a:avLst/>
          </a:prstGeom>
          <a:noFill/>
          <a:ln/>
        </p:spPr>
        <p:txBody>
          <a:bodyPr wrap="square" lIns="0" tIns="0" rIns="0" bIns="0" rtlCol="0" anchor="t"/>
          <a:lstStyle/>
          <a:p>
            <a:pPr indent="0" marL="0">
              <a:buNone/>
            </a:pPr>
            <a:r>
              <a:rPr lang="en-US" sz="1200" dirty="0">
                <a:solidFill>
                  <a:schemeClr val="tx1"/>
                </a:solidFill>
              </a:rPr>
              <a:t>Ask the Otta otters: our website chat assistant.</a:t>
            </a:r>
            <a:endParaRPr lang="en-US" sz="120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Opening a product from the Solutions menu</a:t>
            </a:r>
            <a:endParaRPr lang="en-US" sz="2800" dirty="0"/>
          </a:p>
        </p:txBody>
      </p:sp>
      <p:sp>
        <p:nvSpPr>
          <p:cNvPr id="3" name="Screenshot frame"/>
          <p:cNvSpPr/>
          <p:nvPr/>
        </p:nvSpPr>
        <p:spPr>
          <a:xfrm>
            <a:off x="402336" y="1133856"/>
            <a:ext cx="7790688" cy="4910328"/>
          </a:xfrm>
          <a:prstGeom prst="rect">
            <a:avLst/>
          </a:prstGeom>
          <a:solidFill>
            <a:schemeClr val="bg1"/>
          </a:solidFill>
          <a:ln w="12700">
            <a:solidFill>
              <a:srgbClr val="D5DFDD"/>
            </a:solidFill>
            <a:prstDash val="solid"/>
          </a:ln>
          <a:effectLst>
            <a:outerShdw sx="100000" sy="100000" kx="0" ky="0" algn="bl" rotWithShape="0" blurRad="76200" dist="25400" dir="5400000">
              <a:srgbClr val="000000">
                <a:alpha val="12000"/>
              </a:srgbClr>
            </a:outerShdw>
          </a:effectLst>
        </p:spPr>
      </p:sp>
      <p:pic>
        <p:nvPicPr>
          <p:cNvPr id="4" name="Screenshot" descr="Opening a product from the Solutions menu: screenshot with numbered callouts">    </p:cNvPr>
          <p:cNvPicPr>
            <a:picLocks noChangeAspect="1"/>
          </p:cNvPicPr>
          <p:nvPr/>
        </p:nvPicPr>
        <p:blipFill>
          <a:blip r:embed="rId1"/>
          <a:stretch>
            <a:fillRect/>
          </a:stretch>
        </p:blipFill>
        <p:spPr>
          <a:xfrm>
            <a:off x="457200" y="1188720"/>
            <a:ext cx="7680960" cy="4800600"/>
          </a:xfrm>
          <a:prstGeom prst="rect">
            <a:avLst/>
          </a:prstGeom>
        </p:spPr>
      </p:pic>
      <p:sp>
        <p:nvSpPr>
          <p:cNvPr id="5" name="Step 1 marker"/>
          <p:cNvSpPr/>
          <p:nvPr/>
        </p:nvSpPr>
        <p:spPr>
          <a:xfrm>
            <a:off x="8503920" y="1207008"/>
            <a:ext cx="347472" cy="347472"/>
          </a:xfrm>
          <a:prstGeom prst="ellipse">
            <a:avLst/>
          </a:prstGeom>
          <a:solidFill>
            <a:schemeClr val="accent3"/>
          </a:solidFill>
          <a:ln w="12700">
            <a:solidFill>
              <a:schemeClr val="accent3"/>
            </a:solidFill>
            <a:prstDash val="solid"/>
          </a:ln>
        </p:spPr>
      </p:sp>
      <p:sp>
        <p:nvSpPr>
          <p:cNvPr id="6" name="Step 1 number"/>
          <p:cNvSpPr txBox="1"/>
          <p:nvPr/>
        </p:nvSpPr>
        <p:spPr>
          <a:xfrm>
            <a:off x="8503920" y="120700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Step 1 text"/>
          <p:cNvSpPr txBox="1"/>
          <p:nvPr/>
        </p:nvSpPr>
        <p:spPr>
          <a:xfrm>
            <a:off x="8979408" y="1188720"/>
            <a:ext cx="2770632" cy="1115568"/>
          </a:xfrm>
          <a:prstGeom prst="rect">
            <a:avLst/>
          </a:prstGeom>
          <a:noFill/>
          <a:ln/>
        </p:spPr>
        <p:txBody>
          <a:bodyPr wrap="square" lIns="0" tIns="0" rIns="0" bIns="0" rtlCol="0" anchor="t"/>
          <a:lstStyle/>
          <a:p>
            <a:pPr indent="0" marL="0">
              <a:buNone/>
            </a:pPr>
            <a:r>
              <a:rPr lang="en-US" sz="1350" dirty="0">
                <a:solidFill>
                  <a:schemeClr val="tx1"/>
                </a:solidFill>
              </a:rPr>
              <a:t>Hover over Solutions to open the menu.</a:t>
            </a:r>
            <a:endParaRPr lang="en-US" sz="1350" dirty="0"/>
          </a:p>
        </p:txBody>
      </p:sp>
      <p:sp>
        <p:nvSpPr>
          <p:cNvPr id="8" name="Step 2 marker"/>
          <p:cNvSpPr/>
          <p:nvPr/>
        </p:nvSpPr>
        <p:spPr>
          <a:xfrm>
            <a:off x="8503920" y="2395728"/>
            <a:ext cx="347472" cy="347472"/>
          </a:xfrm>
          <a:prstGeom prst="ellipse">
            <a:avLst/>
          </a:prstGeom>
          <a:solidFill>
            <a:schemeClr val="accent3"/>
          </a:solidFill>
          <a:ln w="12700">
            <a:solidFill>
              <a:schemeClr val="accent3"/>
            </a:solidFill>
            <a:prstDash val="solid"/>
          </a:ln>
        </p:spPr>
      </p:sp>
      <p:sp>
        <p:nvSpPr>
          <p:cNvPr id="9" name="Step 2 number"/>
          <p:cNvSpPr txBox="1"/>
          <p:nvPr/>
        </p:nvSpPr>
        <p:spPr>
          <a:xfrm>
            <a:off x="8503920" y="239572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Step 2 text"/>
          <p:cNvSpPr txBox="1"/>
          <p:nvPr/>
        </p:nvSpPr>
        <p:spPr>
          <a:xfrm>
            <a:off x="8979408" y="2377440"/>
            <a:ext cx="2770632" cy="1115568"/>
          </a:xfrm>
          <a:prstGeom prst="rect">
            <a:avLst/>
          </a:prstGeom>
          <a:noFill/>
          <a:ln/>
        </p:spPr>
        <p:txBody>
          <a:bodyPr wrap="square" lIns="0" tIns="0" rIns="0" bIns="0" rtlCol="0" anchor="t"/>
          <a:lstStyle/>
          <a:p>
            <a:pPr indent="0" marL="0">
              <a:buNone/>
            </a:pPr>
            <a:r>
              <a:rPr lang="en-US" sz="1350" dirty="0">
                <a:solidFill>
                  <a:schemeClr val="tx1"/>
                </a:solidFill>
              </a:rPr>
              <a:t>Choose a product to open its page.</a:t>
            </a:r>
            <a:endParaRPr lang="en-US" sz="135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ection number"/>
          <p:cNvSpPr txBox="1"/>
          <p:nvPr/>
        </p:nvSpPr>
        <p:spPr>
          <a:xfrm>
            <a:off x="731520" y="1463040"/>
            <a:ext cx="1828800" cy="1097280"/>
          </a:xfrm>
          <a:prstGeom prst="rect">
            <a:avLst/>
          </a:prstGeom>
          <a:noFill/>
          <a:ln/>
        </p:spPr>
        <p:txBody>
          <a:bodyPr wrap="square" lIns="0" tIns="0" rIns="0" bIns="0" rtlCol="0" anchor="ctr"/>
          <a:lstStyle/>
          <a:p>
            <a:pPr indent="0" marL="0">
              <a:buNone/>
            </a:pPr>
            <a:r>
              <a:rPr lang="en-US" sz="6600" b="1" dirty="0">
                <a:solidFill>
                  <a:schemeClr val="accent2"/>
                </a:solidFill>
              </a:rPr>
              <a:t>03</a:t>
            </a:r>
            <a:endParaRPr lang="en-US" sz="6600" dirty="0"/>
          </a:p>
        </p:txBody>
      </p:sp>
      <p:sp>
        <p:nvSpPr>
          <p:cNvPr id="3" name="Text 0"/>
          <p:cNvSpPr/>
          <p:nvPr>
            <p:ph idx="101" type="title" hasCustomPrompt="1"/>
          </p:nvPr>
        </p:nvSpPr>
        <p:spPr>
          <a:xfrm>
            <a:off x="731520" y="2743200"/>
            <a:ext cx="10058400" cy="1005840"/>
          </a:xfrm>
          <a:prstGeom prst="rect">
            <a:avLst/>
          </a:prstGeom>
          <a:noFill/>
          <a:ln/>
        </p:spPr>
        <p:txBody>
          <a:bodyPr wrap="square" lIns="0" tIns="0" rIns="0" bIns="0" rtlCol="0" anchor="t"/>
          <a:lstStyle/>
          <a:p>
            <a:pPr algn="l" indent="0" marL="0">
              <a:buNone/>
            </a:pPr>
            <a:r>
              <a:rPr lang="en-US" sz="4000" b="1" dirty="0">
                <a:solidFill>
                  <a:schemeClr val="bg1"/>
                </a:solidFill>
              </a:rPr>
              <a:t>Product pages</a:t>
            </a:r>
            <a:endParaRPr lang="en-US" sz="4000" dirty="0"/>
          </a:p>
        </p:txBody>
      </p:sp>
      <p:sp>
        <p:nvSpPr>
          <p:cNvPr id="4" name="Text 0"/>
          <p:cNvSpPr/>
          <p:nvPr>
            <p:ph idx="102" type="body" hasCustomPrompt="1"/>
          </p:nvPr>
        </p:nvSpPr>
        <p:spPr>
          <a:xfrm>
            <a:off x="731520" y="3794760"/>
            <a:ext cx="8686800" cy="1097280"/>
          </a:xfrm>
          <a:prstGeom prst="rect">
            <a:avLst/>
          </a:prstGeom>
          <a:noFill/>
          <a:ln/>
        </p:spPr>
        <p:txBody>
          <a:bodyPr wrap="square" lIns="0" tIns="0" rIns="0" bIns="0" rtlCol="0" anchor="t"/>
          <a:lstStyle/>
          <a:p>
            <a:pPr algn="l" indent="0" marL="0">
              <a:buNone/>
            </a:pPr>
            <a:r>
              <a:rPr lang="en-US" sz="2000" dirty="0">
                <a:solidFill>
                  <a:schemeClr val="bg1"/>
                </a:solidFill>
              </a:rPr>
              <a:t>Each product has its own page with an overview, the key covers and the documents behind it.</a:t>
            </a:r>
            <a:endParaRPr lang="en-US" sz="2000" dirty="0"/>
          </a:p>
        </p:txBody>
      </p:sp>
      <p:sp>
        <p:nvSpPr>
          <p:cNvPr id="25" name="Slide Number Placeholder 0"/>
          <p:cNvSpPr>
            <a:spLocks noGrp="1"/>
          </p:cNvSpPr>
          <p:nvPr>
            <p:ph type="sldNum" sz="quarter" idx="4294967295"/>
          </p:nvPr>
        </p:nvSpPr>
        <p:spPr>
          <a:xfrm>
            <a:off x="11155680" y="62636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A product page</a:t>
            </a:r>
            <a:endParaRPr lang="en-US" sz="2800" dirty="0"/>
          </a:p>
        </p:txBody>
      </p:sp>
      <p:sp>
        <p:nvSpPr>
          <p:cNvPr id="3" name="Screenshot frame"/>
          <p:cNvSpPr/>
          <p:nvPr/>
        </p:nvSpPr>
        <p:spPr>
          <a:xfrm>
            <a:off x="402336" y="1133856"/>
            <a:ext cx="7790688" cy="4910328"/>
          </a:xfrm>
          <a:prstGeom prst="rect">
            <a:avLst/>
          </a:prstGeom>
          <a:solidFill>
            <a:schemeClr val="bg1"/>
          </a:solidFill>
          <a:ln w="12700">
            <a:solidFill>
              <a:srgbClr val="D5DFDD"/>
            </a:solidFill>
            <a:prstDash val="solid"/>
          </a:ln>
          <a:effectLst>
            <a:outerShdw sx="100000" sy="100000" kx="0" ky="0" algn="bl" rotWithShape="0" blurRad="76200" dist="25400" dir="5400000">
              <a:srgbClr val="000000">
                <a:alpha val="12000"/>
              </a:srgbClr>
            </a:outerShdw>
          </a:effectLst>
        </p:spPr>
      </p:sp>
      <p:pic>
        <p:nvPicPr>
          <p:cNvPr id="4" name="Screenshot" descr="A product page: screenshot with numbered callouts">    </p:cNvPr>
          <p:cNvPicPr>
            <a:picLocks noChangeAspect="1"/>
          </p:cNvPicPr>
          <p:nvPr/>
        </p:nvPicPr>
        <p:blipFill>
          <a:blip r:embed="rId1"/>
          <a:stretch>
            <a:fillRect/>
          </a:stretch>
        </p:blipFill>
        <p:spPr>
          <a:xfrm>
            <a:off x="457200" y="1188720"/>
            <a:ext cx="7680960" cy="4800600"/>
          </a:xfrm>
          <a:prstGeom prst="rect">
            <a:avLst/>
          </a:prstGeom>
        </p:spPr>
      </p:pic>
      <p:sp>
        <p:nvSpPr>
          <p:cNvPr id="5" name="Step 1 marker"/>
          <p:cNvSpPr/>
          <p:nvPr/>
        </p:nvSpPr>
        <p:spPr>
          <a:xfrm>
            <a:off x="8503920" y="1207008"/>
            <a:ext cx="347472" cy="347472"/>
          </a:xfrm>
          <a:prstGeom prst="ellipse">
            <a:avLst/>
          </a:prstGeom>
          <a:solidFill>
            <a:schemeClr val="accent3"/>
          </a:solidFill>
          <a:ln w="12700">
            <a:solidFill>
              <a:schemeClr val="accent3"/>
            </a:solidFill>
            <a:prstDash val="solid"/>
          </a:ln>
        </p:spPr>
      </p:sp>
      <p:sp>
        <p:nvSpPr>
          <p:cNvPr id="6" name="Step 1 number"/>
          <p:cNvSpPr txBox="1"/>
          <p:nvPr/>
        </p:nvSpPr>
        <p:spPr>
          <a:xfrm>
            <a:off x="8503920" y="120700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Step 1 text"/>
          <p:cNvSpPr txBox="1"/>
          <p:nvPr/>
        </p:nvSpPr>
        <p:spPr>
          <a:xfrm>
            <a:off x="8979408" y="1188720"/>
            <a:ext cx="2770632" cy="1115568"/>
          </a:xfrm>
          <a:prstGeom prst="rect">
            <a:avLst/>
          </a:prstGeom>
          <a:noFill/>
          <a:ln/>
        </p:spPr>
        <p:txBody>
          <a:bodyPr wrap="square" lIns="0" tIns="0" rIns="0" bIns="0" rtlCol="0" anchor="t"/>
          <a:lstStyle/>
          <a:p>
            <a:pPr indent="0" marL="0">
              <a:buNone/>
            </a:pPr>
            <a:r>
              <a:rPr lang="en-US" sz="1350" dirty="0">
                <a:solidFill>
                  <a:schemeClr val="tx1"/>
                </a:solidFill>
              </a:rPr>
              <a:t>The product name and a plain English overview of who it is for.</a:t>
            </a:r>
            <a:endParaRPr lang="en-US" sz="1350" dirty="0"/>
          </a:p>
        </p:txBody>
      </p:sp>
      <p:sp>
        <p:nvSpPr>
          <p:cNvPr id="8" name="Step 2 marker"/>
          <p:cNvSpPr/>
          <p:nvPr/>
        </p:nvSpPr>
        <p:spPr>
          <a:xfrm>
            <a:off x="8503920" y="2395728"/>
            <a:ext cx="347472" cy="347472"/>
          </a:xfrm>
          <a:prstGeom prst="ellipse">
            <a:avLst/>
          </a:prstGeom>
          <a:solidFill>
            <a:schemeClr val="accent3"/>
          </a:solidFill>
          <a:ln w="12700">
            <a:solidFill>
              <a:schemeClr val="accent3"/>
            </a:solidFill>
            <a:prstDash val="solid"/>
          </a:ln>
        </p:spPr>
      </p:sp>
      <p:sp>
        <p:nvSpPr>
          <p:cNvPr id="9" name="Step 2 number"/>
          <p:cNvSpPr txBox="1"/>
          <p:nvPr/>
        </p:nvSpPr>
        <p:spPr>
          <a:xfrm>
            <a:off x="8503920" y="239572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Step 2 text"/>
          <p:cNvSpPr txBox="1"/>
          <p:nvPr/>
        </p:nvSpPr>
        <p:spPr>
          <a:xfrm>
            <a:off x="8979408" y="2377440"/>
            <a:ext cx="2770632" cy="1115568"/>
          </a:xfrm>
          <a:prstGeom prst="rect">
            <a:avLst/>
          </a:prstGeom>
          <a:noFill/>
          <a:ln/>
        </p:spPr>
        <p:txBody>
          <a:bodyPr wrap="square" lIns="0" tIns="0" rIns="0" bIns="0" rtlCol="0" anchor="t"/>
          <a:lstStyle/>
          <a:p>
            <a:pPr indent="0" marL="0">
              <a:buNone/>
            </a:pPr>
            <a:r>
              <a:rPr lang="en-US" sz="1350" dirty="0">
                <a:solidFill>
                  <a:schemeClr val="tx1"/>
                </a:solidFill>
              </a:rPr>
              <a:t>Apply now starts an application (see the next slides).</a:t>
            </a:r>
            <a:endParaRPr lang="en-US" sz="1350" dirty="0"/>
          </a:p>
        </p:txBody>
      </p:sp>
      <p:sp>
        <p:nvSpPr>
          <p:cNvPr id="11" name="Step 3 marker"/>
          <p:cNvSpPr/>
          <p:nvPr/>
        </p:nvSpPr>
        <p:spPr>
          <a:xfrm>
            <a:off x="8503920" y="3584448"/>
            <a:ext cx="347472" cy="347472"/>
          </a:xfrm>
          <a:prstGeom prst="ellipse">
            <a:avLst/>
          </a:prstGeom>
          <a:solidFill>
            <a:schemeClr val="accent3"/>
          </a:solidFill>
          <a:ln w="12700">
            <a:solidFill>
              <a:schemeClr val="accent3"/>
            </a:solidFill>
            <a:prstDash val="solid"/>
          </a:ln>
        </p:spPr>
      </p:sp>
      <p:sp>
        <p:nvSpPr>
          <p:cNvPr id="12" name="Step 3 number"/>
          <p:cNvSpPr txBox="1"/>
          <p:nvPr/>
        </p:nvSpPr>
        <p:spPr>
          <a:xfrm>
            <a:off x="8503920" y="358444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Step 3 text"/>
          <p:cNvSpPr txBox="1"/>
          <p:nvPr/>
        </p:nvSpPr>
        <p:spPr>
          <a:xfrm>
            <a:off x="8979408" y="3566160"/>
            <a:ext cx="2770632" cy="1115568"/>
          </a:xfrm>
          <a:prstGeom prst="rect">
            <a:avLst/>
          </a:prstGeom>
          <a:noFill/>
          <a:ln/>
        </p:spPr>
        <p:txBody>
          <a:bodyPr wrap="square" lIns="0" tIns="0" rIns="0" bIns="0" rtlCol="0" anchor="t"/>
          <a:lstStyle/>
          <a:p>
            <a:pPr indent="0" marL="0">
              <a:buNone/>
            </a:pPr>
            <a:r>
              <a:rPr lang="en-US" sz="1350" dirty="0">
                <a:solidFill>
                  <a:schemeClr val="tx1"/>
                </a:solidFill>
              </a:rPr>
              <a:t>View policy documents opens the wordings and forms for this product.</a:t>
            </a:r>
            <a:endParaRPr lang="en-US" sz="1350" dirty="0"/>
          </a:p>
        </p:txBody>
      </p:sp>
      <p:sp>
        <p:nvSpPr>
          <p:cNvPr id="14" name="Step 4 marker"/>
          <p:cNvSpPr/>
          <p:nvPr/>
        </p:nvSpPr>
        <p:spPr>
          <a:xfrm>
            <a:off x="8503920" y="4773168"/>
            <a:ext cx="347472" cy="347472"/>
          </a:xfrm>
          <a:prstGeom prst="ellipse">
            <a:avLst/>
          </a:prstGeom>
          <a:solidFill>
            <a:schemeClr val="accent3"/>
          </a:solidFill>
          <a:ln w="12700">
            <a:solidFill>
              <a:schemeClr val="accent3"/>
            </a:solidFill>
            <a:prstDash val="solid"/>
          </a:ln>
        </p:spPr>
      </p:sp>
      <p:sp>
        <p:nvSpPr>
          <p:cNvPr id="15" name="Step 4 number"/>
          <p:cNvSpPr txBox="1"/>
          <p:nvPr/>
        </p:nvSpPr>
        <p:spPr>
          <a:xfrm>
            <a:off x="8503920" y="477316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6" name="Step 4 text"/>
          <p:cNvSpPr txBox="1"/>
          <p:nvPr/>
        </p:nvSpPr>
        <p:spPr>
          <a:xfrm>
            <a:off x="8979408" y="4754880"/>
            <a:ext cx="2770632" cy="1115568"/>
          </a:xfrm>
          <a:prstGeom prst="rect">
            <a:avLst/>
          </a:prstGeom>
          <a:noFill/>
          <a:ln/>
        </p:spPr>
        <p:txBody>
          <a:bodyPr wrap="square" lIns="0" tIns="0" rIns="0" bIns="0" rtlCol="0" anchor="t"/>
          <a:lstStyle/>
          <a:p>
            <a:pPr indent="0" marL="0">
              <a:buNone/>
            </a:pPr>
            <a:r>
              <a:rPr lang="en-US" sz="1350" dirty="0">
                <a:solidFill>
                  <a:schemeClr val="tx1"/>
                </a:solidFill>
              </a:rPr>
              <a:t>Download fact sheet gives a one page summary to share.</a:t>
            </a:r>
            <a:endParaRPr lang="en-US" sz="135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This policy at a glance</a:t>
            </a:r>
            <a:endParaRPr lang="en-US" sz="2800" dirty="0"/>
          </a:p>
        </p:txBody>
      </p:sp>
      <p:sp>
        <p:nvSpPr>
          <p:cNvPr id="3" name="Screenshot frame"/>
          <p:cNvSpPr/>
          <p:nvPr/>
        </p:nvSpPr>
        <p:spPr>
          <a:xfrm>
            <a:off x="402336" y="1133856"/>
            <a:ext cx="7790688" cy="4910328"/>
          </a:xfrm>
          <a:prstGeom prst="rect">
            <a:avLst/>
          </a:prstGeom>
          <a:solidFill>
            <a:schemeClr val="bg1"/>
          </a:solidFill>
          <a:ln w="12700">
            <a:solidFill>
              <a:srgbClr val="D5DFDD"/>
            </a:solidFill>
            <a:prstDash val="solid"/>
          </a:ln>
          <a:effectLst>
            <a:outerShdw sx="100000" sy="100000" kx="0" ky="0" algn="bl" rotWithShape="0" blurRad="76200" dist="25400" dir="5400000">
              <a:srgbClr val="000000">
                <a:alpha val="12000"/>
              </a:srgbClr>
            </a:outerShdw>
          </a:effectLst>
        </p:spPr>
      </p:sp>
      <p:pic>
        <p:nvPicPr>
          <p:cNvPr id="4" name="Screenshot" descr="This policy at a glance: screenshot with numbered callouts">    </p:cNvPr>
          <p:cNvPicPr>
            <a:picLocks noChangeAspect="1"/>
          </p:cNvPicPr>
          <p:nvPr/>
        </p:nvPicPr>
        <p:blipFill>
          <a:blip r:embed="rId1"/>
          <a:stretch>
            <a:fillRect/>
          </a:stretch>
        </p:blipFill>
        <p:spPr>
          <a:xfrm>
            <a:off x="457200" y="1188720"/>
            <a:ext cx="7680960" cy="4800600"/>
          </a:xfrm>
          <a:prstGeom prst="rect">
            <a:avLst/>
          </a:prstGeom>
        </p:spPr>
      </p:pic>
      <p:sp>
        <p:nvSpPr>
          <p:cNvPr id="5" name="Step 1 marker"/>
          <p:cNvSpPr/>
          <p:nvPr/>
        </p:nvSpPr>
        <p:spPr>
          <a:xfrm>
            <a:off x="8503920" y="1207008"/>
            <a:ext cx="347472" cy="347472"/>
          </a:xfrm>
          <a:prstGeom prst="ellipse">
            <a:avLst/>
          </a:prstGeom>
          <a:solidFill>
            <a:schemeClr val="accent3"/>
          </a:solidFill>
          <a:ln w="12700">
            <a:solidFill>
              <a:schemeClr val="accent3"/>
            </a:solidFill>
            <a:prstDash val="solid"/>
          </a:ln>
        </p:spPr>
      </p:sp>
      <p:sp>
        <p:nvSpPr>
          <p:cNvPr id="6" name="Step 1 number"/>
          <p:cNvSpPr txBox="1"/>
          <p:nvPr/>
        </p:nvSpPr>
        <p:spPr>
          <a:xfrm>
            <a:off x="8503920" y="120700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Step 1 text"/>
          <p:cNvSpPr txBox="1"/>
          <p:nvPr/>
        </p:nvSpPr>
        <p:spPr>
          <a:xfrm>
            <a:off x="8979408" y="1188720"/>
            <a:ext cx="2770632" cy="1115568"/>
          </a:xfrm>
          <a:prstGeom prst="rect">
            <a:avLst/>
          </a:prstGeom>
          <a:noFill/>
          <a:ln/>
        </p:spPr>
        <p:txBody>
          <a:bodyPr wrap="square" lIns="0" tIns="0" rIns="0" bIns="0" rtlCol="0" anchor="t"/>
          <a:lstStyle/>
          <a:p>
            <a:pPr indent="0" marL="0">
              <a:buNone/>
            </a:pPr>
            <a:r>
              <a:rPr lang="en-US" sz="1350" dirty="0">
                <a:solidFill>
                  <a:schemeClr val="tx1"/>
                </a:solidFill>
              </a:rPr>
              <a:t>A quick summary of the main covers and features.</a:t>
            </a:r>
            <a:endParaRPr lang="en-US" sz="1350" dirty="0"/>
          </a:p>
        </p:txBody>
      </p:sp>
      <p:sp>
        <p:nvSpPr>
          <p:cNvPr id="8" name="Step 2 marker"/>
          <p:cNvSpPr/>
          <p:nvPr/>
        </p:nvSpPr>
        <p:spPr>
          <a:xfrm>
            <a:off x="8503920" y="2395728"/>
            <a:ext cx="347472" cy="347472"/>
          </a:xfrm>
          <a:prstGeom prst="ellipse">
            <a:avLst/>
          </a:prstGeom>
          <a:solidFill>
            <a:schemeClr val="accent3"/>
          </a:solidFill>
          <a:ln w="12700">
            <a:solidFill>
              <a:schemeClr val="accent3"/>
            </a:solidFill>
            <a:prstDash val="solid"/>
          </a:ln>
        </p:spPr>
      </p:sp>
      <p:sp>
        <p:nvSpPr>
          <p:cNvPr id="9" name="Step 2 number"/>
          <p:cNvSpPr txBox="1"/>
          <p:nvPr/>
        </p:nvSpPr>
        <p:spPr>
          <a:xfrm>
            <a:off x="8503920" y="239572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Step 2 text"/>
          <p:cNvSpPr txBox="1"/>
          <p:nvPr/>
        </p:nvSpPr>
        <p:spPr>
          <a:xfrm>
            <a:off x="8979408" y="2377440"/>
            <a:ext cx="2770632" cy="1115568"/>
          </a:xfrm>
          <a:prstGeom prst="rect">
            <a:avLst/>
          </a:prstGeom>
          <a:noFill/>
          <a:ln/>
        </p:spPr>
        <p:txBody>
          <a:bodyPr wrap="square" lIns="0" tIns="0" rIns="0" bIns="0" rtlCol="0" anchor="t"/>
          <a:lstStyle/>
          <a:p>
            <a:pPr indent="0" marL="0">
              <a:buNone/>
            </a:pPr>
            <a:r>
              <a:rPr lang="en-US" sz="1350" dirty="0">
                <a:solidFill>
                  <a:schemeClr val="tx1"/>
                </a:solidFill>
              </a:rPr>
              <a:t>The link to the full policy wording, for the detail.</a:t>
            </a:r>
            <a:endParaRPr lang="en-US" sz="135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Apply now: only brokers can apply</a:t>
            </a:r>
            <a:endParaRPr lang="en-US" sz="2800" dirty="0"/>
          </a:p>
        </p:txBody>
      </p:sp>
      <p:sp>
        <p:nvSpPr>
          <p:cNvPr id="3" name="Screenshot frame"/>
          <p:cNvSpPr/>
          <p:nvPr/>
        </p:nvSpPr>
        <p:spPr>
          <a:xfrm>
            <a:off x="402336" y="1133856"/>
            <a:ext cx="7790688" cy="4910328"/>
          </a:xfrm>
          <a:prstGeom prst="rect">
            <a:avLst/>
          </a:prstGeom>
          <a:solidFill>
            <a:schemeClr val="bg1"/>
          </a:solidFill>
          <a:ln w="12700">
            <a:solidFill>
              <a:srgbClr val="D5DFDD"/>
            </a:solidFill>
            <a:prstDash val="solid"/>
          </a:ln>
          <a:effectLst>
            <a:outerShdw sx="100000" sy="100000" kx="0" ky="0" algn="bl" rotWithShape="0" blurRad="76200" dist="25400" dir="5400000">
              <a:srgbClr val="000000">
                <a:alpha val="12000"/>
              </a:srgbClr>
            </a:outerShdw>
          </a:effectLst>
        </p:spPr>
      </p:sp>
      <p:pic>
        <p:nvPicPr>
          <p:cNvPr id="4" name="Screenshot" descr="Apply now: only brokers can apply: screenshot with numbered callouts">    </p:cNvPr>
          <p:cNvPicPr>
            <a:picLocks noChangeAspect="1"/>
          </p:cNvPicPr>
          <p:nvPr/>
        </p:nvPicPr>
        <p:blipFill>
          <a:blip r:embed="rId1"/>
          <a:stretch>
            <a:fillRect/>
          </a:stretch>
        </p:blipFill>
        <p:spPr>
          <a:xfrm>
            <a:off x="457200" y="1188720"/>
            <a:ext cx="7680960" cy="4800600"/>
          </a:xfrm>
          <a:prstGeom prst="rect">
            <a:avLst/>
          </a:prstGeom>
        </p:spPr>
      </p:pic>
      <p:sp>
        <p:nvSpPr>
          <p:cNvPr id="5" name="Step 1 marker"/>
          <p:cNvSpPr/>
          <p:nvPr/>
        </p:nvSpPr>
        <p:spPr>
          <a:xfrm>
            <a:off x="8503920" y="1207008"/>
            <a:ext cx="347472" cy="347472"/>
          </a:xfrm>
          <a:prstGeom prst="ellipse">
            <a:avLst/>
          </a:prstGeom>
          <a:solidFill>
            <a:schemeClr val="accent3"/>
          </a:solidFill>
          <a:ln w="12700">
            <a:solidFill>
              <a:schemeClr val="accent3"/>
            </a:solidFill>
            <a:prstDash val="solid"/>
          </a:ln>
        </p:spPr>
      </p:sp>
      <p:sp>
        <p:nvSpPr>
          <p:cNvPr id="6" name="Step 1 number"/>
          <p:cNvSpPr txBox="1"/>
          <p:nvPr/>
        </p:nvSpPr>
        <p:spPr>
          <a:xfrm>
            <a:off x="8503920" y="120700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Step 1 text"/>
          <p:cNvSpPr txBox="1"/>
          <p:nvPr/>
        </p:nvSpPr>
        <p:spPr>
          <a:xfrm>
            <a:off x="8979408" y="1188720"/>
            <a:ext cx="2770632" cy="1115568"/>
          </a:xfrm>
          <a:prstGeom prst="rect">
            <a:avLst/>
          </a:prstGeom>
          <a:noFill/>
          <a:ln/>
        </p:spPr>
        <p:txBody>
          <a:bodyPr wrap="square" lIns="0" tIns="0" rIns="0" bIns="0" rtlCol="0" anchor="t"/>
          <a:lstStyle/>
          <a:p>
            <a:pPr indent="0" marL="0">
              <a:buNone/>
            </a:pPr>
            <a:r>
              <a:rPr lang="en-US" sz="1350" dirty="0">
                <a:solidFill>
                  <a:schemeClr val="tx1"/>
                </a:solidFill>
              </a:rPr>
              <a:t>Visitors confirm they are a broker. Only brokers can submit applications on behalf of clients.</a:t>
            </a:r>
            <a:endParaRPr lang="en-US" sz="1350" dirty="0"/>
          </a:p>
        </p:txBody>
      </p:sp>
      <p:sp>
        <p:nvSpPr>
          <p:cNvPr id="8" name="Step 2 marker"/>
          <p:cNvSpPr/>
          <p:nvPr/>
        </p:nvSpPr>
        <p:spPr>
          <a:xfrm>
            <a:off x="8503920" y="2395728"/>
            <a:ext cx="347472" cy="347472"/>
          </a:xfrm>
          <a:prstGeom prst="ellipse">
            <a:avLst/>
          </a:prstGeom>
          <a:solidFill>
            <a:schemeClr val="accent3"/>
          </a:solidFill>
          <a:ln w="12700">
            <a:solidFill>
              <a:schemeClr val="accent3"/>
            </a:solidFill>
            <a:prstDash val="solid"/>
          </a:ln>
        </p:spPr>
      </p:sp>
      <p:sp>
        <p:nvSpPr>
          <p:cNvPr id="9" name="Step 2 number"/>
          <p:cNvSpPr txBox="1"/>
          <p:nvPr/>
        </p:nvSpPr>
        <p:spPr>
          <a:xfrm>
            <a:off x="8503920" y="239572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Step 2 text"/>
          <p:cNvSpPr txBox="1"/>
          <p:nvPr/>
        </p:nvSpPr>
        <p:spPr>
          <a:xfrm>
            <a:off x="8979408" y="2377440"/>
            <a:ext cx="2770632" cy="1115568"/>
          </a:xfrm>
          <a:prstGeom prst="rect">
            <a:avLst/>
          </a:prstGeom>
          <a:noFill/>
          <a:ln/>
        </p:spPr>
        <p:txBody>
          <a:bodyPr wrap="square" lIns="0" tIns="0" rIns="0" bIns="0" rtlCol="0" anchor="t"/>
          <a:lstStyle/>
          <a:p>
            <a:pPr indent="0" marL="0">
              <a:buNone/>
            </a:pPr>
            <a:r>
              <a:rPr lang="en-US" sz="1350" dirty="0">
                <a:solidFill>
                  <a:schemeClr val="tx1"/>
                </a:solidFill>
              </a:rPr>
              <a:t>Go to the broker portal to complete the form online or send it to a client.</a:t>
            </a:r>
            <a:endParaRPr lang="en-US" sz="1350" dirty="0"/>
          </a:p>
        </p:txBody>
      </p:sp>
      <p:sp>
        <p:nvSpPr>
          <p:cNvPr id="11" name="Step 3 marker"/>
          <p:cNvSpPr/>
          <p:nvPr/>
        </p:nvSpPr>
        <p:spPr>
          <a:xfrm>
            <a:off x="8503920" y="3584448"/>
            <a:ext cx="347472" cy="347472"/>
          </a:xfrm>
          <a:prstGeom prst="ellipse">
            <a:avLst/>
          </a:prstGeom>
          <a:solidFill>
            <a:schemeClr val="accent3"/>
          </a:solidFill>
          <a:ln w="12700">
            <a:solidFill>
              <a:schemeClr val="accent3"/>
            </a:solidFill>
            <a:prstDash val="solid"/>
          </a:ln>
        </p:spPr>
      </p:sp>
      <p:sp>
        <p:nvSpPr>
          <p:cNvPr id="12" name="Step 3 number"/>
          <p:cNvSpPr txBox="1"/>
          <p:nvPr/>
        </p:nvSpPr>
        <p:spPr>
          <a:xfrm>
            <a:off x="8503920" y="358444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Step 3 text"/>
          <p:cNvSpPr txBox="1"/>
          <p:nvPr/>
        </p:nvSpPr>
        <p:spPr>
          <a:xfrm>
            <a:off x="8979408" y="3566160"/>
            <a:ext cx="2770632" cy="1115568"/>
          </a:xfrm>
          <a:prstGeom prst="rect">
            <a:avLst/>
          </a:prstGeom>
          <a:noFill/>
          <a:ln/>
        </p:spPr>
        <p:txBody>
          <a:bodyPr wrap="square" lIns="0" tIns="0" rIns="0" bIns="0" rtlCol="0" anchor="t"/>
          <a:lstStyle/>
          <a:p>
            <a:pPr indent="0" marL="0">
              <a:buNone/>
            </a:pPr>
            <a:r>
              <a:rPr lang="en-US" sz="1350" dirty="0">
                <a:solidFill>
                  <a:schemeClr val="tx1"/>
                </a:solidFill>
              </a:rPr>
              <a:t>Or download the PDF proposal form to complete and email to Otta.</a:t>
            </a:r>
            <a:endParaRPr lang="en-US" sz="135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ection number"/>
          <p:cNvSpPr txBox="1"/>
          <p:nvPr/>
        </p:nvSpPr>
        <p:spPr>
          <a:xfrm>
            <a:off x="731520" y="1463040"/>
            <a:ext cx="1828800" cy="1097280"/>
          </a:xfrm>
          <a:prstGeom prst="rect">
            <a:avLst/>
          </a:prstGeom>
          <a:noFill/>
          <a:ln/>
        </p:spPr>
        <p:txBody>
          <a:bodyPr wrap="square" lIns="0" tIns="0" rIns="0" bIns="0" rtlCol="0" anchor="ctr"/>
          <a:lstStyle/>
          <a:p>
            <a:pPr indent="0" marL="0">
              <a:buNone/>
            </a:pPr>
            <a:r>
              <a:rPr lang="en-US" sz="6600" b="1" dirty="0">
                <a:solidFill>
                  <a:schemeClr val="accent2"/>
                </a:solidFill>
              </a:rPr>
              <a:t>04</a:t>
            </a:r>
            <a:endParaRPr lang="en-US" sz="6600" dirty="0"/>
          </a:p>
        </p:txBody>
      </p:sp>
      <p:sp>
        <p:nvSpPr>
          <p:cNvPr id="3" name="Text 0"/>
          <p:cNvSpPr/>
          <p:nvPr>
            <p:ph idx="101" type="title" hasCustomPrompt="1"/>
          </p:nvPr>
        </p:nvSpPr>
        <p:spPr>
          <a:xfrm>
            <a:off x="731520" y="2743200"/>
            <a:ext cx="10058400" cy="1005840"/>
          </a:xfrm>
          <a:prstGeom prst="rect">
            <a:avLst/>
          </a:prstGeom>
          <a:noFill/>
          <a:ln/>
        </p:spPr>
        <p:txBody>
          <a:bodyPr wrap="square" lIns="0" tIns="0" rIns="0" bIns="0" rtlCol="0" anchor="t"/>
          <a:lstStyle/>
          <a:p>
            <a:pPr algn="l" indent="0" marL="0">
              <a:buNone/>
            </a:pPr>
            <a:r>
              <a:rPr lang="en-US" sz="4000" b="1" dirty="0">
                <a:solidFill>
                  <a:schemeClr val="bg1"/>
                </a:solidFill>
              </a:rPr>
              <a:t>Resources, claims and contact</a:t>
            </a:r>
            <a:endParaRPr lang="en-US" sz="4000" dirty="0"/>
          </a:p>
        </p:txBody>
      </p:sp>
      <p:sp>
        <p:nvSpPr>
          <p:cNvPr id="4" name="Text 0"/>
          <p:cNvSpPr/>
          <p:nvPr>
            <p:ph idx="102" type="body" hasCustomPrompt="1"/>
          </p:nvPr>
        </p:nvSpPr>
        <p:spPr>
          <a:xfrm>
            <a:off x="731520" y="3794760"/>
            <a:ext cx="8686800" cy="1097280"/>
          </a:xfrm>
          <a:prstGeom prst="rect">
            <a:avLst/>
          </a:prstGeom>
          <a:noFill/>
          <a:ln/>
        </p:spPr>
        <p:txBody>
          <a:bodyPr wrap="square" lIns="0" tIns="0" rIns="0" bIns="0" rtlCol="0" anchor="t"/>
          <a:lstStyle/>
          <a:p>
            <a:pPr algn="l" indent="0" marL="0">
              <a:buNone/>
            </a:pPr>
            <a:r>
              <a:rPr lang="en-US" sz="2000" dirty="0">
                <a:solidFill>
                  <a:schemeClr val="bg1"/>
                </a:solidFill>
              </a:rPr>
              <a:t>Where visitors find documents, make a claim, or get in touch with the team.</a:t>
            </a:r>
            <a:endParaRPr lang="en-US" sz="2000" dirty="0"/>
          </a:p>
        </p:txBody>
      </p:sp>
      <p:sp>
        <p:nvSpPr>
          <p:cNvPr id="25" name="Slide Number Placeholder 0"/>
          <p:cNvSpPr>
            <a:spLocks noGrp="1"/>
          </p:cNvSpPr>
          <p:nvPr>
            <p:ph type="sldNum" sz="quarter" idx="4294967295"/>
          </p:nvPr>
        </p:nvSpPr>
        <p:spPr>
          <a:xfrm>
            <a:off x="11155680" y="62636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Resources: forms and policy wordings</a:t>
            </a:r>
            <a:endParaRPr lang="en-US" sz="2800" dirty="0"/>
          </a:p>
        </p:txBody>
      </p:sp>
      <p:sp>
        <p:nvSpPr>
          <p:cNvPr id="3" name="Screenshot frame"/>
          <p:cNvSpPr/>
          <p:nvPr/>
        </p:nvSpPr>
        <p:spPr>
          <a:xfrm>
            <a:off x="402336" y="1133856"/>
            <a:ext cx="7790688" cy="4910328"/>
          </a:xfrm>
          <a:prstGeom prst="rect">
            <a:avLst/>
          </a:prstGeom>
          <a:solidFill>
            <a:schemeClr val="bg1"/>
          </a:solidFill>
          <a:ln w="12700">
            <a:solidFill>
              <a:srgbClr val="D5DFDD"/>
            </a:solidFill>
            <a:prstDash val="solid"/>
          </a:ln>
          <a:effectLst>
            <a:outerShdw sx="100000" sy="100000" kx="0" ky="0" algn="bl" rotWithShape="0" blurRad="76200" dist="25400" dir="5400000">
              <a:srgbClr val="000000">
                <a:alpha val="12000"/>
              </a:srgbClr>
            </a:outerShdw>
          </a:effectLst>
        </p:spPr>
      </p:sp>
      <p:pic>
        <p:nvPicPr>
          <p:cNvPr id="4" name="Screenshot" descr="Resources: forms and policy wordings: screenshot with numbered callouts">    </p:cNvPr>
          <p:cNvPicPr>
            <a:picLocks noChangeAspect="1"/>
          </p:cNvPicPr>
          <p:nvPr/>
        </p:nvPicPr>
        <p:blipFill>
          <a:blip r:embed="rId1"/>
          <a:stretch>
            <a:fillRect/>
          </a:stretch>
        </p:blipFill>
        <p:spPr>
          <a:xfrm>
            <a:off x="457200" y="1188720"/>
            <a:ext cx="7680960" cy="4800600"/>
          </a:xfrm>
          <a:prstGeom prst="rect">
            <a:avLst/>
          </a:prstGeom>
        </p:spPr>
      </p:pic>
      <p:sp>
        <p:nvSpPr>
          <p:cNvPr id="5" name="Step 1 marker"/>
          <p:cNvSpPr/>
          <p:nvPr/>
        </p:nvSpPr>
        <p:spPr>
          <a:xfrm>
            <a:off x="8503920" y="1207008"/>
            <a:ext cx="347472" cy="347472"/>
          </a:xfrm>
          <a:prstGeom prst="ellipse">
            <a:avLst/>
          </a:prstGeom>
          <a:solidFill>
            <a:schemeClr val="accent3"/>
          </a:solidFill>
          <a:ln w="12700">
            <a:solidFill>
              <a:schemeClr val="accent3"/>
            </a:solidFill>
            <a:prstDash val="solid"/>
          </a:ln>
        </p:spPr>
      </p:sp>
      <p:sp>
        <p:nvSpPr>
          <p:cNvPr id="6" name="Step 1 number"/>
          <p:cNvSpPr txBox="1"/>
          <p:nvPr/>
        </p:nvSpPr>
        <p:spPr>
          <a:xfrm>
            <a:off x="8503920" y="120700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Step 1 text"/>
          <p:cNvSpPr txBox="1"/>
          <p:nvPr/>
        </p:nvSpPr>
        <p:spPr>
          <a:xfrm>
            <a:off x="8979408" y="1188720"/>
            <a:ext cx="2770632" cy="1115568"/>
          </a:xfrm>
          <a:prstGeom prst="rect">
            <a:avLst/>
          </a:prstGeom>
          <a:noFill/>
          <a:ln/>
        </p:spPr>
        <p:txBody>
          <a:bodyPr wrap="square" lIns="0" tIns="0" rIns="0" bIns="0" rtlCol="0" anchor="t"/>
          <a:lstStyle/>
          <a:p>
            <a:pPr indent="0" marL="0">
              <a:buNone/>
            </a:pPr>
            <a:r>
              <a:rPr lang="en-US" sz="1350" dirty="0">
                <a:solidFill>
                  <a:schemeClr val="tx1"/>
                </a:solidFill>
              </a:rPr>
              <a:t>Open Resources from the main menu.</a:t>
            </a:r>
            <a:endParaRPr lang="en-US" sz="1350" dirty="0"/>
          </a:p>
        </p:txBody>
      </p:sp>
      <p:sp>
        <p:nvSpPr>
          <p:cNvPr id="8" name="Step 2 marker"/>
          <p:cNvSpPr/>
          <p:nvPr/>
        </p:nvSpPr>
        <p:spPr>
          <a:xfrm>
            <a:off x="8503920" y="2395728"/>
            <a:ext cx="347472" cy="347472"/>
          </a:xfrm>
          <a:prstGeom prst="ellipse">
            <a:avLst/>
          </a:prstGeom>
          <a:solidFill>
            <a:schemeClr val="accent3"/>
          </a:solidFill>
          <a:ln w="12700">
            <a:solidFill>
              <a:schemeClr val="accent3"/>
            </a:solidFill>
            <a:prstDash val="solid"/>
          </a:ln>
        </p:spPr>
      </p:sp>
      <p:sp>
        <p:nvSpPr>
          <p:cNvPr id="9" name="Step 2 number"/>
          <p:cNvSpPr txBox="1"/>
          <p:nvPr/>
        </p:nvSpPr>
        <p:spPr>
          <a:xfrm>
            <a:off x="8503920" y="239572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Step 2 text"/>
          <p:cNvSpPr txBox="1"/>
          <p:nvPr/>
        </p:nvSpPr>
        <p:spPr>
          <a:xfrm>
            <a:off x="8979408" y="2377440"/>
            <a:ext cx="2770632" cy="1115568"/>
          </a:xfrm>
          <a:prstGeom prst="rect">
            <a:avLst/>
          </a:prstGeom>
          <a:noFill/>
          <a:ln/>
        </p:spPr>
        <p:txBody>
          <a:bodyPr wrap="square" lIns="0" tIns="0" rIns="0" bIns="0" rtlCol="0" anchor="t"/>
          <a:lstStyle/>
          <a:p>
            <a:pPr indent="0" marL="0">
              <a:buNone/>
            </a:pPr>
            <a:r>
              <a:rPr lang="en-US" sz="1350" dirty="0">
                <a:solidFill>
                  <a:schemeClr val="tx1"/>
                </a:solidFill>
              </a:rPr>
              <a:t>Choose a product to see its documents.</a:t>
            </a:r>
            <a:endParaRPr lang="en-US" sz="1350" dirty="0"/>
          </a:p>
        </p:txBody>
      </p:sp>
      <p:sp>
        <p:nvSpPr>
          <p:cNvPr id="11" name="Step 3 marker"/>
          <p:cNvSpPr/>
          <p:nvPr/>
        </p:nvSpPr>
        <p:spPr>
          <a:xfrm>
            <a:off x="8503920" y="3584448"/>
            <a:ext cx="347472" cy="347472"/>
          </a:xfrm>
          <a:prstGeom prst="ellipse">
            <a:avLst/>
          </a:prstGeom>
          <a:solidFill>
            <a:schemeClr val="accent3"/>
          </a:solidFill>
          <a:ln w="12700">
            <a:solidFill>
              <a:schemeClr val="accent3"/>
            </a:solidFill>
            <a:prstDash val="solid"/>
          </a:ln>
        </p:spPr>
      </p:sp>
      <p:sp>
        <p:nvSpPr>
          <p:cNvPr id="12" name="Step 3 number"/>
          <p:cNvSpPr txBox="1"/>
          <p:nvPr/>
        </p:nvSpPr>
        <p:spPr>
          <a:xfrm>
            <a:off x="8503920" y="358444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Step 3 text"/>
          <p:cNvSpPr txBox="1"/>
          <p:nvPr/>
        </p:nvSpPr>
        <p:spPr>
          <a:xfrm>
            <a:off x="8979408" y="3566160"/>
            <a:ext cx="2770632" cy="1115568"/>
          </a:xfrm>
          <a:prstGeom prst="rect">
            <a:avLst/>
          </a:prstGeom>
          <a:noFill/>
          <a:ln/>
        </p:spPr>
        <p:txBody>
          <a:bodyPr wrap="square" lIns="0" tIns="0" rIns="0" bIns="0" rtlCol="0" anchor="t"/>
          <a:lstStyle/>
          <a:p>
            <a:pPr indent="0" marL="0">
              <a:buNone/>
            </a:pPr>
            <a:r>
              <a:rPr lang="en-US" sz="1350" dirty="0">
                <a:solidFill>
                  <a:schemeClr val="tx1"/>
                </a:solidFill>
              </a:rPr>
              <a:t>Download PDF saves a copy of the form or wording.</a:t>
            </a:r>
            <a:endParaRPr lang="en-US" sz="135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Making a claim</a:t>
            </a:r>
            <a:endParaRPr lang="en-US" sz="2800" dirty="0"/>
          </a:p>
        </p:txBody>
      </p:sp>
      <p:sp>
        <p:nvSpPr>
          <p:cNvPr id="3" name="Screenshot frame"/>
          <p:cNvSpPr/>
          <p:nvPr/>
        </p:nvSpPr>
        <p:spPr>
          <a:xfrm>
            <a:off x="402336" y="1133856"/>
            <a:ext cx="7790688" cy="4910328"/>
          </a:xfrm>
          <a:prstGeom prst="rect">
            <a:avLst/>
          </a:prstGeom>
          <a:solidFill>
            <a:schemeClr val="bg1"/>
          </a:solidFill>
          <a:ln w="12700">
            <a:solidFill>
              <a:srgbClr val="D5DFDD"/>
            </a:solidFill>
            <a:prstDash val="solid"/>
          </a:ln>
          <a:effectLst>
            <a:outerShdw sx="100000" sy="100000" kx="0" ky="0" algn="bl" rotWithShape="0" blurRad="76200" dist="25400" dir="5400000">
              <a:srgbClr val="000000">
                <a:alpha val="12000"/>
              </a:srgbClr>
            </a:outerShdw>
          </a:effectLst>
        </p:spPr>
      </p:sp>
      <p:pic>
        <p:nvPicPr>
          <p:cNvPr id="4" name="Screenshot" descr="Making a claim: screenshot with numbered callouts">    </p:cNvPr>
          <p:cNvPicPr>
            <a:picLocks noChangeAspect="1"/>
          </p:cNvPicPr>
          <p:nvPr/>
        </p:nvPicPr>
        <p:blipFill>
          <a:blip r:embed="rId1"/>
          <a:stretch>
            <a:fillRect/>
          </a:stretch>
        </p:blipFill>
        <p:spPr>
          <a:xfrm>
            <a:off x="457200" y="1188720"/>
            <a:ext cx="7680960" cy="4800600"/>
          </a:xfrm>
          <a:prstGeom prst="rect">
            <a:avLst/>
          </a:prstGeom>
        </p:spPr>
      </p:pic>
      <p:sp>
        <p:nvSpPr>
          <p:cNvPr id="5" name="Step 1 marker"/>
          <p:cNvSpPr/>
          <p:nvPr/>
        </p:nvSpPr>
        <p:spPr>
          <a:xfrm>
            <a:off x="8503920" y="1207008"/>
            <a:ext cx="347472" cy="347472"/>
          </a:xfrm>
          <a:prstGeom prst="ellipse">
            <a:avLst/>
          </a:prstGeom>
          <a:solidFill>
            <a:schemeClr val="accent3"/>
          </a:solidFill>
          <a:ln w="12700">
            <a:solidFill>
              <a:schemeClr val="accent3"/>
            </a:solidFill>
            <a:prstDash val="solid"/>
          </a:ln>
        </p:spPr>
      </p:sp>
      <p:sp>
        <p:nvSpPr>
          <p:cNvPr id="6" name="Step 1 number"/>
          <p:cNvSpPr txBox="1"/>
          <p:nvPr/>
        </p:nvSpPr>
        <p:spPr>
          <a:xfrm>
            <a:off x="8503920" y="120700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Step 1 text"/>
          <p:cNvSpPr txBox="1"/>
          <p:nvPr/>
        </p:nvSpPr>
        <p:spPr>
          <a:xfrm>
            <a:off x="8979408" y="1188720"/>
            <a:ext cx="2770632" cy="1115568"/>
          </a:xfrm>
          <a:prstGeom prst="rect">
            <a:avLst/>
          </a:prstGeom>
          <a:noFill/>
          <a:ln/>
        </p:spPr>
        <p:txBody>
          <a:bodyPr wrap="square" lIns="0" tIns="0" rIns="0" bIns="0" rtlCol="0" anchor="t"/>
          <a:lstStyle/>
          <a:p>
            <a:pPr indent="0" marL="0">
              <a:buNone/>
            </a:pPr>
            <a:r>
              <a:rPr lang="en-US" sz="1350" dirty="0">
                <a:solidFill>
                  <a:schemeClr val="tx1"/>
                </a:solidFill>
              </a:rPr>
              <a:t>In an emergency: who to call straight away.</a:t>
            </a:r>
            <a:endParaRPr lang="en-US" sz="1350" dirty="0"/>
          </a:p>
        </p:txBody>
      </p:sp>
      <p:sp>
        <p:nvSpPr>
          <p:cNvPr id="8" name="Step 2 marker"/>
          <p:cNvSpPr/>
          <p:nvPr/>
        </p:nvSpPr>
        <p:spPr>
          <a:xfrm>
            <a:off x="8503920" y="2395728"/>
            <a:ext cx="347472" cy="347472"/>
          </a:xfrm>
          <a:prstGeom prst="ellipse">
            <a:avLst/>
          </a:prstGeom>
          <a:solidFill>
            <a:schemeClr val="accent3"/>
          </a:solidFill>
          <a:ln w="12700">
            <a:solidFill>
              <a:schemeClr val="accent3"/>
            </a:solidFill>
            <a:prstDash val="solid"/>
          </a:ln>
        </p:spPr>
      </p:sp>
      <p:sp>
        <p:nvSpPr>
          <p:cNvPr id="9" name="Step 2 number"/>
          <p:cNvSpPr txBox="1"/>
          <p:nvPr/>
        </p:nvSpPr>
        <p:spPr>
          <a:xfrm>
            <a:off x="8503920" y="239572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Step 2 text"/>
          <p:cNvSpPr txBox="1"/>
          <p:nvPr/>
        </p:nvSpPr>
        <p:spPr>
          <a:xfrm>
            <a:off x="8979408" y="2377440"/>
            <a:ext cx="2770632" cy="1115568"/>
          </a:xfrm>
          <a:prstGeom prst="rect">
            <a:avLst/>
          </a:prstGeom>
          <a:noFill/>
          <a:ln/>
        </p:spPr>
        <p:txBody>
          <a:bodyPr wrap="square" lIns="0" tIns="0" rIns="0" bIns="0" rtlCol="0" anchor="t"/>
          <a:lstStyle/>
          <a:p>
            <a:pPr indent="0" marL="0">
              <a:buNone/>
            </a:pPr>
            <a:r>
              <a:rPr lang="en-US" sz="1350" dirty="0">
                <a:solidFill>
                  <a:schemeClr val="tx1"/>
                </a:solidFill>
              </a:rPr>
              <a:t>Non emergency claims: the steps to follow.</a:t>
            </a:r>
            <a:endParaRPr lang="en-US" sz="1350" dirty="0"/>
          </a:p>
        </p:txBody>
      </p:sp>
      <p:sp>
        <p:nvSpPr>
          <p:cNvPr id="11" name="Step 3 marker"/>
          <p:cNvSpPr/>
          <p:nvPr/>
        </p:nvSpPr>
        <p:spPr>
          <a:xfrm>
            <a:off x="8503920" y="3584448"/>
            <a:ext cx="347472" cy="347472"/>
          </a:xfrm>
          <a:prstGeom prst="ellipse">
            <a:avLst/>
          </a:prstGeom>
          <a:solidFill>
            <a:schemeClr val="accent3"/>
          </a:solidFill>
          <a:ln w="12700">
            <a:solidFill>
              <a:schemeClr val="accent3"/>
            </a:solidFill>
            <a:prstDash val="solid"/>
          </a:ln>
        </p:spPr>
      </p:sp>
      <p:sp>
        <p:nvSpPr>
          <p:cNvPr id="12" name="Step 3 number"/>
          <p:cNvSpPr txBox="1"/>
          <p:nvPr/>
        </p:nvSpPr>
        <p:spPr>
          <a:xfrm>
            <a:off x="8503920" y="358444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Step 3 text"/>
          <p:cNvSpPr txBox="1"/>
          <p:nvPr/>
        </p:nvSpPr>
        <p:spPr>
          <a:xfrm>
            <a:off x="8979408" y="3566160"/>
            <a:ext cx="2770632" cy="1115568"/>
          </a:xfrm>
          <a:prstGeom prst="rect">
            <a:avLst/>
          </a:prstGeom>
          <a:noFill/>
          <a:ln/>
        </p:spPr>
        <p:txBody>
          <a:bodyPr wrap="square" lIns="0" tIns="0" rIns="0" bIns="0" rtlCol="0" anchor="t"/>
          <a:lstStyle/>
          <a:p>
            <a:pPr indent="0" marL="0">
              <a:buNone/>
            </a:pPr>
            <a:r>
              <a:rPr lang="en-US" sz="1350" dirty="0">
                <a:solidFill>
                  <a:schemeClr val="tx1"/>
                </a:solidFill>
              </a:rPr>
              <a:t>Claim forms for each product.</a:t>
            </a:r>
            <a:endParaRPr lang="en-US" sz="135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Contact us and enquiries</a:t>
            </a:r>
            <a:endParaRPr lang="en-US" sz="2800" dirty="0"/>
          </a:p>
        </p:txBody>
      </p:sp>
      <p:sp>
        <p:nvSpPr>
          <p:cNvPr id="3" name="Screenshot frame"/>
          <p:cNvSpPr/>
          <p:nvPr/>
        </p:nvSpPr>
        <p:spPr>
          <a:xfrm>
            <a:off x="402336" y="1133856"/>
            <a:ext cx="7790688" cy="4910328"/>
          </a:xfrm>
          <a:prstGeom prst="rect">
            <a:avLst/>
          </a:prstGeom>
          <a:solidFill>
            <a:schemeClr val="bg1"/>
          </a:solidFill>
          <a:ln w="12700">
            <a:solidFill>
              <a:srgbClr val="D5DFDD"/>
            </a:solidFill>
            <a:prstDash val="solid"/>
          </a:ln>
          <a:effectLst>
            <a:outerShdw sx="100000" sy="100000" kx="0" ky="0" algn="bl" rotWithShape="0" blurRad="76200" dist="25400" dir="5400000">
              <a:srgbClr val="000000">
                <a:alpha val="12000"/>
              </a:srgbClr>
            </a:outerShdw>
          </a:effectLst>
        </p:spPr>
      </p:sp>
      <p:pic>
        <p:nvPicPr>
          <p:cNvPr id="4" name="Screenshot" descr="Contact us and enquiries: screenshot with numbered callouts">    </p:cNvPr>
          <p:cNvPicPr>
            <a:picLocks noChangeAspect="1"/>
          </p:cNvPicPr>
          <p:nvPr/>
        </p:nvPicPr>
        <p:blipFill>
          <a:blip r:embed="rId1"/>
          <a:stretch>
            <a:fillRect/>
          </a:stretch>
        </p:blipFill>
        <p:spPr>
          <a:xfrm>
            <a:off x="457200" y="1188720"/>
            <a:ext cx="7680960" cy="4800600"/>
          </a:xfrm>
          <a:prstGeom prst="rect">
            <a:avLst/>
          </a:prstGeom>
        </p:spPr>
      </p:pic>
      <p:sp>
        <p:nvSpPr>
          <p:cNvPr id="5" name="Step 1 marker"/>
          <p:cNvSpPr/>
          <p:nvPr/>
        </p:nvSpPr>
        <p:spPr>
          <a:xfrm>
            <a:off x="8503920" y="1207008"/>
            <a:ext cx="347472" cy="347472"/>
          </a:xfrm>
          <a:prstGeom prst="ellipse">
            <a:avLst/>
          </a:prstGeom>
          <a:solidFill>
            <a:schemeClr val="accent3"/>
          </a:solidFill>
          <a:ln w="12700">
            <a:solidFill>
              <a:schemeClr val="accent3"/>
            </a:solidFill>
            <a:prstDash val="solid"/>
          </a:ln>
        </p:spPr>
      </p:sp>
      <p:sp>
        <p:nvSpPr>
          <p:cNvPr id="6" name="Step 1 number"/>
          <p:cNvSpPr txBox="1"/>
          <p:nvPr/>
        </p:nvSpPr>
        <p:spPr>
          <a:xfrm>
            <a:off x="8503920" y="120700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Step 1 text"/>
          <p:cNvSpPr txBox="1"/>
          <p:nvPr/>
        </p:nvSpPr>
        <p:spPr>
          <a:xfrm>
            <a:off x="8979408" y="1188720"/>
            <a:ext cx="2770632" cy="1115568"/>
          </a:xfrm>
          <a:prstGeom prst="rect">
            <a:avLst/>
          </a:prstGeom>
          <a:noFill/>
          <a:ln/>
        </p:spPr>
        <p:txBody>
          <a:bodyPr wrap="square" lIns="0" tIns="0" rIns="0" bIns="0" rtlCol="0" anchor="t"/>
          <a:lstStyle/>
          <a:p>
            <a:pPr indent="0" marL="0">
              <a:buNone/>
            </a:pPr>
            <a:r>
              <a:rPr lang="en-US" sz="1350" dirty="0">
                <a:solidFill>
                  <a:schemeClr val="tx1"/>
                </a:solidFill>
              </a:rPr>
              <a:t>The visitor's details and the product they're asking about.</a:t>
            </a:r>
            <a:endParaRPr lang="en-US" sz="1350" dirty="0"/>
          </a:p>
        </p:txBody>
      </p:sp>
      <p:sp>
        <p:nvSpPr>
          <p:cNvPr id="8" name="Step 2 marker"/>
          <p:cNvSpPr/>
          <p:nvPr/>
        </p:nvSpPr>
        <p:spPr>
          <a:xfrm>
            <a:off x="8503920" y="2395728"/>
            <a:ext cx="347472" cy="347472"/>
          </a:xfrm>
          <a:prstGeom prst="ellipse">
            <a:avLst/>
          </a:prstGeom>
          <a:solidFill>
            <a:schemeClr val="accent3"/>
          </a:solidFill>
          <a:ln w="12700">
            <a:solidFill>
              <a:schemeClr val="accent3"/>
            </a:solidFill>
            <a:prstDash val="solid"/>
          </a:ln>
        </p:spPr>
      </p:sp>
      <p:sp>
        <p:nvSpPr>
          <p:cNvPr id="9" name="Step 2 number"/>
          <p:cNvSpPr txBox="1"/>
          <p:nvPr/>
        </p:nvSpPr>
        <p:spPr>
          <a:xfrm>
            <a:off x="8503920" y="239572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Step 2 text"/>
          <p:cNvSpPr txBox="1"/>
          <p:nvPr/>
        </p:nvSpPr>
        <p:spPr>
          <a:xfrm>
            <a:off x="8979408" y="2377440"/>
            <a:ext cx="2770632" cy="1115568"/>
          </a:xfrm>
          <a:prstGeom prst="rect">
            <a:avLst/>
          </a:prstGeom>
          <a:noFill/>
          <a:ln/>
        </p:spPr>
        <p:txBody>
          <a:bodyPr wrap="square" lIns="0" tIns="0" rIns="0" bIns="0" rtlCol="0" anchor="t"/>
          <a:lstStyle/>
          <a:p>
            <a:pPr indent="0" marL="0">
              <a:buNone/>
            </a:pPr>
            <a:r>
              <a:rPr lang="en-US" sz="1350" dirty="0">
                <a:solidFill>
                  <a:schemeClr val="tx1"/>
                </a:solidFill>
              </a:rPr>
              <a:t>Their message.</a:t>
            </a:r>
            <a:endParaRPr lang="en-US" sz="1350" dirty="0"/>
          </a:p>
        </p:txBody>
      </p:sp>
      <p:sp>
        <p:nvSpPr>
          <p:cNvPr id="11" name="Step 3 marker"/>
          <p:cNvSpPr/>
          <p:nvPr/>
        </p:nvSpPr>
        <p:spPr>
          <a:xfrm>
            <a:off x="8503920" y="3584448"/>
            <a:ext cx="347472" cy="347472"/>
          </a:xfrm>
          <a:prstGeom prst="ellipse">
            <a:avLst/>
          </a:prstGeom>
          <a:solidFill>
            <a:schemeClr val="accent3"/>
          </a:solidFill>
          <a:ln w="12700">
            <a:solidFill>
              <a:schemeClr val="accent3"/>
            </a:solidFill>
            <a:prstDash val="solid"/>
          </a:ln>
        </p:spPr>
      </p:sp>
      <p:sp>
        <p:nvSpPr>
          <p:cNvPr id="12" name="Step 3 number"/>
          <p:cNvSpPr txBox="1"/>
          <p:nvPr/>
        </p:nvSpPr>
        <p:spPr>
          <a:xfrm>
            <a:off x="8503920" y="358444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Step 3 text"/>
          <p:cNvSpPr txBox="1"/>
          <p:nvPr/>
        </p:nvSpPr>
        <p:spPr>
          <a:xfrm>
            <a:off x="8979408" y="3566160"/>
            <a:ext cx="2770632" cy="1115568"/>
          </a:xfrm>
          <a:prstGeom prst="rect">
            <a:avLst/>
          </a:prstGeom>
          <a:noFill/>
          <a:ln/>
        </p:spPr>
        <p:txBody>
          <a:bodyPr wrap="square" lIns="0" tIns="0" rIns="0" bIns="0" rtlCol="0" anchor="t"/>
          <a:lstStyle/>
          <a:p>
            <a:pPr indent="0" marL="0">
              <a:buNone/>
            </a:pPr>
            <a:r>
              <a:rPr lang="en-US" sz="1350" dirty="0">
                <a:solidFill>
                  <a:schemeClr val="tx1"/>
                </a:solidFill>
              </a:rPr>
              <a:t>Send enquiry: it appears in the admin portal under Enquiries and is emailed to the team.</a:t>
            </a:r>
            <a:endParaRPr lang="en-US" sz="1350" dirty="0"/>
          </a:p>
        </p:txBody>
      </p:sp>
      <p:sp>
        <p:nvSpPr>
          <p:cNvPr id="14" name="Step 4 marker"/>
          <p:cNvSpPr/>
          <p:nvPr/>
        </p:nvSpPr>
        <p:spPr>
          <a:xfrm>
            <a:off x="8503920" y="4773168"/>
            <a:ext cx="347472" cy="347472"/>
          </a:xfrm>
          <a:prstGeom prst="ellipse">
            <a:avLst/>
          </a:prstGeom>
          <a:solidFill>
            <a:schemeClr val="accent3"/>
          </a:solidFill>
          <a:ln w="12700">
            <a:solidFill>
              <a:schemeClr val="accent3"/>
            </a:solidFill>
            <a:prstDash val="solid"/>
          </a:ln>
        </p:spPr>
      </p:sp>
      <p:sp>
        <p:nvSpPr>
          <p:cNvPr id="15" name="Step 4 number"/>
          <p:cNvSpPr txBox="1"/>
          <p:nvPr/>
        </p:nvSpPr>
        <p:spPr>
          <a:xfrm>
            <a:off x="8503920" y="477316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6" name="Step 4 text"/>
          <p:cNvSpPr txBox="1"/>
          <p:nvPr/>
        </p:nvSpPr>
        <p:spPr>
          <a:xfrm>
            <a:off x="8979408" y="4754880"/>
            <a:ext cx="2770632" cy="1115568"/>
          </a:xfrm>
          <a:prstGeom prst="rect">
            <a:avLst/>
          </a:prstGeom>
          <a:noFill/>
          <a:ln/>
        </p:spPr>
        <p:txBody>
          <a:bodyPr wrap="square" lIns="0" tIns="0" rIns="0" bIns="0" rtlCol="0" anchor="t"/>
          <a:lstStyle/>
          <a:p>
            <a:pPr indent="0" marL="0">
              <a:buNone/>
            </a:pPr>
            <a:r>
              <a:rPr lang="en-US" sz="1350" dirty="0">
                <a:solidFill>
                  <a:schemeClr val="tx1"/>
                </a:solidFill>
              </a:rPr>
              <a:t>Our address, phone number and email.</a:t>
            </a:r>
            <a:endParaRPr lang="en-US" sz="135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Searching the site</a:t>
            </a:r>
            <a:endParaRPr lang="en-US" sz="2800" dirty="0"/>
          </a:p>
        </p:txBody>
      </p:sp>
      <p:sp>
        <p:nvSpPr>
          <p:cNvPr id="3" name="Screenshot frame"/>
          <p:cNvSpPr/>
          <p:nvPr/>
        </p:nvSpPr>
        <p:spPr>
          <a:xfrm>
            <a:off x="402336" y="1133856"/>
            <a:ext cx="7790688" cy="4910328"/>
          </a:xfrm>
          <a:prstGeom prst="rect">
            <a:avLst/>
          </a:prstGeom>
          <a:solidFill>
            <a:schemeClr val="bg1"/>
          </a:solidFill>
          <a:ln w="12700">
            <a:solidFill>
              <a:srgbClr val="D5DFDD"/>
            </a:solidFill>
            <a:prstDash val="solid"/>
          </a:ln>
          <a:effectLst>
            <a:outerShdw sx="100000" sy="100000" kx="0" ky="0" algn="bl" rotWithShape="0" blurRad="76200" dist="25400" dir="5400000">
              <a:srgbClr val="000000">
                <a:alpha val="12000"/>
              </a:srgbClr>
            </a:outerShdw>
          </a:effectLst>
        </p:spPr>
      </p:sp>
      <p:pic>
        <p:nvPicPr>
          <p:cNvPr id="4" name="Screenshot" descr="Searching the site: screenshot with numbered callouts">    </p:cNvPr>
          <p:cNvPicPr>
            <a:picLocks noChangeAspect="1"/>
          </p:cNvPicPr>
          <p:nvPr/>
        </p:nvPicPr>
        <p:blipFill>
          <a:blip r:embed="rId1"/>
          <a:stretch>
            <a:fillRect/>
          </a:stretch>
        </p:blipFill>
        <p:spPr>
          <a:xfrm>
            <a:off x="457200" y="1188720"/>
            <a:ext cx="7680960" cy="4800600"/>
          </a:xfrm>
          <a:prstGeom prst="rect">
            <a:avLst/>
          </a:prstGeom>
        </p:spPr>
      </p:pic>
      <p:sp>
        <p:nvSpPr>
          <p:cNvPr id="5" name="Step 1 marker"/>
          <p:cNvSpPr/>
          <p:nvPr/>
        </p:nvSpPr>
        <p:spPr>
          <a:xfrm>
            <a:off x="8503920" y="1207008"/>
            <a:ext cx="347472" cy="347472"/>
          </a:xfrm>
          <a:prstGeom prst="ellipse">
            <a:avLst/>
          </a:prstGeom>
          <a:solidFill>
            <a:schemeClr val="accent3"/>
          </a:solidFill>
          <a:ln w="12700">
            <a:solidFill>
              <a:schemeClr val="accent3"/>
            </a:solidFill>
            <a:prstDash val="solid"/>
          </a:ln>
        </p:spPr>
      </p:sp>
      <p:sp>
        <p:nvSpPr>
          <p:cNvPr id="6" name="Step 1 number"/>
          <p:cNvSpPr txBox="1"/>
          <p:nvPr/>
        </p:nvSpPr>
        <p:spPr>
          <a:xfrm>
            <a:off x="8503920" y="120700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Step 1 text"/>
          <p:cNvSpPr txBox="1"/>
          <p:nvPr/>
        </p:nvSpPr>
        <p:spPr>
          <a:xfrm>
            <a:off x="8979408" y="1188720"/>
            <a:ext cx="2770632" cy="1115568"/>
          </a:xfrm>
          <a:prstGeom prst="rect">
            <a:avLst/>
          </a:prstGeom>
          <a:noFill/>
          <a:ln/>
        </p:spPr>
        <p:txBody>
          <a:bodyPr wrap="square" lIns="0" tIns="0" rIns="0" bIns="0" rtlCol="0" anchor="t"/>
          <a:lstStyle/>
          <a:p>
            <a:pPr indent="0" marL="0">
              <a:buNone/>
            </a:pPr>
            <a:r>
              <a:rPr lang="en-US" sz="1350" dirty="0">
                <a:solidFill>
                  <a:schemeClr val="tx1"/>
                </a:solidFill>
              </a:rPr>
              <a:t>Select the magnifying glass and start typing.</a:t>
            </a:r>
            <a:endParaRPr lang="en-US" sz="1350" dirty="0"/>
          </a:p>
        </p:txBody>
      </p:sp>
      <p:sp>
        <p:nvSpPr>
          <p:cNvPr id="8" name="Step 2 marker"/>
          <p:cNvSpPr/>
          <p:nvPr/>
        </p:nvSpPr>
        <p:spPr>
          <a:xfrm>
            <a:off x="8503920" y="2395728"/>
            <a:ext cx="347472" cy="347472"/>
          </a:xfrm>
          <a:prstGeom prst="ellipse">
            <a:avLst/>
          </a:prstGeom>
          <a:solidFill>
            <a:schemeClr val="accent3"/>
          </a:solidFill>
          <a:ln w="12700">
            <a:solidFill>
              <a:schemeClr val="accent3"/>
            </a:solidFill>
            <a:prstDash val="solid"/>
          </a:ln>
        </p:spPr>
      </p:sp>
      <p:sp>
        <p:nvSpPr>
          <p:cNvPr id="9" name="Step 2 number"/>
          <p:cNvSpPr txBox="1"/>
          <p:nvPr/>
        </p:nvSpPr>
        <p:spPr>
          <a:xfrm>
            <a:off x="8503920" y="239572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Step 2 text"/>
          <p:cNvSpPr txBox="1"/>
          <p:nvPr/>
        </p:nvSpPr>
        <p:spPr>
          <a:xfrm>
            <a:off x="8979408" y="2377440"/>
            <a:ext cx="2770632" cy="1115568"/>
          </a:xfrm>
          <a:prstGeom prst="rect">
            <a:avLst/>
          </a:prstGeom>
          <a:noFill/>
          <a:ln/>
        </p:spPr>
        <p:txBody>
          <a:bodyPr wrap="square" lIns="0" tIns="0" rIns="0" bIns="0" rtlCol="0" anchor="t"/>
          <a:lstStyle/>
          <a:p>
            <a:pPr indent="0" marL="0">
              <a:buNone/>
            </a:pPr>
            <a:r>
              <a:rPr lang="en-US" sz="1350" dirty="0">
                <a:solidFill>
                  <a:schemeClr val="tx1"/>
                </a:solidFill>
              </a:rPr>
              <a:t>Choose a result to go straight to it.</a:t>
            </a:r>
            <a:endParaRPr lang="en-US" sz="135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The website chat</a:t>
            </a:r>
            <a:endParaRPr lang="en-US" sz="2800" dirty="0"/>
          </a:p>
        </p:txBody>
      </p:sp>
      <p:sp>
        <p:nvSpPr>
          <p:cNvPr id="3" name="Screenshot frame"/>
          <p:cNvSpPr/>
          <p:nvPr/>
        </p:nvSpPr>
        <p:spPr>
          <a:xfrm>
            <a:off x="402336" y="1133856"/>
            <a:ext cx="7790688" cy="4910328"/>
          </a:xfrm>
          <a:prstGeom prst="rect">
            <a:avLst/>
          </a:prstGeom>
          <a:solidFill>
            <a:schemeClr val="bg1"/>
          </a:solidFill>
          <a:ln w="12700">
            <a:solidFill>
              <a:srgbClr val="D5DFDD"/>
            </a:solidFill>
            <a:prstDash val="solid"/>
          </a:ln>
          <a:effectLst>
            <a:outerShdw sx="100000" sy="100000" kx="0" ky="0" algn="bl" rotWithShape="0" blurRad="76200" dist="25400" dir="5400000">
              <a:srgbClr val="000000">
                <a:alpha val="12000"/>
              </a:srgbClr>
            </a:outerShdw>
          </a:effectLst>
        </p:spPr>
      </p:sp>
      <p:pic>
        <p:nvPicPr>
          <p:cNvPr id="4" name="Screenshot" descr="The website chat: screenshot with numbered callouts">    </p:cNvPr>
          <p:cNvPicPr>
            <a:picLocks noChangeAspect="1"/>
          </p:cNvPicPr>
          <p:nvPr/>
        </p:nvPicPr>
        <p:blipFill>
          <a:blip r:embed="rId1"/>
          <a:stretch>
            <a:fillRect/>
          </a:stretch>
        </p:blipFill>
        <p:spPr>
          <a:xfrm>
            <a:off x="457200" y="1188720"/>
            <a:ext cx="7680960" cy="4800600"/>
          </a:xfrm>
          <a:prstGeom prst="rect">
            <a:avLst/>
          </a:prstGeom>
        </p:spPr>
      </p:pic>
      <p:sp>
        <p:nvSpPr>
          <p:cNvPr id="5" name="Step 1 marker"/>
          <p:cNvSpPr/>
          <p:nvPr/>
        </p:nvSpPr>
        <p:spPr>
          <a:xfrm>
            <a:off x="8503920" y="1207008"/>
            <a:ext cx="347472" cy="347472"/>
          </a:xfrm>
          <a:prstGeom prst="ellipse">
            <a:avLst/>
          </a:prstGeom>
          <a:solidFill>
            <a:schemeClr val="accent3"/>
          </a:solidFill>
          <a:ln w="12700">
            <a:solidFill>
              <a:schemeClr val="accent3"/>
            </a:solidFill>
            <a:prstDash val="solid"/>
          </a:ln>
        </p:spPr>
      </p:sp>
      <p:sp>
        <p:nvSpPr>
          <p:cNvPr id="6" name="Step 1 number"/>
          <p:cNvSpPr txBox="1"/>
          <p:nvPr/>
        </p:nvSpPr>
        <p:spPr>
          <a:xfrm>
            <a:off x="8503920" y="120700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Step 1 text"/>
          <p:cNvSpPr txBox="1"/>
          <p:nvPr/>
        </p:nvSpPr>
        <p:spPr>
          <a:xfrm>
            <a:off x="8979408" y="1188720"/>
            <a:ext cx="2770632" cy="1115568"/>
          </a:xfrm>
          <a:prstGeom prst="rect">
            <a:avLst/>
          </a:prstGeom>
          <a:noFill/>
          <a:ln/>
        </p:spPr>
        <p:txBody>
          <a:bodyPr wrap="square" lIns="0" tIns="0" rIns="0" bIns="0" rtlCol="0" anchor="t"/>
          <a:lstStyle/>
          <a:p>
            <a:pPr indent="0" marL="0">
              <a:buNone/>
            </a:pPr>
            <a:r>
              <a:rPr lang="en-US" sz="1350" dirty="0">
                <a:solidFill>
                  <a:schemeClr val="tx1"/>
                </a:solidFill>
              </a:rPr>
              <a:t>Brad answers questions about our insurance, claims and how to get in touch.</a:t>
            </a:r>
            <a:endParaRPr lang="en-US" sz="1350" dirty="0"/>
          </a:p>
        </p:txBody>
      </p:sp>
      <p:sp>
        <p:nvSpPr>
          <p:cNvPr id="8" name="Step 2 marker"/>
          <p:cNvSpPr/>
          <p:nvPr/>
        </p:nvSpPr>
        <p:spPr>
          <a:xfrm>
            <a:off x="8503920" y="2395728"/>
            <a:ext cx="347472" cy="347472"/>
          </a:xfrm>
          <a:prstGeom prst="ellipse">
            <a:avLst/>
          </a:prstGeom>
          <a:solidFill>
            <a:schemeClr val="accent3"/>
          </a:solidFill>
          <a:ln w="12700">
            <a:solidFill>
              <a:schemeClr val="accent3"/>
            </a:solidFill>
            <a:prstDash val="solid"/>
          </a:ln>
        </p:spPr>
      </p:sp>
      <p:sp>
        <p:nvSpPr>
          <p:cNvPr id="9" name="Step 2 number"/>
          <p:cNvSpPr txBox="1"/>
          <p:nvPr/>
        </p:nvSpPr>
        <p:spPr>
          <a:xfrm>
            <a:off x="8503920" y="239572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Step 2 text"/>
          <p:cNvSpPr txBox="1"/>
          <p:nvPr/>
        </p:nvSpPr>
        <p:spPr>
          <a:xfrm>
            <a:off x="8979408" y="2377440"/>
            <a:ext cx="2770632" cy="1115568"/>
          </a:xfrm>
          <a:prstGeom prst="rect">
            <a:avLst/>
          </a:prstGeom>
          <a:noFill/>
          <a:ln/>
        </p:spPr>
        <p:txBody>
          <a:bodyPr wrap="square" lIns="0" tIns="0" rIns="0" bIns="0" rtlCol="0" anchor="t"/>
          <a:lstStyle/>
          <a:p>
            <a:pPr indent="0" marL="0">
              <a:buNone/>
            </a:pPr>
            <a:r>
              <a:rPr lang="en-US" sz="1350" dirty="0">
                <a:solidFill>
                  <a:schemeClr val="tx1"/>
                </a:solidFill>
              </a:rPr>
              <a:t>Steve is Brad's off duty mate, just for fun.</a:t>
            </a:r>
            <a:endParaRPr lang="en-US" sz="135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Key points</a:t>
            </a:r>
            <a:endParaRPr lang="en-US" sz="2800" dirty="0"/>
          </a:p>
        </p:txBody>
      </p:sp>
      <p:sp>
        <p:nvSpPr>
          <p:cNvPr id="3" name="Point 1"/>
          <p:cNvSpPr/>
          <p:nvPr/>
        </p:nvSpPr>
        <p:spPr>
          <a:xfrm>
            <a:off x="457200" y="1417320"/>
            <a:ext cx="11247120" cy="960120"/>
          </a:xfrm>
          <a:prstGeom prst="roundRect">
            <a:avLst>
              <a:gd name="adj" fmla="val 7619"/>
            </a:avLst>
          </a:prstGeom>
          <a:solidFill>
            <a:schemeClr val="bg1"/>
          </a:solidFill>
          <a:ln w="12700">
            <a:solidFill>
              <a:srgbClr val="DDE7E5"/>
            </a:solidFill>
            <a:prstDash val="solid"/>
          </a:ln>
        </p:spPr>
      </p:sp>
      <p:sp>
        <p:nvSpPr>
          <p:cNvPr id="4" name="Point 1 marker"/>
          <p:cNvSpPr/>
          <p:nvPr/>
        </p:nvSpPr>
        <p:spPr>
          <a:xfrm>
            <a:off x="731520" y="1664208"/>
            <a:ext cx="457200" cy="457200"/>
          </a:xfrm>
          <a:prstGeom prst="ellipse">
            <a:avLst/>
          </a:prstGeom>
          <a:solidFill>
            <a:schemeClr val="accent2"/>
          </a:solidFill>
          <a:ln w="12700">
            <a:solidFill>
              <a:schemeClr val="accent2"/>
            </a:solidFill>
            <a:prstDash val="solid"/>
          </a:ln>
        </p:spPr>
      </p:sp>
      <p:sp>
        <p:nvSpPr>
          <p:cNvPr id="5" name="Point 1 tick"/>
          <p:cNvSpPr txBox="1"/>
          <p:nvPr/>
        </p:nvSpPr>
        <p:spPr>
          <a:xfrm>
            <a:off x="731520" y="166420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6" name="Point 1 text"/>
          <p:cNvSpPr txBox="1"/>
          <p:nvPr/>
        </p:nvSpPr>
        <p:spPr>
          <a:xfrm>
            <a:off x="1463040" y="1417320"/>
            <a:ext cx="9966960" cy="960120"/>
          </a:xfrm>
          <a:prstGeom prst="rect">
            <a:avLst/>
          </a:prstGeom>
          <a:noFill/>
          <a:ln/>
        </p:spPr>
        <p:txBody>
          <a:bodyPr wrap="square" lIns="0" tIns="0" rIns="0" bIns="0" rtlCol="0" anchor="ctr"/>
          <a:lstStyle/>
          <a:p>
            <a:pPr indent="0" marL="0">
              <a:buNone/>
            </a:pPr>
            <a:r>
              <a:rPr lang="en-US" sz="1800" dirty="0">
                <a:solidFill>
                  <a:schemeClr val="tx1"/>
                </a:solidFill>
              </a:rPr>
              <a:t>The header, logo and main menu are the same on every page.</a:t>
            </a:r>
            <a:endParaRPr lang="en-US" sz="1800" dirty="0"/>
          </a:p>
        </p:txBody>
      </p:sp>
      <p:sp>
        <p:nvSpPr>
          <p:cNvPr id="7" name="Point 2"/>
          <p:cNvSpPr/>
          <p:nvPr/>
        </p:nvSpPr>
        <p:spPr>
          <a:xfrm>
            <a:off x="457200" y="2560320"/>
            <a:ext cx="11247120" cy="960120"/>
          </a:xfrm>
          <a:prstGeom prst="roundRect">
            <a:avLst>
              <a:gd name="adj" fmla="val 7619"/>
            </a:avLst>
          </a:prstGeom>
          <a:solidFill>
            <a:schemeClr val="bg1"/>
          </a:solidFill>
          <a:ln w="12700">
            <a:solidFill>
              <a:srgbClr val="DDE7E5"/>
            </a:solidFill>
            <a:prstDash val="solid"/>
          </a:ln>
        </p:spPr>
      </p:sp>
      <p:sp>
        <p:nvSpPr>
          <p:cNvPr id="8" name="Point 2 marker"/>
          <p:cNvSpPr/>
          <p:nvPr/>
        </p:nvSpPr>
        <p:spPr>
          <a:xfrm>
            <a:off x="731520" y="2807208"/>
            <a:ext cx="457200" cy="457200"/>
          </a:xfrm>
          <a:prstGeom prst="ellipse">
            <a:avLst/>
          </a:prstGeom>
          <a:solidFill>
            <a:schemeClr val="accent2"/>
          </a:solidFill>
          <a:ln w="12700">
            <a:solidFill>
              <a:schemeClr val="accent2"/>
            </a:solidFill>
            <a:prstDash val="solid"/>
          </a:ln>
        </p:spPr>
      </p:sp>
      <p:sp>
        <p:nvSpPr>
          <p:cNvPr id="9" name="Point 2 tick"/>
          <p:cNvSpPr txBox="1"/>
          <p:nvPr/>
        </p:nvSpPr>
        <p:spPr>
          <a:xfrm>
            <a:off x="731520" y="280720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0" name="Point 2 text"/>
          <p:cNvSpPr txBox="1"/>
          <p:nvPr/>
        </p:nvSpPr>
        <p:spPr>
          <a:xfrm>
            <a:off x="1463040" y="2560320"/>
            <a:ext cx="9966960" cy="960120"/>
          </a:xfrm>
          <a:prstGeom prst="rect">
            <a:avLst/>
          </a:prstGeom>
          <a:noFill/>
          <a:ln/>
        </p:spPr>
        <p:txBody>
          <a:bodyPr wrap="square" lIns="0" tIns="0" rIns="0" bIns="0" rtlCol="0" anchor="ctr"/>
          <a:lstStyle/>
          <a:p>
            <a:pPr indent="0" marL="0">
              <a:buNone/>
            </a:pPr>
            <a:r>
              <a:rPr lang="en-US" sz="1800" dirty="0">
                <a:solidFill>
                  <a:schemeClr val="tx1"/>
                </a:solidFill>
              </a:rPr>
              <a:t>Products live under Solutions. Each has Apply now, policy documents and a fact sheet.</a:t>
            </a:r>
            <a:endParaRPr lang="en-US" sz="1800" dirty="0"/>
          </a:p>
        </p:txBody>
      </p:sp>
      <p:sp>
        <p:nvSpPr>
          <p:cNvPr id="11" name="Point 3"/>
          <p:cNvSpPr/>
          <p:nvPr/>
        </p:nvSpPr>
        <p:spPr>
          <a:xfrm>
            <a:off x="457200" y="3703320"/>
            <a:ext cx="11247120" cy="960120"/>
          </a:xfrm>
          <a:prstGeom prst="roundRect">
            <a:avLst>
              <a:gd name="adj" fmla="val 7619"/>
            </a:avLst>
          </a:prstGeom>
          <a:solidFill>
            <a:schemeClr val="bg1"/>
          </a:solidFill>
          <a:ln w="12700">
            <a:solidFill>
              <a:srgbClr val="DDE7E5"/>
            </a:solidFill>
            <a:prstDash val="solid"/>
          </a:ln>
        </p:spPr>
      </p:sp>
      <p:sp>
        <p:nvSpPr>
          <p:cNvPr id="12" name="Point 3 marker"/>
          <p:cNvSpPr/>
          <p:nvPr/>
        </p:nvSpPr>
        <p:spPr>
          <a:xfrm>
            <a:off x="731520" y="3950208"/>
            <a:ext cx="457200" cy="457200"/>
          </a:xfrm>
          <a:prstGeom prst="ellipse">
            <a:avLst/>
          </a:prstGeom>
          <a:solidFill>
            <a:schemeClr val="accent2"/>
          </a:solidFill>
          <a:ln w="12700">
            <a:solidFill>
              <a:schemeClr val="accent2"/>
            </a:solidFill>
            <a:prstDash val="solid"/>
          </a:ln>
        </p:spPr>
      </p:sp>
      <p:sp>
        <p:nvSpPr>
          <p:cNvPr id="13" name="Point 3 tick"/>
          <p:cNvSpPr txBox="1"/>
          <p:nvPr/>
        </p:nvSpPr>
        <p:spPr>
          <a:xfrm>
            <a:off x="731520" y="395020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4" name="Point 3 text"/>
          <p:cNvSpPr txBox="1"/>
          <p:nvPr/>
        </p:nvSpPr>
        <p:spPr>
          <a:xfrm>
            <a:off x="1463040" y="3703320"/>
            <a:ext cx="9966960" cy="960120"/>
          </a:xfrm>
          <a:prstGeom prst="rect">
            <a:avLst/>
          </a:prstGeom>
          <a:noFill/>
          <a:ln/>
        </p:spPr>
        <p:txBody>
          <a:bodyPr wrap="square" lIns="0" tIns="0" rIns="0" bIns="0" rtlCol="0" anchor="ctr"/>
          <a:lstStyle/>
          <a:p>
            <a:pPr indent="0" marL="0">
              <a:buNone/>
            </a:pPr>
            <a:r>
              <a:rPr lang="en-US" sz="1800" dirty="0">
                <a:solidFill>
                  <a:schemeClr val="tx1"/>
                </a:solidFill>
              </a:rPr>
              <a:t>Only brokers can apply on behalf of clients: online in the portal or with the PDF form.</a:t>
            </a:r>
            <a:endParaRPr lang="en-US" sz="1800" dirty="0"/>
          </a:p>
        </p:txBody>
      </p:sp>
      <p:sp>
        <p:nvSpPr>
          <p:cNvPr id="15" name="Point 4"/>
          <p:cNvSpPr/>
          <p:nvPr/>
        </p:nvSpPr>
        <p:spPr>
          <a:xfrm>
            <a:off x="457200" y="4846320"/>
            <a:ext cx="11247120" cy="960120"/>
          </a:xfrm>
          <a:prstGeom prst="roundRect">
            <a:avLst>
              <a:gd name="adj" fmla="val 7619"/>
            </a:avLst>
          </a:prstGeom>
          <a:solidFill>
            <a:schemeClr val="bg1"/>
          </a:solidFill>
          <a:ln w="12700">
            <a:solidFill>
              <a:srgbClr val="DDE7E5"/>
            </a:solidFill>
            <a:prstDash val="solid"/>
          </a:ln>
        </p:spPr>
      </p:sp>
      <p:sp>
        <p:nvSpPr>
          <p:cNvPr id="16" name="Point 4 marker"/>
          <p:cNvSpPr/>
          <p:nvPr/>
        </p:nvSpPr>
        <p:spPr>
          <a:xfrm>
            <a:off x="731520" y="5093208"/>
            <a:ext cx="457200" cy="457200"/>
          </a:xfrm>
          <a:prstGeom prst="ellipse">
            <a:avLst/>
          </a:prstGeom>
          <a:solidFill>
            <a:schemeClr val="accent2"/>
          </a:solidFill>
          <a:ln w="12700">
            <a:solidFill>
              <a:schemeClr val="accent2"/>
            </a:solidFill>
            <a:prstDash val="solid"/>
          </a:ln>
        </p:spPr>
      </p:sp>
      <p:sp>
        <p:nvSpPr>
          <p:cNvPr id="17" name="Point 4 tick"/>
          <p:cNvSpPr txBox="1"/>
          <p:nvPr/>
        </p:nvSpPr>
        <p:spPr>
          <a:xfrm>
            <a:off x="731520" y="509320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8" name="Point 4 text"/>
          <p:cNvSpPr txBox="1"/>
          <p:nvPr/>
        </p:nvSpPr>
        <p:spPr>
          <a:xfrm>
            <a:off x="1463040" y="4846320"/>
            <a:ext cx="9966960" cy="960120"/>
          </a:xfrm>
          <a:prstGeom prst="rect">
            <a:avLst/>
          </a:prstGeom>
          <a:noFill/>
          <a:ln/>
        </p:spPr>
        <p:txBody>
          <a:bodyPr wrap="square" lIns="0" tIns="0" rIns="0" bIns="0" rtlCol="0" anchor="ctr"/>
          <a:lstStyle/>
          <a:p>
            <a:pPr indent="0" marL="0">
              <a:buNone/>
            </a:pPr>
            <a:r>
              <a:rPr lang="en-US" sz="1800" dirty="0">
                <a:solidFill>
                  <a:schemeClr val="tx1"/>
                </a:solidFill>
              </a:rPr>
              <a:t>Enquiries from Contact Us arrive in the admin portal and by email.</a:t>
            </a:r>
            <a:endParaRPr lang="en-US" sz="180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Otta">
  <a:themeElements>
    <a:clrScheme name="Otta">
      <a:dk1>
        <a:srgbClr val="303133"/>
      </a:dk1>
      <a:lt1>
        <a:srgbClr val="FFFFFF"/>
      </a:lt1>
      <a:dk2>
        <a:srgbClr val="014C69"/>
      </a:dk2>
      <a:lt2>
        <a:srgbClr val="F2F7F6"/>
      </a:lt2>
      <a:accent1>
        <a:srgbClr val="2E7D74"/>
      </a:accent1>
      <a:accent2>
        <a:srgbClr val="61B9AD"/>
      </a:accent2>
      <a:accent3>
        <a:srgbClr val="5E008D"/>
      </a:accent3>
      <a:accent4>
        <a:srgbClr val="014C69"/>
      </a:accent4>
      <a:accent5>
        <a:srgbClr val="E8F4F2"/>
      </a:accent5>
      <a:accent6>
        <a:srgbClr val="F1E6F7"/>
      </a:accent6>
      <a:hlink>
        <a:srgbClr val="2E7D74"/>
      </a:hlink>
      <a:folHlink>
        <a:srgbClr val="5E008D"/>
      </a:folHlink>
    </a:clrScheme>
    <a:fontScheme name="Otta">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Otta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Otta website</dc:title>
  <dc:subject>PptxGenJS Presentation</dc:subject>
  <dc:creator>Otta</dc:creator>
  <cp:lastModifiedBy>Otta</cp:lastModifiedBy>
  <cp:revision>1</cp:revision>
  <dcterms:created xsi:type="dcterms:W3CDTF">2026-10-14T22:18:03Z</dcterms:created>
  <dcterms:modified xsi:type="dcterms:W3CDTF">2026-10-14T22:18:03Z</dcterms:modified>
</cp:coreProperties>
</file>