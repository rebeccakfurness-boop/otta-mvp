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c409fd9-9cf1-cfe4-c7b8-039c73c609ec}">
          <p14:sldIdLst>
            <p14:sldId id="257"/>
          </p14:sldIdLst>
        </p14:section>
        <p14:section name="Getting access" id="{55c0b3d7-a9f7-5292-85ae-d711cebb8258}">
          <p14:sldIdLst>
            <p14:sldId id="258"/>
            <p14:sldId id="259"/>
            <p14:sldId id="260"/>
            <p14:sldId id="261"/>
            <p14:sldId id="262"/>
          </p14:sldIdLst>
        </p14:section>
        <p14:section name="The dashboard" id="{aa54de94-c073-10dc-83f2-125792ba9347}">
          <p14:sldIdLst>
            <p14:sldId id="263"/>
            <p14:sldId id="264"/>
          </p14:sldIdLst>
        </p14:section>
        <p14:section name="Forms and applications" id="{7b927e8b-8721-d24c-e8dc-f0dbe98eaae8}">
          <p14:sldIdLst>
            <p14:sldId id="265"/>
            <p14:sldId id="266"/>
            <p14:sldId id="267"/>
            <p14:sldId id="268"/>
            <p14:sldId id="269"/>
            <p14:sldId id="270"/>
            <p14:sldId id="271"/>
          </p14:sldIdLst>
        </p14:section>
        <p14:section name="Quotes, policies and claims" id="{c85449b7-376a-73aa-485e-983788f888ba}">
          <p14:sldIdLst>
            <p14:sldId id="272"/>
            <p14:sldId id="273"/>
            <p14:sldId id="274"/>
            <p14:sldId id="275"/>
            <p14:sldId id="276"/>
            <p14:sldId id="277"/>
            <p14:sldId id="278"/>
          </p14:sldIdLst>
        </p14:section>
        <p14:section name="Wordings, training and help" id="{c45d2332-16c0-b69b-93e8-03a27474197f}">
          <p14:sldIdLst>
            <p14:sldId id="279"/>
            <p14:sldId id="280"/>
            <p14:sldId id="281"/>
            <p14:sldId id="282"/>
            <p14:sldId id="283"/>
          </p14:sldIdLst>
        </p14:section>
        <p14:section name="Summary" id="{8ef1b605-b808-bf83-f52f-1a1c080d4d58}">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Otta Broker Portal. A tour of the portal brokers use to apply, track quotes and manage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module covers. Getting access: Signing in, requesting access and emailed sign-in links. The dashboard: What brokers see first and how the menu works. Forms and applications: Completing forms online, creating client links and tracking them. Quotes, policies and claims: Binding a quote, policies, claims and documents. Wordings, training and help: Policy wordings, the training walkthrough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access. Brokers sign in with a password, an emailed link or their work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broker portal sign-in page. Brokers can use their email and password, their Microsoft or Google work account, or ask for a one-time sign-in link by email. Brokers who don't have an account yet select Request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brokers fill in this short form. The Otta team checks each request, usually within one working day, and the broker then gets a welcome email with a link to set their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welcome email links here. The broker chooses a password and goes straight into the portal. The link works for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broker forgets their password, they can ask for a sign-in link. It arrives by email, works once and lasts 20 minutes. Once in, they can set a new password from Your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Everything a broker has with Otta, on one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greets the broker by name. The first tile shows their active book with Otta: the total annual premium of their clients' active policies, and just below it the book broken down by product. The other tiles show open quote requests, active policies and renewals due in the next 60 days. Shortcuts take them to the most used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Forms and applications. Brokers can complete a form themselves or send a secure link to their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Forms holds every Otta form, grouped by product. Online forms appear first. Brokers can complete a form themselves, or create a secure link and send it to their client to fill in. Otta never contacts clients directly. Forms that are still PDF only can be downloaded.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Online forms are split into sections, with a contents list to jump around. Brokers can download a PDF copy at any point, and Submit sends the completed form straight to the right Otta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there are several cover options, such as on the Landlord Protect form, a question mark beside each one explains it briefly and links to the policy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get a client to fill in a form, choose the form first. Otta creates a secure link to that form on the website, which the broker sends to their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the client's name and select Create link. Copy the link and send it to your client however suits you. Otta never emails or contacts clients: only brokers communicate with their clients. Links work for 30 days, and when the client submits, it goes straight to Otta and appears in your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Applications shows everything sent to Otta from the brokerage, and every client link with its status. Brokers can start a new form or create a client link from here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Quotes, policies and claims. From quote to bound policy, and following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requests lists every quote with its status: submitted, in review, quoted, bound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quote comes back and the client accepts, the broker opens the quote and instructs Otta to bind. They choose the inception date and confirm the client has accepted. The Otta team sees the instruction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Policies lists every policy the brokerage has with Otta, with expiry dates and renewal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Claims lists every claim on the brokerage's policies, with its status and amount, plus claims sent online through the claim forms. The tiles show open claims, claims in the last 12 months and what has been paid. Lodge a claim goes to the claim forms, and the page also explains what to do in an emergency.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 claim shows its details, the amount claimed and paid, who is handling it and each step so far. Brokers can email the claims team straight from the page, quoting the claim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holds policy schedules, wordings and other documents for the brokerage's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Wordings, training and help. Policy wordings, training and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Policy wordings lists the current wording for every Otta product, so brokers can check cover before they recommend it and share it with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is the broker's own guide to the portal: the five getting started steps, a walkthrough with annotated screenshots, and the guide as a PDF to keep. It is the same guide new brokers receive in their welcome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Help and contact lists the email address for each team and our phone number. Brokers talk directly to the underwriters who make the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account shows the broker's details and lets them change their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points. Brokers request access, Otta approves, and a welcome email sets up the account. Forms can be completed online, or the broker can send their client a secure link. Otta never contacts clients. Everything submitted goes straight to Otta and shows in Applications. Accepted quotes are bound with one instruction, and claims can be followed under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tta title">
    <p:bg>
      <p:bgPr>
        <a:solidFill>
          <a:schemeClr val="tx2"/>
        </a:solidFill>
      </p:bgPr>
    </p:bg>
    <p:spTree>
      <p:nvGrpSpPr>
        <p:cNvPr id="1" name=""/>
        <p:cNvGrpSpPr/>
        <p:nvPr/>
      </p:nvGrpSpPr>
      <p:grpSpPr>
        <a:xfrm>
          <a:off x="0" y="0"/>
          <a:ext cx="0" cy="0"/>
          <a:chOff x="0" y="0"/>
          <a:chExt cx="0" cy="0"/>
        </a:xfrm>
      </p:grpSpPr>
      <p:pic>
        <p:nvPicPr>
          <p:cNvPr id="2" name="Image 0" descr="/home/user/otta-MVP/public/brand/otta-logo-white.png">    </p:cNvPr>
          <p:cNvPicPr>
            <a:picLocks noChangeAspect="1"/>
          </p:cNvPicPr>
          <p:nvPr/>
        </p:nvPicPr>
        <p:blipFill>
          <a:blip r:embed="rId1"/>
          <a:stretch>
            <a:fillRect/>
          </a:stretch>
        </p:blipFill>
        <p:spPr>
          <a:xfrm>
            <a:off x="731520" y="640080"/>
            <a:ext cx="1737360" cy="649224"/>
          </a:xfrm>
          <a:prstGeom prst="rect">
            <a:avLst/>
          </a:prstGeom>
        </p:spPr>
      </p:pic>
      <p:sp>
        <p:nvSpPr>
          <p:cNvPr id="3" name="Shape 0"/>
          <p:cNvSpPr/>
          <p:nvPr/>
        </p:nvSpPr>
        <p:spPr>
          <a:xfrm>
            <a:off x="731520" y="2788920"/>
            <a:ext cx="1097280" cy="73152"/>
          </a:xfrm>
          <a:prstGeom prst="rect">
            <a:avLst/>
          </a:prstGeom>
          <a:solidFill>
            <a:schemeClr val="accent2"/>
          </a:solidFill>
          <a:ln/>
        </p:spPr>
      </p:sp>
      <p:sp>
        <p:nvSpPr>
          <p:cNvPr id="4" name="Text 1"/>
          <p:cNvSpPr/>
          <p:nvPr>
            <p:ph idx="102" type="title" hasCustomPrompt="1"/>
          </p:nvPr>
        </p:nvSpPr>
        <p:spPr>
          <a:xfrm>
            <a:off x="731520" y="3017520"/>
            <a:ext cx="10058400" cy="13716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5" name="Text 1"/>
          <p:cNvSpPr/>
          <p:nvPr>
            <p:ph idx="103" type="body" hasCustomPrompt="1"/>
          </p:nvPr>
        </p:nvSpPr>
        <p:spPr>
          <a:xfrm>
            <a:off x="731520" y="4434840"/>
            <a:ext cx="9144000" cy="822960"/>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
        <p:nvSpPr>
          <p:cNvPr id="6" name="Text 1"/>
          <p:cNvSpPr/>
          <p:nvPr>
            <p:ph idx="104" type="body" hasCustomPrompt="1"/>
          </p:nvPr>
        </p:nvSpPr>
        <p:spPr>
          <a:xfrm>
            <a:off x="731520" y="5852160"/>
            <a:ext cx="7315200" cy="365760"/>
          </a:xfrm>
          <a:prstGeom prst="rect">
            <a:avLst/>
          </a:prstGeom>
          <a:noFill/>
          <a:ln/>
        </p:spPr>
        <p:txBody>
          <a:bodyPr wrap="square" rtlCol="0"/>
          <a:lstStyle>
            <a:lvl1pPr algn="l" indent="0" marL="0">
              <a:buNone/>
              <a:defRPr lang="en-US" sz="1300" b="1" spc="200" kern="0" dirty="0">
                <a:solidFill>
                  <a:schemeClr val="accent2"/>
                </a:solidFill>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tta section">
    <p:bg>
      <p:bgPr>
        <a:solidFill>
          <a:schemeClr val="accent1"/>
        </a:solidFill>
      </p:bgPr>
    </p:bg>
    <p:spTree>
      <p:nvGrpSpPr>
        <p:cNvPr id="1" name=""/>
        <p:cNvGrpSpPr/>
        <p:nvPr/>
      </p:nvGrpSpPr>
      <p:grpSpPr>
        <a:xfrm>
          <a:off x="0" y="0"/>
          <a:ext cx="0" cy="0"/>
          <a:chOff x="0" y="0"/>
          <a:chExt cx="0" cy="0"/>
        </a:xfrm>
      </p:grpSpPr>
      <p:pic>
        <p:nvPicPr>
          <p:cNvPr id="2" name="Image 0" descr="/home/user/otta-MVP/public/brand/otta-logo-white.png">    </p:cNvPr>
          <p:cNvPicPr>
            <a:picLocks noChangeAspect="1"/>
          </p:cNvPicPr>
          <p:nvPr/>
        </p:nvPicPr>
        <p:blipFill>
          <a:blip r:embed="rId1"/>
          <a:stretch>
            <a:fillRect/>
          </a:stretch>
        </p:blipFill>
        <p:spPr>
          <a:xfrm>
            <a:off x="10607040" y="411480"/>
            <a:ext cx="1143000" cy="429768"/>
          </a:xfrm>
          <a:prstGeom prst="rect">
            <a:avLst/>
          </a:prstGeom>
        </p:spPr>
      </p:pic>
      <p:sp>
        <p:nvSpPr>
          <p:cNvPr id="3" name="Text 0"/>
          <p:cNvSpPr/>
          <p:nvPr>
            <p:ph idx="101" type="title" hasCustomPrompt="1"/>
          </p:nvPr>
        </p:nvSpPr>
        <p:spPr>
          <a:xfrm>
            <a:off x="731520" y="2743200"/>
            <a:ext cx="10058400" cy="10058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
        <p:nvSpPr>
          <p:cNvPr id="5" name="Text 0"/>
          <p:cNvSpPr/>
          <p:nvPr/>
        </p:nvSpPr>
        <p:spPr>
          <a:xfrm>
            <a:off x="731520" y="6263640"/>
            <a:ext cx="7315200" cy="274320"/>
          </a:xfrm>
          <a:prstGeom prst="rect">
            <a:avLst/>
          </a:prstGeom>
          <a:noFill/>
          <a:ln/>
        </p:spPr>
        <p:txBody>
          <a:bodyPr wrap="square" lIns="0" tIns="0" rIns="0" bIns="0" rtlCol="0" anchor="ctr"/>
          <a:lstStyle/>
          <a:p>
            <a:pPr indent="0" marL="0">
              <a:buNone/>
            </a:pPr>
            <a:r>
              <a:rPr lang="en-US" sz="1000" dirty="0">
                <a:solidFill>
                  <a:schemeClr val="bg1"/>
                </a:solidFill>
              </a:rPr>
              <a:t>Otta training  |  The Otta Broker Portal</a:t>
            </a:r>
            <a:endParaRPr lang="en-US" sz="1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tta content">
    <p:bg>
      <p:bgPr>
        <a:solidFill>
          <a:schemeClr val="bg2"/>
        </a:solidFill>
      </p:bgPr>
    </p:bg>
    <p:spTree>
      <p:nvGrpSpPr>
        <p:cNvPr id="1" name=""/>
        <p:cNvGrpSpPr/>
        <p:nvPr/>
      </p:nvGrpSpPr>
      <p:grpSpPr>
        <a:xfrm>
          <a:off x="0" y="0"/>
          <a:ext cx="0" cy="0"/>
          <a:chOff x="0" y="0"/>
          <a:chExt cx="0" cy="0"/>
        </a:xfrm>
      </p:grpSpPr>
      <p:pic>
        <p:nvPicPr>
          <p:cNvPr id="2" name="Image 0" descr="/home/user/otta-MVP/public/brand/otta-logo.png">    </p:cNvPr>
          <p:cNvPicPr>
            <a:picLocks noChangeAspect="1"/>
          </p:cNvPicPr>
          <p:nvPr/>
        </p:nvPicPr>
        <p:blipFill>
          <a:blip r:embed="rId1"/>
          <a:stretch>
            <a:fillRect/>
          </a:stretch>
        </p:blipFill>
        <p:spPr>
          <a:xfrm>
            <a:off x="10835640" y="347472"/>
            <a:ext cx="914400" cy="338328"/>
          </a:xfrm>
          <a:prstGeom prst="rect">
            <a:avLst/>
          </a:prstGeom>
        </p:spPr>
      </p:pic>
      <p:sp>
        <p:nvSpPr>
          <p:cNvPr id="3" name="Text 0"/>
          <p:cNvSpPr/>
          <p:nvPr>
            <p:ph idx="101" type="title" hasCustomPrompt="1"/>
          </p:nvPr>
        </p:nvSpPr>
        <p:spPr>
          <a:xfrm>
            <a:off x="457200" y="274320"/>
            <a:ext cx="1005840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6B6E72"/>
                </a:solidFill>
              </a:rPr>
              <a:t>Otta training  |  The Otta Broker Portal</a:t>
            </a:r>
            <a:endParaRPr lang="en-US" sz="10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731520" y="3017520"/>
            <a:ext cx="10058400" cy="1371600"/>
          </a:xfrm>
          <a:prstGeom prst="rect">
            <a:avLst/>
          </a:prstGeom>
          <a:noFill/>
          <a:ln/>
        </p:spPr>
        <p:txBody>
          <a:bodyPr wrap="square" lIns="0" tIns="0" rIns="0" bIns="0" rtlCol="0" anchor="t"/>
          <a:lstStyle/>
          <a:p>
            <a:pPr algn="l" indent="0" marL="0">
              <a:buNone/>
            </a:pPr>
            <a:r>
              <a:rPr lang="en-US" sz="4400" b="1" dirty="0">
                <a:solidFill>
                  <a:schemeClr val="bg1"/>
                </a:solidFill>
              </a:rPr>
              <a:t>The Otta Broker Portal</a:t>
            </a:r>
            <a:endParaRPr lang="en-US" sz="4400" dirty="0"/>
          </a:p>
        </p:txBody>
      </p:sp>
      <p:sp>
        <p:nvSpPr>
          <p:cNvPr id="3" name="Text 1"/>
          <p:cNvSpPr/>
          <p:nvPr>
            <p:ph idx="103" type="body" hasCustomPrompt="1"/>
          </p:nvPr>
        </p:nvSpPr>
        <p:spPr>
          <a:xfrm>
            <a:off x="731520" y="4434840"/>
            <a:ext cx="9144000" cy="822960"/>
          </a:xfrm>
          <a:prstGeom prst="rect">
            <a:avLst/>
          </a:prstGeom>
          <a:noFill/>
          <a:ln/>
        </p:spPr>
        <p:txBody>
          <a:bodyPr wrap="square" lIns="0" tIns="0" rIns="0" bIns="0" rtlCol="0" anchor="t"/>
          <a:lstStyle/>
          <a:p>
            <a:pPr algn="l" indent="0" marL="0">
              <a:buNone/>
            </a:pPr>
            <a:r>
              <a:rPr lang="en-US" sz="2000" dirty="0">
                <a:solidFill>
                  <a:schemeClr val="bg1"/>
                </a:solidFill>
              </a:rPr>
              <a:t>A tour of the portal brokers use to apply, track quotes and manage policies</a:t>
            </a:r>
            <a:endParaRPr lang="en-US" sz="2000" dirty="0"/>
          </a:p>
        </p:txBody>
      </p:sp>
      <p:sp>
        <p:nvSpPr>
          <p:cNvPr id="4" name="Text 1"/>
          <p:cNvSpPr/>
          <p:nvPr>
            <p:ph idx="104" type="body" hasCustomPrompt="1"/>
          </p:nvPr>
        </p:nvSpPr>
        <p:spPr>
          <a:xfrm>
            <a:off x="731520" y="5852160"/>
            <a:ext cx="7315200" cy="365760"/>
          </a:xfrm>
          <a:prstGeom prst="rect">
            <a:avLst/>
          </a:prstGeom>
          <a:noFill/>
          <a:ln/>
        </p:spPr>
        <p:txBody>
          <a:bodyPr wrap="square" lIns="0" tIns="0" rIns="0" bIns="0" rtlCol="0"/>
          <a:lstStyle/>
          <a:p>
            <a:pPr algn="l" indent="0" marL="0">
              <a:buNone/>
            </a:pPr>
            <a:r>
              <a:rPr lang="en-US" sz="1300" b="1" spc="200" kern="0" dirty="0">
                <a:solidFill>
                  <a:schemeClr val="accent2"/>
                </a:solidFill>
              </a:rPr>
              <a:t>FOR OTTA TEAM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What this module covers</a:t>
            </a:r>
            <a:endParaRPr lang="en-US" sz="2800" dirty="0"/>
          </a:p>
        </p:txBody>
      </p:sp>
      <p:sp>
        <p:nvSpPr>
          <p:cNvPr id="3" name="Card 1"/>
          <p:cNvSpPr/>
          <p:nvPr/>
        </p:nvSpPr>
        <p:spPr>
          <a:xfrm>
            <a:off x="457200" y="1280160"/>
            <a:ext cx="3566160" cy="2331720"/>
          </a:xfrm>
          <a:prstGeom prst="roundRect">
            <a:avLst>
              <a:gd name="adj" fmla="val 3137"/>
            </a:avLst>
          </a:prstGeom>
          <a:solidFill>
            <a:schemeClr val="bg1"/>
          </a:solidFill>
          <a:ln w="12700">
            <a:solidFill>
              <a:srgbClr val="DDE7E5"/>
            </a:solidFill>
            <a:prstDash val="solid"/>
          </a:ln>
        </p:spPr>
      </p:sp>
      <p:sp>
        <p:nvSpPr>
          <p:cNvPr id="4" name="Card 1 marker"/>
          <p:cNvSpPr/>
          <p:nvPr/>
        </p:nvSpPr>
        <p:spPr>
          <a:xfrm>
            <a:off x="777240" y="1600200"/>
            <a:ext cx="502920" cy="502920"/>
          </a:xfrm>
          <a:prstGeom prst="ellipse">
            <a:avLst/>
          </a:prstGeom>
          <a:solidFill>
            <a:schemeClr val="accent1"/>
          </a:solidFill>
          <a:ln w="12700">
            <a:solidFill>
              <a:schemeClr val="accent1"/>
            </a:solidFill>
            <a:prstDash val="solid"/>
          </a:ln>
        </p:spPr>
      </p:sp>
      <p:sp>
        <p:nvSpPr>
          <p:cNvPr id="5" name="Card 1 number"/>
          <p:cNvSpPr txBox="1"/>
          <p:nvPr/>
        </p:nvSpPr>
        <p:spPr>
          <a:xfrm>
            <a:off x="777240" y="16002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Card 1 heading"/>
          <p:cNvSpPr txBox="1"/>
          <p:nvPr/>
        </p:nvSpPr>
        <p:spPr>
          <a:xfrm>
            <a:off x="1463040" y="155448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Getting access</a:t>
            </a:r>
            <a:endParaRPr lang="en-US" sz="1900" dirty="0"/>
          </a:p>
        </p:txBody>
      </p:sp>
      <p:sp>
        <p:nvSpPr>
          <p:cNvPr id="7" name="Card 1 text"/>
          <p:cNvSpPr txBox="1"/>
          <p:nvPr/>
        </p:nvSpPr>
        <p:spPr>
          <a:xfrm>
            <a:off x="1463040" y="2194560"/>
            <a:ext cx="2286000" cy="1188720"/>
          </a:xfrm>
          <a:prstGeom prst="rect">
            <a:avLst/>
          </a:prstGeom>
          <a:noFill/>
          <a:ln/>
        </p:spPr>
        <p:txBody>
          <a:bodyPr wrap="square" lIns="0" tIns="0" rIns="0" bIns="0" rtlCol="0" anchor="t"/>
          <a:lstStyle/>
          <a:p>
            <a:pPr indent="0" marL="0">
              <a:buNone/>
            </a:pPr>
            <a:r>
              <a:rPr lang="en-US" sz="1500" dirty="0">
                <a:solidFill>
                  <a:schemeClr val="tx1"/>
                </a:solidFill>
              </a:rPr>
              <a:t>Signing in, requesting access and emailed sign-in links.</a:t>
            </a:r>
            <a:endParaRPr lang="en-US" sz="1500" dirty="0"/>
          </a:p>
        </p:txBody>
      </p:sp>
      <p:sp>
        <p:nvSpPr>
          <p:cNvPr id="8" name="Card 2"/>
          <p:cNvSpPr/>
          <p:nvPr/>
        </p:nvSpPr>
        <p:spPr>
          <a:xfrm>
            <a:off x="4297680" y="1280160"/>
            <a:ext cx="3566160" cy="2331720"/>
          </a:xfrm>
          <a:prstGeom prst="roundRect">
            <a:avLst>
              <a:gd name="adj" fmla="val 3137"/>
            </a:avLst>
          </a:prstGeom>
          <a:solidFill>
            <a:schemeClr val="bg1"/>
          </a:solidFill>
          <a:ln w="12700">
            <a:solidFill>
              <a:srgbClr val="DDE7E5"/>
            </a:solidFill>
            <a:prstDash val="solid"/>
          </a:ln>
        </p:spPr>
      </p:sp>
      <p:sp>
        <p:nvSpPr>
          <p:cNvPr id="9" name="Card 2 marker"/>
          <p:cNvSpPr/>
          <p:nvPr/>
        </p:nvSpPr>
        <p:spPr>
          <a:xfrm>
            <a:off x="4617720" y="1600200"/>
            <a:ext cx="502920" cy="502920"/>
          </a:xfrm>
          <a:prstGeom prst="ellipse">
            <a:avLst/>
          </a:prstGeom>
          <a:solidFill>
            <a:schemeClr val="accent1"/>
          </a:solidFill>
          <a:ln w="12700">
            <a:solidFill>
              <a:schemeClr val="accent1"/>
            </a:solidFill>
            <a:prstDash val="solid"/>
          </a:ln>
        </p:spPr>
      </p:sp>
      <p:sp>
        <p:nvSpPr>
          <p:cNvPr id="10" name="Card 2 number"/>
          <p:cNvSpPr txBox="1"/>
          <p:nvPr/>
        </p:nvSpPr>
        <p:spPr>
          <a:xfrm>
            <a:off x="4617720" y="16002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Card 2 heading"/>
          <p:cNvSpPr txBox="1"/>
          <p:nvPr/>
        </p:nvSpPr>
        <p:spPr>
          <a:xfrm>
            <a:off x="5303520" y="155448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The dashboard</a:t>
            </a:r>
            <a:endParaRPr lang="en-US" sz="1900" dirty="0"/>
          </a:p>
        </p:txBody>
      </p:sp>
      <p:sp>
        <p:nvSpPr>
          <p:cNvPr id="12" name="Card 2 text"/>
          <p:cNvSpPr txBox="1"/>
          <p:nvPr/>
        </p:nvSpPr>
        <p:spPr>
          <a:xfrm>
            <a:off x="5303520" y="2194560"/>
            <a:ext cx="2286000" cy="1188720"/>
          </a:xfrm>
          <a:prstGeom prst="rect">
            <a:avLst/>
          </a:prstGeom>
          <a:noFill/>
          <a:ln/>
        </p:spPr>
        <p:txBody>
          <a:bodyPr wrap="square" lIns="0" tIns="0" rIns="0" bIns="0" rtlCol="0" anchor="t"/>
          <a:lstStyle/>
          <a:p>
            <a:pPr indent="0" marL="0">
              <a:buNone/>
            </a:pPr>
            <a:r>
              <a:rPr lang="en-US" sz="1500" dirty="0">
                <a:solidFill>
                  <a:schemeClr val="tx1"/>
                </a:solidFill>
              </a:rPr>
              <a:t>What brokers see first and how the menu works.</a:t>
            </a:r>
            <a:endParaRPr lang="en-US" sz="1500" dirty="0"/>
          </a:p>
        </p:txBody>
      </p:sp>
      <p:sp>
        <p:nvSpPr>
          <p:cNvPr id="13" name="Card 3"/>
          <p:cNvSpPr/>
          <p:nvPr/>
        </p:nvSpPr>
        <p:spPr>
          <a:xfrm>
            <a:off x="8138160" y="1280160"/>
            <a:ext cx="3566160" cy="2331720"/>
          </a:xfrm>
          <a:prstGeom prst="roundRect">
            <a:avLst>
              <a:gd name="adj" fmla="val 3137"/>
            </a:avLst>
          </a:prstGeom>
          <a:solidFill>
            <a:schemeClr val="bg1"/>
          </a:solidFill>
          <a:ln w="12700">
            <a:solidFill>
              <a:srgbClr val="DDE7E5"/>
            </a:solidFill>
            <a:prstDash val="solid"/>
          </a:ln>
        </p:spPr>
      </p:sp>
      <p:sp>
        <p:nvSpPr>
          <p:cNvPr id="14" name="Card 3 marker"/>
          <p:cNvSpPr/>
          <p:nvPr/>
        </p:nvSpPr>
        <p:spPr>
          <a:xfrm>
            <a:off x="8458200" y="1600200"/>
            <a:ext cx="502920" cy="502920"/>
          </a:xfrm>
          <a:prstGeom prst="ellipse">
            <a:avLst/>
          </a:prstGeom>
          <a:solidFill>
            <a:schemeClr val="accent1"/>
          </a:solidFill>
          <a:ln w="12700">
            <a:solidFill>
              <a:schemeClr val="accent1"/>
            </a:solidFill>
            <a:prstDash val="solid"/>
          </a:ln>
        </p:spPr>
      </p:sp>
      <p:sp>
        <p:nvSpPr>
          <p:cNvPr id="15" name="Card 3 number"/>
          <p:cNvSpPr txBox="1"/>
          <p:nvPr/>
        </p:nvSpPr>
        <p:spPr>
          <a:xfrm>
            <a:off x="8458200" y="16002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Card 3 heading"/>
          <p:cNvSpPr txBox="1"/>
          <p:nvPr/>
        </p:nvSpPr>
        <p:spPr>
          <a:xfrm>
            <a:off x="9144000" y="155448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Forms and applications</a:t>
            </a:r>
            <a:endParaRPr lang="en-US" sz="1900" dirty="0"/>
          </a:p>
        </p:txBody>
      </p:sp>
      <p:sp>
        <p:nvSpPr>
          <p:cNvPr id="17" name="Card 3 text"/>
          <p:cNvSpPr txBox="1"/>
          <p:nvPr/>
        </p:nvSpPr>
        <p:spPr>
          <a:xfrm>
            <a:off x="9144000" y="2194560"/>
            <a:ext cx="2286000" cy="1188720"/>
          </a:xfrm>
          <a:prstGeom prst="rect">
            <a:avLst/>
          </a:prstGeom>
          <a:noFill/>
          <a:ln/>
        </p:spPr>
        <p:txBody>
          <a:bodyPr wrap="square" lIns="0" tIns="0" rIns="0" bIns="0" rtlCol="0" anchor="t"/>
          <a:lstStyle/>
          <a:p>
            <a:pPr indent="0" marL="0">
              <a:buNone/>
            </a:pPr>
            <a:r>
              <a:rPr lang="en-US" sz="1500" dirty="0">
                <a:solidFill>
                  <a:schemeClr val="tx1"/>
                </a:solidFill>
              </a:rPr>
              <a:t>Completing forms online, creating client links and tracking them.</a:t>
            </a:r>
            <a:endParaRPr lang="en-US" sz="1500" dirty="0"/>
          </a:p>
        </p:txBody>
      </p:sp>
      <p:sp>
        <p:nvSpPr>
          <p:cNvPr id="18" name="Card 4"/>
          <p:cNvSpPr/>
          <p:nvPr/>
        </p:nvSpPr>
        <p:spPr>
          <a:xfrm>
            <a:off x="457200" y="3886200"/>
            <a:ext cx="3566160" cy="2331720"/>
          </a:xfrm>
          <a:prstGeom prst="roundRect">
            <a:avLst>
              <a:gd name="adj" fmla="val 3137"/>
            </a:avLst>
          </a:prstGeom>
          <a:solidFill>
            <a:schemeClr val="bg1"/>
          </a:solidFill>
          <a:ln w="12700">
            <a:solidFill>
              <a:srgbClr val="DDE7E5"/>
            </a:solidFill>
            <a:prstDash val="solid"/>
          </a:ln>
        </p:spPr>
      </p:sp>
      <p:sp>
        <p:nvSpPr>
          <p:cNvPr id="19" name="Card 4 marker"/>
          <p:cNvSpPr/>
          <p:nvPr/>
        </p:nvSpPr>
        <p:spPr>
          <a:xfrm>
            <a:off x="777240" y="4206240"/>
            <a:ext cx="502920" cy="502920"/>
          </a:xfrm>
          <a:prstGeom prst="ellipse">
            <a:avLst/>
          </a:prstGeom>
          <a:solidFill>
            <a:schemeClr val="accent1"/>
          </a:solidFill>
          <a:ln w="12700">
            <a:solidFill>
              <a:schemeClr val="accent1"/>
            </a:solidFill>
            <a:prstDash val="solid"/>
          </a:ln>
        </p:spPr>
      </p:sp>
      <p:sp>
        <p:nvSpPr>
          <p:cNvPr id="20" name="Card 4 number"/>
          <p:cNvSpPr txBox="1"/>
          <p:nvPr/>
        </p:nvSpPr>
        <p:spPr>
          <a:xfrm>
            <a:off x="777240" y="4206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Card 4 heading"/>
          <p:cNvSpPr txBox="1"/>
          <p:nvPr/>
        </p:nvSpPr>
        <p:spPr>
          <a:xfrm>
            <a:off x="1463040" y="416052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Quotes, policies and claims</a:t>
            </a:r>
            <a:endParaRPr lang="en-US" sz="1900" dirty="0"/>
          </a:p>
        </p:txBody>
      </p:sp>
      <p:sp>
        <p:nvSpPr>
          <p:cNvPr id="22" name="Card 4 text"/>
          <p:cNvSpPr txBox="1"/>
          <p:nvPr/>
        </p:nvSpPr>
        <p:spPr>
          <a:xfrm>
            <a:off x="1463040" y="4800600"/>
            <a:ext cx="2286000" cy="1188720"/>
          </a:xfrm>
          <a:prstGeom prst="rect">
            <a:avLst/>
          </a:prstGeom>
          <a:noFill/>
          <a:ln/>
        </p:spPr>
        <p:txBody>
          <a:bodyPr wrap="square" lIns="0" tIns="0" rIns="0" bIns="0" rtlCol="0" anchor="t"/>
          <a:lstStyle/>
          <a:p>
            <a:pPr indent="0" marL="0">
              <a:buNone/>
            </a:pPr>
            <a:r>
              <a:rPr lang="en-US" sz="1500" dirty="0">
                <a:solidFill>
                  <a:schemeClr val="tx1"/>
                </a:solidFill>
              </a:rPr>
              <a:t>Binding a quote, policies, claims and documents.</a:t>
            </a:r>
            <a:endParaRPr lang="en-US" sz="1500" dirty="0"/>
          </a:p>
        </p:txBody>
      </p:sp>
      <p:sp>
        <p:nvSpPr>
          <p:cNvPr id="23" name="Card 5"/>
          <p:cNvSpPr/>
          <p:nvPr/>
        </p:nvSpPr>
        <p:spPr>
          <a:xfrm>
            <a:off x="4297680" y="3886200"/>
            <a:ext cx="3566160" cy="2331720"/>
          </a:xfrm>
          <a:prstGeom prst="roundRect">
            <a:avLst>
              <a:gd name="adj" fmla="val 3137"/>
            </a:avLst>
          </a:prstGeom>
          <a:solidFill>
            <a:schemeClr val="bg1"/>
          </a:solidFill>
          <a:ln w="12700">
            <a:solidFill>
              <a:srgbClr val="DDE7E5"/>
            </a:solidFill>
            <a:prstDash val="solid"/>
          </a:ln>
        </p:spPr>
      </p:sp>
      <p:sp>
        <p:nvSpPr>
          <p:cNvPr id="24" name="Card 5 marker"/>
          <p:cNvSpPr/>
          <p:nvPr/>
        </p:nvSpPr>
        <p:spPr>
          <a:xfrm>
            <a:off x="4617720" y="4206240"/>
            <a:ext cx="502920" cy="502920"/>
          </a:xfrm>
          <a:prstGeom prst="ellipse">
            <a:avLst/>
          </a:prstGeom>
          <a:solidFill>
            <a:schemeClr val="accent1"/>
          </a:solidFill>
          <a:ln w="12700">
            <a:solidFill>
              <a:schemeClr val="accent1"/>
            </a:solidFill>
            <a:prstDash val="solid"/>
          </a:ln>
        </p:spPr>
      </p:sp>
      <p:sp>
        <p:nvSpPr>
          <p:cNvPr id="25" name="Card 5 number"/>
          <p:cNvSpPr txBox="1"/>
          <p:nvPr/>
        </p:nvSpPr>
        <p:spPr>
          <a:xfrm>
            <a:off x="4617720" y="4206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6" name="Card 5 heading"/>
          <p:cNvSpPr txBox="1"/>
          <p:nvPr/>
        </p:nvSpPr>
        <p:spPr>
          <a:xfrm>
            <a:off x="5303520" y="416052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Wordings, training and help</a:t>
            </a:r>
            <a:endParaRPr lang="en-US" sz="1900" dirty="0"/>
          </a:p>
        </p:txBody>
      </p:sp>
      <p:sp>
        <p:nvSpPr>
          <p:cNvPr id="27" name="Card 5 text"/>
          <p:cNvSpPr txBox="1"/>
          <p:nvPr/>
        </p:nvSpPr>
        <p:spPr>
          <a:xfrm>
            <a:off x="5303520" y="4800600"/>
            <a:ext cx="2286000" cy="1188720"/>
          </a:xfrm>
          <a:prstGeom prst="rect">
            <a:avLst/>
          </a:prstGeom>
          <a:noFill/>
          <a:ln/>
        </p:spPr>
        <p:txBody>
          <a:bodyPr wrap="square" lIns="0" tIns="0" rIns="0" bIns="0" rtlCol="0" anchor="t"/>
          <a:lstStyle/>
          <a:p>
            <a:pPr indent="0" marL="0">
              <a:buNone/>
            </a:pPr>
            <a:r>
              <a:rPr lang="en-US" sz="1500" dirty="0">
                <a:solidFill>
                  <a:schemeClr val="tx1"/>
                </a:solidFill>
              </a:rPr>
              <a:t>Policy wordings, the training walkthrough and account settings.</a:t>
            </a:r>
            <a:endParaRPr lang="en-US" sz="15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01</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Getting access</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Brokers sign in with a password, an emailed link or their work account.</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Signing in</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Signing in: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886968"/>
          </a:xfrm>
          <a:prstGeom prst="rect">
            <a:avLst/>
          </a:prstGeom>
          <a:noFill/>
          <a:ln/>
        </p:spPr>
        <p:txBody>
          <a:bodyPr wrap="square" lIns="0" tIns="0" rIns="0" bIns="0" rtlCol="0" anchor="t"/>
          <a:lstStyle/>
          <a:p>
            <a:pPr indent="0" marL="0">
              <a:buNone/>
            </a:pPr>
            <a:r>
              <a:rPr lang="en-US" sz="1200" dirty="0">
                <a:solidFill>
                  <a:schemeClr val="tx1"/>
                </a:solidFill>
              </a:rPr>
              <a:t>Work email and password.</a:t>
            </a:r>
            <a:endParaRPr lang="en-US" sz="1200" dirty="0"/>
          </a:p>
        </p:txBody>
      </p:sp>
      <p:sp>
        <p:nvSpPr>
          <p:cNvPr id="8" name="Step 2 marker"/>
          <p:cNvSpPr/>
          <p:nvPr/>
        </p:nvSpPr>
        <p:spPr>
          <a:xfrm>
            <a:off x="8503920" y="21671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1671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148840"/>
            <a:ext cx="2770632" cy="886968"/>
          </a:xfrm>
          <a:prstGeom prst="rect">
            <a:avLst/>
          </a:prstGeom>
          <a:noFill/>
          <a:ln/>
        </p:spPr>
        <p:txBody>
          <a:bodyPr wrap="square" lIns="0" tIns="0" rIns="0" bIns="0" rtlCol="0" anchor="t"/>
          <a:lstStyle/>
          <a:p>
            <a:pPr indent="0" marL="0">
              <a:buNone/>
            </a:pPr>
            <a:r>
              <a:rPr lang="en-US" sz="1200" dirty="0">
                <a:solidFill>
                  <a:schemeClr val="tx1"/>
                </a:solidFill>
              </a:rPr>
              <a:t>Select Sign in.</a:t>
            </a:r>
            <a:endParaRPr lang="en-US" sz="1200" dirty="0"/>
          </a:p>
        </p:txBody>
      </p:sp>
      <p:sp>
        <p:nvSpPr>
          <p:cNvPr id="11" name="Step 3 marker"/>
          <p:cNvSpPr/>
          <p:nvPr/>
        </p:nvSpPr>
        <p:spPr>
          <a:xfrm>
            <a:off x="8503920" y="31272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127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108960"/>
            <a:ext cx="2770632" cy="886968"/>
          </a:xfrm>
          <a:prstGeom prst="rect">
            <a:avLst/>
          </a:prstGeom>
          <a:noFill/>
          <a:ln/>
        </p:spPr>
        <p:txBody>
          <a:bodyPr wrap="square" lIns="0" tIns="0" rIns="0" bIns="0" rtlCol="0" anchor="t"/>
          <a:lstStyle/>
          <a:p>
            <a:pPr indent="0" marL="0">
              <a:buNone/>
            </a:pPr>
            <a:r>
              <a:rPr lang="en-US" sz="1200" dirty="0">
                <a:solidFill>
                  <a:schemeClr val="tx1"/>
                </a:solidFill>
              </a:rPr>
              <a:t>Or sign in with Microsoft or Google.</a:t>
            </a:r>
            <a:endParaRPr lang="en-US" sz="1200" dirty="0"/>
          </a:p>
        </p:txBody>
      </p:sp>
      <p:sp>
        <p:nvSpPr>
          <p:cNvPr id="14" name="Step 4 marker"/>
          <p:cNvSpPr/>
          <p:nvPr/>
        </p:nvSpPr>
        <p:spPr>
          <a:xfrm>
            <a:off x="8503920" y="40873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0873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069080"/>
            <a:ext cx="2770632" cy="886968"/>
          </a:xfrm>
          <a:prstGeom prst="rect">
            <a:avLst/>
          </a:prstGeom>
          <a:noFill/>
          <a:ln/>
        </p:spPr>
        <p:txBody>
          <a:bodyPr wrap="square" lIns="0" tIns="0" rIns="0" bIns="0" rtlCol="0" anchor="t"/>
          <a:lstStyle/>
          <a:p>
            <a:pPr indent="0" marL="0">
              <a:buNone/>
            </a:pPr>
            <a:r>
              <a:rPr lang="en-US" sz="1200" dirty="0">
                <a:solidFill>
                  <a:schemeClr val="tx1"/>
                </a:solidFill>
              </a:rPr>
              <a:t>Forgotten your password? Email yourself a sign-in link.</a:t>
            </a:r>
            <a:endParaRPr lang="en-US" sz="1200" dirty="0"/>
          </a:p>
        </p:txBody>
      </p:sp>
      <p:sp>
        <p:nvSpPr>
          <p:cNvPr id="17" name="Step 5 marker"/>
          <p:cNvSpPr/>
          <p:nvPr/>
        </p:nvSpPr>
        <p:spPr>
          <a:xfrm>
            <a:off x="8503920" y="5047488"/>
            <a:ext cx="347472" cy="347472"/>
          </a:xfrm>
          <a:prstGeom prst="ellipse">
            <a:avLst/>
          </a:prstGeom>
          <a:solidFill>
            <a:schemeClr val="accent3"/>
          </a:solidFill>
          <a:ln w="12700">
            <a:solidFill>
              <a:schemeClr val="accent3"/>
            </a:solidFill>
            <a:prstDash val="solid"/>
          </a:ln>
        </p:spPr>
      </p:sp>
      <p:sp>
        <p:nvSpPr>
          <p:cNvPr id="18" name="Step 5 number"/>
          <p:cNvSpPr txBox="1"/>
          <p:nvPr/>
        </p:nvSpPr>
        <p:spPr>
          <a:xfrm>
            <a:off x="8503920" y="504748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9" name="Step 5 text"/>
          <p:cNvSpPr txBox="1"/>
          <p:nvPr/>
        </p:nvSpPr>
        <p:spPr>
          <a:xfrm>
            <a:off x="8979408" y="5029200"/>
            <a:ext cx="2770632" cy="886968"/>
          </a:xfrm>
          <a:prstGeom prst="rect">
            <a:avLst/>
          </a:prstGeom>
          <a:noFill/>
          <a:ln/>
        </p:spPr>
        <p:txBody>
          <a:bodyPr wrap="square" lIns="0" tIns="0" rIns="0" bIns="0" rtlCol="0" anchor="t"/>
          <a:lstStyle/>
          <a:p>
            <a:pPr indent="0" marL="0">
              <a:buNone/>
            </a:pPr>
            <a:r>
              <a:rPr lang="en-US" sz="1200" dirty="0">
                <a:solidFill>
                  <a:schemeClr val="tx1"/>
                </a:solidFill>
              </a:rPr>
              <a:t>New to Otta? Request access.</a:t>
            </a:r>
            <a:endParaRPr lang="en-US" sz="12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Requesting access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Requesting acces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Name and work email.</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Brokerage name and FSP number.</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Request access. The Otta team checks it, usually within one working day.</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The welcome link</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The welcome link: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welcome page, for the broker's new account.</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Choose and confirm a password.</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Set password and go straight into the portal.</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Emailed sign-in links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Emailed sign-in link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Enter the work email on the account.</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Email me a sign-in link. It works once, for 20 minutes.</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02</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The dashboard</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Everything a broker has with Otta, on one page.</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The dashboard</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The dashboard: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menu: every part of the portal, including Claims, Policy wordings and Training.</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Your active book: the annual premium of the brokerage's active Otta policies.</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Open quote requests, active policies and renewals due. Select one to see the list.</a:t>
            </a:r>
            <a:endParaRPr lang="en-US" sz="1350" dirty="0"/>
          </a:p>
        </p:txBody>
      </p:sp>
      <p:sp>
        <p:nvSpPr>
          <p:cNvPr id="14" name="Step 4 marker"/>
          <p:cNvSpPr/>
          <p:nvPr/>
        </p:nvSpPr>
        <p:spPr>
          <a:xfrm>
            <a:off x="8503920" y="47731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7731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754880"/>
            <a:ext cx="2770632" cy="1115568"/>
          </a:xfrm>
          <a:prstGeom prst="rect">
            <a:avLst/>
          </a:prstGeom>
          <a:noFill/>
          <a:ln/>
        </p:spPr>
        <p:txBody>
          <a:bodyPr wrap="square" lIns="0" tIns="0" rIns="0" bIns="0" rtlCol="0" anchor="t"/>
          <a:lstStyle/>
          <a:p>
            <a:pPr indent="0" marL="0">
              <a:buNone/>
            </a:pPr>
            <a:r>
              <a:rPr lang="en-US" sz="1350" dirty="0">
                <a:solidFill>
                  <a:schemeClr val="tx1"/>
                </a:solidFill>
              </a:rPr>
              <a:t>Shortcuts to proposal forms, renewal declarations, claim forms and general forms.</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03</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Forms and applications</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Brokers can complete a form themselves or send a secure link to their client.</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Forms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Form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886968"/>
          </a:xfrm>
          <a:prstGeom prst="rect">
            <a:avLst/>
          </a:prstGeom>
          <a:noFill/>
          <a:ln/>
        </p:spPr>
        <p:txBody>
          <a:bodyPr wrap="square" lIns="0" tIns="0" rIns="0" bIns="0" rtlCol="0" anchor="t"/>
          <a:lstStyle/>
          <a:p>
            <a:pPr indent="0" marL="0">
              <a:buNone/>
            </a:pPr>
            <a:r>
              <a:rPr lang="en-US" sz="1200" dirty="0">
                <a:solidFill>
                  <a:schemeClr val="tx1"/>
                </a:solidFill>
              </a:rPr>
              <a:t>Choose the type: proposal forms, renewal declarations, claim forms or general forms.</a:t>
            </a:r>
            <a:endParaRPr lang="en-US" sz="1200" dirty="0"/>
          </a:p>
        </p:txBody>
      </p:sp>
      <p:sp>
        <p:nvSpPr>
          <p:cNvPr id="8" name="Step 2 marker"/>
          <p:cNvSpPr/>
          <p:nvPr/>
        </p:nvSpPr>
        <p:spPr>
          <a:xfrm>
            <a:off x="8503920" y="21671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1671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148840"/>
            <a:ext cx="2770632" cy="886968"/>
          </a:xfrm>
          <a:prstGeom prst="rect">
            <a:avLst/>
          </a:prstGeom>
          <a:noFill/>
          <a:ln/>
        </p:spPr>
        <p:txBody>
          <a:bodyPr wrap="square" lIns="0" tIns="0" rIns="0" bIns="0" rtlCol="0" anchor="t"/>
          <a:lstStyle/>
          <a:p>
            <a:pPr indent="0" marL="0">
              <a:buNone/>
            </a:pPr>
            <a:r>
              <a:rPr lang="en-US" sz="1200" dirty="0">
                <a:solidFill>
                  <a:schemeClr val="tx1"/>
                </a:solidFill>
              </a:rPr>
              <a:t>Search by name or filter by product.</a:t>
            </a:r>
            <a:endParaRPr lang="en-US" sz="1200" dirty="0"/>
          </a:p>
        </p:txBody>
      </p:sp>
      <p:sp>
        <p:nvSpPr>
          <p:cNvPr id="11" name="Step 3 marker"/>
          <p:cNvSpPr/>
          <p:nvPr/>
        </p:nvSpPr>
        <p:spPr>
          <a:xfrm>
            <a:off x="8503920" y="31272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127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108960"/>
            <a:ext cx="2770632" cy="886968"/>
          </a:xfrm>
          <a:prstGeom prst="rect">
            <a:avLst/>
          </a:prstGeom>
          <a:noFill/>
          <a:ln/>
        </p:spPr>
        <p:txBody>
          <a:bodyPr wrap="square" lIns="0" tIns="0" rIns="0" bIns="0" rtlCol="0" anchor="t"/>
          <a:lstStyle/>
          <a:p>
            <a:pPr indent="0" marL="0">
              <a:buNone/>
            </a:pPr>
            <a:r>
              <a:rPr lang="en-US" sz="1200" dirty="0">
                <a:solidFill>
                  <a:schemeClr val="tx1"/>
                </a:solidFill>
              </a:rPr>
              <a:t>Forms are grouped under a banner for each product.</a:t>
            </a:r>
            <a:endParaRPr lang="en-US" sz="1200" dirty="0"/>
          </a:p>
        </p:txBody>
      </p:sp>
      <p:sp>
        <p:nvSpPr>
          <p:cNvPr id="14" name="Step 4 marker"/>
          <p:cNvSpPr/>
          <p:nvPr/>
        </p:nvSpPr>
        <p:spPr>
          <a:xfrm>
            <a:off x="8503920" y="40873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0873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069080"/>
            <a:ext cx="2770632" cy="886968"/>
          </a:xfrm>
          <a:prstGeom prst="rect">
            <a:avLst/>
          </a:prstGeom>
          <a:noFill/>
          <a:ln/>
        </p:spPr>
        <p:txBody>
          <a:bodyPr wrap="square" lIns="0" tIns="0" rIns="0" bIns="0" rtlCol="0" anchor="t"/>
          <a:lstStyle/>
          <a:p>
            <a:pPr indent="0" marL="0">
              <a:buNone/>
            </a:pPr>
            <a:r>
              <a:rPr lang="en-US" sz="1200" dirty="0">
                <a:solidFill>
                  <a:schemeClr val="tx1"/>
                </a:solidFill>
              </a:rPr>
              <a:t>Select a form to complete it online.</a:t>
            </a:r>
            <a:endParaRPr lang="en-US" sz="1200" dirty="0"/>
          </a:p>
        </p:txBody>
      </p:sp>
      <p:sp>
        <p:nvSpPr>
          <p:cNvPr id="17" name="Step 5 marker"/>
          <p:cNvSpPr/>
          <p:nvPr/>
        </p:nvSpPr>
        <p:spPr>
          <a:xfrm>
            <a:off x="8503920" y="5047488"/>
            <a:ext cx="347472" cy="347472"/>
          </a:xfrm>
          <a:prstGeom prst="ellipse">
            <a:avLst/>
          </a:prstGeom>
          <a:solidFill>
            <a:schemeClr val="accent3"/>
          </a:solidFill>
          <a:ln w="12700">
            <a:solidFill>
              <a:schemeClr val="accent3"/>
            </a:solidFill>
            <a:prstDash val="solid"/>
          </a:ln>
        </p:spPr>
      </p:sp>
      <p:sp>
        <p:nvSpPr>
          <p:cNvPr id="18" name="Step 5 number"/>
          <p:cNvSpPr txBox="1"/>
          <p:nvPr/>
        </p:nvSpPr>
        <p:spPr>
          <a:xfrm>
            <a:off x="8503920" y="504748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9" name="Step 5 text"/>
          <p:cNvSpPr txBox="1"/>
          <p:nvPr/>
        </p:nvSpPr>
        <p:spPr>
          <a:xfrm>
            <a:off x="8979408" y="5029200"/>
            <a:ext cx="2770632" cy="886968"/>
          </a:xfrm>
          <a:prstGeom prst="rect">
            <a:avLst/>
          </a:prstGeom>
          <a:noFill/>
          <a:ln/>
        </p:spPr>
        <p:txBody>
          <a:bodyPr wrap="square" lIns="0" tIns="0" rIns="0" bIns="0" rtlCol="0" anchor="t"/>
          <a:lstStyle/>
          <a:p>
            <a:pPr indent="0" marL="0">
              <a:buNone/>
            </a:pPr>
            <a:r>
              <a:rPr lang="en-US" sz="1200" dirty="0">
                <a:solidFill>
                  <a:schemeClr val="tx1"/>
                </a:solidFill>
              </a:rPr>
              <a:t>Send to a client creates a secure link the broker sends to their client.</a:t>
            </a:r>
            <a:endParaRPr lang="en-US" sz="12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Completing a form online</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Completing a form online: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886968"/>
          </a:xfrm>
          <a:prstGeom prst="rect">
            <a:avLst/>
          </a:prstGeom>
          <a:noFill/>
          <a:ln/>
        </p:spPr>
        <p:txBody>
          <a:bodyPr wrap="square" lIns="0" tIns="0" rIns="0" bIns="0" rtlCol="0" anchor="t"/>
          <a:lstStyle/>
          <a:p>
            <a:pPr indent="0" marL="0">
              <a:buNone/>
            </a:pPr>
            <a:r>
              <a:rPr lang="en-US" sz="1200" dirty="0">
                <a:solidFill>
                  <a:schemeClr val="tx1"/>
                </a:solidFill>
              </a:rPr>
              <a:t>The sections of the form. Jump to any section.</a:t>
            </a:r>
            <a:endParaRPr lang="en-US" sz="1200" dirty="0"/>
          </a:p>
        </p:txBody>
      </p:sp>
      <p:sp>
        <p:nvSpPr>
          <p:cNvPr id="8" name="Step 2 marker"/>
          <p:cNvSpPr/>
          <p:nvPr/>
        </p:nvSpPr>
        <p:spPr>
          <a:xfrm>
            <a:off x="8503920" y="21671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1671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148840"/>
            <a:ext cx="2770632" cy="886968"/>
          </a:xfrm>
          <a:prstGeom prst="rect">
            <a:avLst/>
          </a:prstGeom>
          <a:noFill/>
          <a:ln/>
        </p:spPr>
        <p:txBody>
          <a:bodyPr wrap="square" lIns="0" tIns="0" rIns="0" bIns="0" rtlCol="0" anchor="t"/>
          <a:lstStyle/>
          <a:p>
            <a:pPr indent="0" marL="0">
              <a:buNone/>
            </a:pPr>
            <a:r>
              <a:rPr lang="en-US" sz="1200" dirty="0">
                <a:solidFill>
                  <a:schemeClr val="tx1"/>
                </a:solidFill>
              </a:rPr>
              <a:t>Each section is clearly headed.</a:t>
            </a:r>
            <a:endParaRPr lang="en-US" sz="1200" dirty="0"/>
          </a:p>
        </p:txBody>
      </p:sp>
      <p:sp>
        <p:nvSpPr>
          <p:cNvPr id="11" name="Step 3 marker"/>
          <p:cNvSpPr/>
          <p:nvPr/>
        </p:nvSpPr>
        <p:spPr>
          <a:xfrm>
            <a:off x="8503920" y="31272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127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108960"/>
            <a:ext cx="2770632" cy="886968"/>
          </a:xfrm>
          <a:prstGeom prst="rect">
            <a:avLst/>
          </a:prstGeom>
          <a:noFill/>
          <a:ln/>
        </p:spPr>
        <p:txBody>
          <a:bodyPr wrap="square" lIns="0" tIns="0" rIns="0" bIns="0" rtlCol="0" anchor="t"/>
          <a:lstStyle/>
          <a:p>
            <a:pPr indent="0" marL="0">
              <a:buNone/>
            </a:pPr>
            <a:r>
              <a:rPr lang="en-US" sz="1200" dirty="0">
                <a:solidFill>
                  <a:schemeClr val="tx1"/>
                </a:solidFill>
              </a:rPr>
              <a:t>Fill in the answers. Progress is kept as you go.</a:t>
            </a:r>
            <a:endParaRPr lang="en-US" sz="1200" dirty="0"/>
          </a:p>
        </p:txBody>
      </p:sp>
      <p:sp>
        <p:nvSpPr>
          <p:cNvPr id="14" name="Step 4 marker"/>
          <p:cNvSpPr/>
          <p:nvPr/>
        </p:nvSpPr>
        <p:spPr>
          <a:xfrm>
            <a:off x="8503920" y="40873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0873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069080"/>
            <a:ext cx="2770632" cy="886968"/>
          </a:xfrm>
          <a:prstGeom prst="rect">
            <a:avLst/>
          </a:prstGeom>
          <a:noFill/>
          <a:ln/>
        </p:spPr>
        <p:txBody>
          <a:bodyPr wrap="square" lIns="0" tIns="0" rIns="0" bIns="0" rtlCol="0" anchor="t"/>
          <a:lstStyle/>
          <a:p>
            <a:pPr indent="0" marL="0">
              <a:buNone/>
            </a:pPr>
            <a:r>
              <a:rPr lang="en-US" sz="1200" dirty="0">
                <a:solidFill>
                  <a:schemeClr val="tx1"/>
                </a:solidFill>
              </a:rPr>
              <a:t>Download PDF saves a copy at any point.</a:t>
            </a:r>
            <a:endParaRPr lang="en-US" sz="1200" dirty="0"/>
          </a:p>
        </p:txBody>
      </p:sp>
      <p:sp>
        <p:nvSpPr>
          <p:cNvPr id="17" name="Step 5 marker"/>
          <p:cNvSpPr/>
          <p:nvPr/>
        </p:nvSpPr>
        <p:spPr>
          <a:xfrm>
            <a:off x="8503920" y="5047488"/>
            <a:ext cx="347472" cy="347472"/>
          </a:xfrm>
          <a:prstGeom prst="ellipse">
            <a:avLst/>
          </a:prstGeom>
          <a:solidFill>
            <a:schemeClr val="accent3"/>
          </a:solidFill>
          <a:ln w="12700">
            <a:solidFill>
              <a:schemeClr val="accent3"/>
            </a:solidFill>
            <a:prstDash val="solid"/>
          </a:ln>
        </p:spPr>
      </p:sp>
      <p:sp>
        <p:nvSpPr>
          <p:cNvPr id="18" name="Step 5 number"/>
          <p:cNvSpPr txBox="1"/>
          <p:nvPr/>
        </p:nvSpPr>
        <p:spPr>
          <a:xfrm>
            <a:off x="8503920" y="504748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9" name="Step 5 text"/>
          <p:cNvSpPr txBox="1"/>
          <p:nvPr/>
        </p:nvSpPr>
        <p:spPr>
          <a:xfrm>
            <a:off x="8979408" y="5029200"/>
            <a:ext cx="2770632" cy="886968"/>
          </a:xfrm>
          <a:prstGeom prst="rect">
            <a:avLst/>
          </a:prstGeom>
          <a:noFill/>
          <a:ln/>
        </p:spPr>
        <p:txBody>
          <a:bodyPr wrap="square" lIns="0" tIns="0" rIns="0" bIns="0" rtlCol="0" anchor="t"/>
          <a:lstStyle/>
          <a:p>
            <a:pPr indent="0" marL="0">
              <a:buNone/>
            </a:pPr>
            <a:r>
              <a:rPr lang="en-US" sz="1200" dirty="0">
                <a:solidFill>
                  <a:schemeClr val="tx1"/>
                </a:solidFill>
              </a:rPr>
              <a:t>Submit application sends it straight to Otta.</a:t>
            </a:r>
            <a:endParaRPr lang="en-US" sz="12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Help with cover options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Help with cover option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Select the question mark beside a cover option.</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A short explanation of what it covers.</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A link to the policy wording for the detail.</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Sending a form to a client</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Sending a form to a client: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Choose which form to send.</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Sending a form to a client (continued)</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Sending a form to a client (continued):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client's name.</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Create link, then copy it and send it to the client yourself.</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Tracking applications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Tracking application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Applications sent to Otta, by the broker or their clients.</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Links created for clients, and whether they've been completed.</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Create a client link or fill in a new form online.</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04</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Quotes, policies and claims</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From quote to bound policy, and following claims.</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Quote requests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Quote request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Search quote requests.</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Select a quote to see its status and details.</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Binding a quote</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Binding a quote: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886968"/>
          </a:xfrm>
          <a:prstGeom prst="rect">
            <a:avLst/>
          </a:prstGeom>
          <a:noFill/>
          <a:ln/>
        </p:spPr>
        <p:txBody>
          <a:bodyPr wrap="square" lIns="0" tIns="0" rIns="0" bIns="0" rtlCol="0" anchor="t"/>
          <a:lstStyle/>
          <a:p>
            <a:pPr indent="0" marL="0">
              <a:buNone/>
            </a:pPr>
            <a:r>
              <a:rPr lang="en-US" sz="1200" dirty="0">
                <a:solidFill>
                  <a:schemeClr val="tx1"/>
                </a:solidFill>
              </a:rPr>
              <a:t>The quote and its details.</a:t>
            </a:r>
            <a:endParaRPr lang="en-US" sz="1200" dirty="0"/>
          </a:p>
        </p:txBody>
      </p:sp>
      <p:sp>
        <p:nvSpPr>
          <p:cNvPr id="8" name="Step 2 marker"/>
          <p:cNvSpPr/>
          <p:nvPr/>
        </p:nvSpPr>
        <p:spPr>
          <a:xfrm>
            <a:off x="8503920" y="21671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1671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148840"/>
            <a:ext cx="2770632" cy="886968"/>
          </a:xfrm>
          <a:prstGeom prst="rect">
            <a:avLst/>
          </a:prstGeom>
          <a:noFill/>
          <a:ln/>
        </p:spPr>
        <p:txBody>
          <a:bodyPr wrap="square" lIns="0" tIns="0" rIns="0" bIns="0" rtlCol="0" anchor="t"/>
          <a:lstStyle/>
          <a:p>
            <a:pPr indent="0" marL="0">
              <a:buNone/>
            </a:pPr>
            <a:r>
              <a:rPr lang="en-US" sz="1200" dirty="0">
                <a:solidFill>
                  <a:schemeClr val="tx1"/>
                </a:solidFill>
              </a:rPr>
              <a:t>Bind this quote, once the client has accepted.</a:t>
            </a:r>
            <a:endParaRPr lang="en-US" sz="1200" dirty="0"/>
          </a:p>
        </p:txBody>
      </p:sp>
      <p:sp>
        <p:nvSpPr>
          <p:cNvPr id="11" name="Step 3 marker"/>
          <p:cNvSpPr/>
          <p:nvPr/>
        </p:nvSpPr>
        <p:spPr>
          <a:xfrm>
            <a:off x="8503920" y="31272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127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108960"/>
            <a:ext cx="2770632" cy="886968"/>
          </a:xfrm>
          <a:prstGeom prst="rect">
            <a:avLst/>
          </a:prstGeom>
          <a:noFill/>
          <a:ln/>
        </p:spPr>
        <p:txBody>
          <a:bodyPr wrap="square" lIns="0" tIns="0" rIns="0" bIns="0" rtlCol="0" anchor="t"/>
          <a:lstStyle/>
          <a:p>
            <a:pPr indent="0" marL="0">
              <a:buNone/>
            </a:pPr>
            <a:r>
              <a:rPr lang="en-US" sz="1200" dirty="0">
                <a:solidFill>
                  <a:schemeClr val="tx1"/>
                </a:solidFill>
              </a:rPr>
              <a:t>The inception date.</a:t>
            </a:r>
            <a:endParaRPr lang="en-US" sz="1200" dirty="0"/>
          </a:p>
        </p:txBody>
      </p:sp>
      <p:sp>
        <p:nvSpPr>
          <p:cNvPr id="14" name="Step 4 marker"/>
          <p:cNvSpPr/>
          <p:nvPr/>
        </p:nvSpPr>
        <p:spPr>
          <a:xfrm>
            <a:off x="8503920" y="40873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0873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069080"/>
            <a:ext cx="2770632" cy="886968"/>
          </a:xfrm>
          <a:prstGeom prst="rect">
            <a:avLst/>
          </a:prstGeom>
          <a:noFill/>
          <a:ln/>
        </p:spPr>
        <p:txBody>
          <a:bodyPr wrap="square" lIns="0" tIns="0" rIns="0" bIns="0" rtlCol="0" anchor="t"/>
          <a:lstStyle/>
          <a:p>
            <a:pPr indent="0" marL="0">
              <a:buNone/>
            </a:pPr>
            <a:r>
              <a:rPr lang="en-US" sz="1200" dirty="0">
                <a:solidFill>
                  <a:schemeClr val="tx1"/>
                </a:solidFill>
              </a:rPr>
              <a:t>Confirm the client has accepted the quote and terms.</a:t>
            </a:r>
            <a:endParaRPr lang="en-US" sz="1200" dirty="0"/>
          </a:p>
        </p:txBody>
      </p:sp>
      <p:sp>
        <p:nvSpPr>
          <p:cNvPr id="17" name="Step 5 marker"/>
          <p:cNvSpPr/>
          <p:nvPr/>
        </p:nvSpPr>
        <p:spPr>
          <a:xfrm>
            <a:off x="8503920" y="5047488"/>
            <a:ext cx="347472" cy="347472"/>
          </a:xfrm>
          <a:prstGeom prst="ellipse">
            <a:avLst/>
          </a:prstGeom>
          <a:solidFill>
            <a:schemeClr val="accent3"/>
          </a:solidFill>
          <a:ln w="12700">
            <a:solidFill>
              <a:schemeClr val="accent3"/>
            </a:solidFill>
            <a:prstDash val="solid"/>
          </a:ln>
        </p:spPr>
      </p:sp>
      <p:sp>
        <p:nvSpPr>
          <p:cNvPr id="18" name="Step 5 number"/>
          <p:cNvSpPr txBox="1"/>
          <p:nvPr/>
        </p:nvSpPr>
        <p:spPr>
          <a:xfrm>
            <a:off x="8503920" y="504748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9" name="Step 5 text"/>
          <p:cNvSpPr txBox="1"/>
          <p:nvPr/>
        </p:nvSpPr>
        <p:spPr>
          <a:xfrm>
            <a:off x="8979408" y="5029200"/>
            <a:ext cx="2770632" cy="886968"/>
          </a:xfrm>
          <a:prstGeom prst="rect">
            <a:avLst/>
          </a:prstGeom>
          <a:noFill/>
          <a:ln/>
        </p:spPr>
        <p:txBody>
          <a:bodyPr wrap="square" lIns="0" tIns="0" rIns="0" bIns="0" rtlCol="0" anchor="t"/>
          <a:lstStyle/>
          <a:p>
            <a:pPr indent="0" marL="0">
              <a:buNone/>
            </a:pPr>
            <a:r>
              <a:rPr lang="en-US" sz="1200" dirty="0">
                <a:solidFill>
                  <a:schemeClr val="tx1"/>
                </a:solidFill>
              </a:rPr>
              <a:t>Instruct Otta to bind. The Otta team is told straight away.</a:t>
            </a:r>
            <a:endParaRPr lang="en-US" sz="12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Policies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Policie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Search policies.</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Select a policy to see its details and documents.</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Claims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Claim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Open claims, claims this year and what has been paid.</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Each claim and where it is up to. Select one for the detail.</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Lodge a claim takes the broker to the claim forms.</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A claim's progress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A claim's progres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insured, claim number and status.</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claim details: policy, dates, amounts and what happened.</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Progress, step by step.</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Documents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Document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Policy documents for the brokerage.</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Download any document.</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05</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Wordings, training and help</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Policy wordings, training and support.</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Policy wordings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Policy wording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Wordings grouped by product.</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Where a wording covers more than one product, it says which.</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View or download the wording.</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Training</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Training: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Download the broker guide as a PDF.</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Getting started in five steps.</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A walkthrough of each part of the portal, with screenshots.</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Help and contact</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Help and contact: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Email the right underwriting team directly.</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How colleagues get access, and how to reset a password.</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Your account</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Your account: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Your details.</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Choose a new password.</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Save new password.</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Key points</a:t>
            </a:r>
            <a:endParaRPr lang="en-US" sz="2800" dirty="0"/>
          </a:p>
        </p:txBody>
      </p:sp>
      <p:sp>
        <p:nvSpPr>
          <p:cNvPr id="3" name="Point 1"/>
          <p:cNvSpPr/>
          <p:nvPr/>
        </p:nvSpPr>
        <p:spPr>
          <a:xfrm>
            <a:off x="457200" y="1417320"/>
            <a:ext cx="11247120" cy="960120"/>
          </a:xfrm>
          <a:prstGeom prst="roundRect">
            <a:avLst>
              <a:gd name="adj" fmla="val 7619"/>
            </a:avLst>
          </a:prstGeom>
          <a:solidFill>
            <a:schemeClr val="bg1"/>
          </a:solidFill>
          <a:ln w="12700">
            <a:solidFill>
              <a:srgbClr val="DDE7E5"/>
            </a:solidFill>
            <a:prstDash val="solid"/>
          </a:ln>
        </p:spPr>
      </p:sp>
      <p:sp>
        <p:nvSpPr>
          <p:cNvPr id="4" name="Point 1 marker"/>
          <p:cNvSpPr/>
          <p:nvPr/>
        </p:nvSpPr>
        <p:spPr>
          <a:xfrm>
            <a:off x="731520" y="1668780"/>
            <a:ext cx="457200" cy="457200"/>
          </a:xfrm>
          <a:prstGeom prst="ellipse">
            <a:avLst/>
          </a:prstGeom>
          <a:solidFill>
            <a:schemeClr val="accent2"/>
          </a:solidFill>
          <a:ln w="12700">
            <a:solidFill>
              <a:schemeClr val="accent2"/>
            </a:solidFill>
            <a:prstDash val="solid"/>
          </a:ln>
        </p:spPr>
      </p:sp>
      <p:sp>
        <p:nvSpPr>
          <p:cNvPr id="5" name="Point 1 tick"/>
          <p:cNvSpPr txBox="1"/>
          <p:nvPr/>
        </p:nvSpPr>
        <p:spPr>
          <a:xfrm>
            <a:off x="731520" y="16687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6" name="Point 1 text"/>
          <p:cNvSpPr txBox="1"/>
          <p:nvPr/>
        </p:nvSpPr>
        <p:spPr>
          <a:xfrm>
            <a:off x="1463040" y="1417320"/>
            <a:ext cx="9966960" cy="960120"/>
          </a:xfrm>
          <a:prstGeom prst="rect">
            <a:avLst/>
          </a:prstGeom>
          <a:noFill/>
          <a:ln/>
        </p:spPr>
        <p:txBody>
          <a:bodyPr wrap="square" lIns="0" tIns="0" rIns="0" bIns="0" rtlCol="0" anchor="ctr"/>
          <a:lstStyle/>
          <a:p>
            <a:pPr indent="0" marL="0">
              <a:buNone/>
            </a:pPr>
            <a:r>
              <a:rPr lang="en-US" sz="1800" dirty="0">
                <a:solidFill>
                  <a:schemeClr val="tx1"/>
                </a:solidFill>
              </a:rPr>
              <a:t>Brokers request access, Otta approves, and a welcome email sets up the account.</a:t>
            </a:r>
            <a:endParaRPr lang="en-US" sz="1800" dirty="0"/>
          </a:p>
        </p:txBody>
      </p:sp>
      <p:sp>
        <p:nvSpPr>
          <p:cNvPr id="7" name="Point 2"/>
          <p:cNvSpPr/>
          <p:nvPr/>
        </p:nvSpPr>
        <p:spPr>
          <a:xfrm>
            <a:off x="457200" y="2560320"/>
            <a:ext cx="11247120" cy="960120"/>
          </a:xfrm>
          <a:prstGeom prst="roundRect">
            <a:avLst>
              <a:gd name="adj" fmla="val 7619"/>
            </a:avLst>
          </a:prstGeom>
          <a:solidFill>
            <a:schemeClr val="bg1"/>
          </a:solidFill>
          <a:ln w="12700">
            <a:solidFill>
              <a:srgbClr val="DDE7E5"/>
            </a:solidFill>
            <a:prstDash val="solid"/>
          </a:ln>
        </p:spPr>
      </p:sp>
      <p:sp>
        <p:nvSpPr>
          <p:cNvPr id="8" name="Point 2 marker"/>
          <p:cNvSpPr/>
          <p:nvPr/>
        </p:nvSpPr>
        <p:spPr>
          <a:xfrm>
            <a:off x="731520" y="2811780"/>
            <a:ext cx="457200" cy="457200"/>
          </a:xfrm>
          <a:prstGeom prst="ellipse">
            <a:avLst/>
          </a:prstGeom>
          <a:solidFill>
            <a:schemeClr val="accent2"/>
          </a:solidFill>
          <a:ln w="12700">
            <a:solidFill>
              <a:schemeClr val="accent2"/>
            </a:solidFill>
            <a:prstDash val="solid"/>
          </a:ln>
        </p:spPr>
      </p:sp>
      <p:sp>
        <p:nvSpPr>
          <p:cNvPr id="9" name="Point 2 tick"/>
          <p:cNvSpPr txBox="1"/>
          <p:nvPr/>
        </p:nvSpPr>
        <p:spPr>
          <a:xfrm>
            <a:off x="731520" y="28117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0" name="Point 2 text"/>
          <p:cNvSpPr txBox="1"/>
          <p:nvPr/>
        </p:nvSpPr>
        <p:spPr>
          <a:xfrm>
            <a:off x="1463040" y="2560320"/>
            <a:ext cx="9966960" cy="960120"/>
          </a:xfrm>
          <a:prstGeom prst="rect">
            <a:avLst/>
          </a:prstGeom>
          <a:noFill/>
          <a:ln/>
        </p:spPr>
        <p:txBody>
          <a:bodyPr wrap="square" lIns="0" tIns="0" rIns="0" bIns="0" rtlCol="0" anchor="ctr"/>
          <a:lstStyle/>
          <a:p>
            <a:pPr indent="0" marL="0">
              <a:buNone/>
            </a:pPr>
            <a:r>
              <a:rPr lang="en-US" sz="1800" dirty="0">
                <a:solidFill>
                  <a:schemeClr val="tx1"/>
                </a:solidFill>
              </a:rPr>
              <a:t>Forms can be completed online, or the broker can send their client a secure link. Otta never contacts clients.</a:t>
            </a:r>
            <a:endParaRPr lang="en-US" sz="1800" dirty="0"/>
          </a:p>
        </p:txBody>
      </p:sp>
      <p:sp>
        <p:nvSpPr>
          <p:cNvPr id="11" name="Point 3"/>
          <p:cNvSpPr/>
          <p:nvPr/>
        </p:nvSpPr>
        <p:spPr>
          <a:xfrm>
            <a:off x="457200" y="3703320"/>
            <a:ext cx="11247120" cy="960120"/>
          </a:xfrm>
          <a:prstGeom prst="roundRect">
            <a:avLst>
              <a:gd name="adj" fmla="val 7619"/>
            </a:avLst>
          </a:prstGeom>
          <a:solidFill>
            <a:schemeClr val="bg1"/>
          </a:solidFill>
          <a:ln w="12700">
            <a:solidFill>
              <a:srgbClr val="DDE7E5"/>
            </a:solidFill>
            <a:prstDash val="solid"/>
          </a:ln>
        </p:spPr>
      </p:sp>
      <p:sp>
        <p:nvSpPr>
          <p:cNvPr id="12" name="Point 3 marker"/>
          <p:cNvSpPr/>
          <p:nvPr/>
        </p:nvSpPr>
        <p:spPr>
          <a:xfrm>
            <a:off x="731520" y="3954780"/>
            <a:ext cx="457200" cy="457200"/>
          </a:xfrm>
          <a:prstGeom prst="ellipse">
            <a:avLst/>
          </a:prstGeom>
          <a:solidFill>
            <a:schemeClr val="accent2"/>
          </a:solidFill>
          <a:ln w="12700">
            <a:solidFill>
              <a:schemeClr val="accent2"/>
            </a:solidFill>
            <a:prstDash val="solid"/>
          </a:ln>
        </p:spPr>
      </p:sp>
      <p:sp>
        <p:nvSpPr>
          <p:cNvPr id="13" name="Point 3 tick"/>
          <p:cNvSpPr txBox="1"/>
          <p:nvPr/>
        </p:nvSpPr>
        <p:spPr>
          <a:xfrm>
            <a:off x="731520" y="39547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4" name="Point 3 text"/>
          <p:cNvSpPr txBox="1"/>
          <p:nvPr/>
        </p:nvSpPr>
        <p:spPr>
          <a:xfrm>
            <a:off x="1463040" y="3703320"/>
            <a:ext cx="9966960" cy="960120"/>
          </a:xfrm>
          <a:prstGeom prst="rect">
            <a:avLst/>
          </a:prstGeom>
          <a:noFill/>
          <a:ln/>
        </p:spPr>
        <p:txBody>
          <a:bodyPr wrap="square" lIns="0" tIns="0" rIns="0" bIns="0" rtlCol="0" anchor="ctr"/>
          <a:lstStyle/>
          <a:p>
            <a:pPr indent="0" marL="0">
              <a:buNone/>
            </a:pPr>
            <a:r>
              <a:rPr lang="en-US" sz="1800" dirty="0">
                <a:solidFill>
                  <a:schemeClr val="tx1"/>
                </a:solidFill>
              </a:rPr>
              <a:t>Everything submitted goes straight to Otta and shows in Applications.</a:t>
            </a:r>
            <a:endParaRPr lang="en-US" sz="1800" dirty="0"/>
          </a:p>
        </p:txBody>
      </p:sp>
      <p:sp>
        <p:nvSpPr>
          <p:cNvPr id="15" name="Point 4"/>
          <p:cNvSpPr/>
          <p:nvPr/>
        </p:nvSpPr>
        <p:spPr>
          <a:xfrm>
            <a:off x="457200" y="4846320"/>
            <a:ext cx="11247120" cy="960120"/>
          </a:xfrm>
          <a:prstGeom prst="roundRect">
            <a:avLst>
              <a:gd name="adj" fmla="val 7619"/>
            </a:avLst>
          </a:prstGeom>
          <a:solidFill>
            <a:schemeClr val="bg1"/>
          </a:solidFill>
          <a:ln w="12700">
            <a:solidFill>
              <a:srgbClr val="DDE7E5"/>
            </a:solidFill>
            <a:prstDash val="solid"/>
          </a:ln>
        </p:spPr>
      </p:sp>
      <p:sp>
        <p:nvSpPr>
          <p:cNvPr id="16" name="Point 4 marker"/>
          <p:cNvSpPr/>
          <p:nvPr/>
        </p:nvSpPr>
        <p:spPr>
          <a:xfrm>
            <a:off x="731520" y="5097780"/>
            <a:ext cx="457200" cy="457200"/>
          </a:xfrm>
          <a:prstGeom prst="ellipse">
            <a:avLst/>
          </a:prstGeom>
          <a:solidFill>
            <a:schemeClr val="accent2"/>
          </a:solidFill>
          <a:ln w="12700">
            <a:solidFill>
              <a:schemeClr val="accent2"/>
            </a:solidFill>
            <a:prstDash val="solid"/>
          </a:ln>
        </p:spPr>
      </p:sp>
      <p:sp>
        <p:nvSpPr>
          <p:cNvPr id="17" name="Point 4 tick"/>
          <p:cNvSpPr txBox="1"/>
          <p:nvPr/>
        </p:nvSpPr>
        <p:spPr>
          <a:xfrm>
            <a:off x="731520" y="50977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8" name="Point 4 text"/>
          <p:cNvSpPr txBox="1"/>
          <p:nvPr/>
        </p:nvSpPr>
        <p:spPr>
          <a:xfrm>
            <a:off x="1463040" y="4846320"/>
            <a:ext cx="9966960" cy="960120"/>
          </a:xfrm>
          <a:prstGeom prst="rect">
            <a:avLst/>
          </a:prstGeom>
          <a:noFill/>
          <a:ln/>
        </p:spPr>
        <p:txBody>
          <a:bodyPr wrap="square" lIns="0" tIns="0" rIns="0" bIns="0" rtlCol="0" anchor="ctr"/>
          <a:lstStyle/>
          <a:p>
            <a:pPr indent="0" marL="0">
              <a:buNone/>
            </a:pPr>
            <a:r>
              <a:rPr lang="en-US" sz="1800" dirty="0">
                <a:solidFill>
                  <a:schemeClr val="tx1"/>
                </a:solidFill>
              </a:rPr>
              <a:t>Accepted quotes are bound with one instruction, and claims can be followed under Claims.</a:t>
            </a:r>
            <a:endParaRPr lang="en-US" sz="18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tta">
  <a:themeElements>
    <a:clrScheme name="Otta">
      <a:dk1>
        <a:srgbClr val="303133"/>
      </a:dk1>
      <a:lt1>
        <a:srgbClr val="FFFFFF"/>
      </a:lt1>
      <a:dk2>
        <a:srgbClr val="014C69"/>
      </a:dk2>
      <a:lt2>
        <a:srgbClr val="F2F7F6"/>
      </a:lt2>
      <a:accent1>
        <a:srgbClr val="2E7D74"/>
      </a:accent1>
      <a:accent2>
        <a:srgbClr val="61B9AD"/>
      </a:accent2>
      <a:accent3>
        <a:srgbClr val="5E008D"/>
      </a:accent3>
      <a:accent4>
        <a:srgbClr val="014C69"/>
      </a:accent4>
      <a:accent5>
        <a:srgbClr val="E8F4F2"/>
      </a:accent5>
      <a:accent6>
        <a:srgbClr val="F1E6F7"/>
      </a:accent6>
      <a:hlink>
        <a:srgbClr val="2E7D74"/>
      </a:hlink>
      <a:folHlink>
        <a:srgbClr val="5E008D"/>
      </a:folHlink>
    </a:clrScheme>
    <a:fontScheme name="Ott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Otta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Otta Broker Portal</dc:title>
  <dc:subject>PptxGenJS Presentation</dc:subject>
  <dc:creator>Otta</dc:creator>
  <cp:lastModifiedBy>Otta</cp:lastModifiedBy>
  <cp:revision>1</cp:revision>
  <dcterms:created xsi:type="dcterms:W3CDTF">2026-10-14T22:46:07Z</dcterms:created>
  <dcterms:modified xsi:type="dcterms:W3CDTF">2026-10-14T22:46:07Z</dcterms:modified>
</cp:coreProperties>
</file>