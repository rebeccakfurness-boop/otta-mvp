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932ef0-165a-b451-cc46-748f1b1d83e9}">
          <p14:sldIdLst>
            <p14:sldId id="257"/>
          </p14:sldIdLst>
        </p14:section>
        <p14:section name="Getting access" id="{7b1292eb-a72e-5ea6-d05f-31f20280b545}">
          <p14:sldIdLst>
            <p14:sldId id="258"/>
            <p14:sldId id="259"/>
            <p14:sldId id="260"/>
            <p14:sldId id="261"/>
            <p14:sldId id="262"/>
          </p14:sldIdLst>
        </p14:section>
        <p14:section name="The dashboard" id="{792e5ffb-d065-e169-8719-9d79ff1f6565}">
          <p14:sldIdLst>
            <p14:sldId id="263"/>
            <p14:sldId id="264"/>
          </p14:sldIdLst>
        </p14:section>
        <p14:section name="Forms and applications" id="{bfa89033-d46a-e191-e048-ecea839ef1db}">
          <p14:sldIdLst>
            <p14:sldId id="265"/>
            <p14:sldId id="266"/>
            <p14:sldId id="267"/>
            <p14:sldId id="268"/>
            <p14:sldId id="269"/>
            <p14:sldId id="270"/>
            <p14:sldId id="271"/>
          </p14:sldIdLst>
        </p14:section>
        <p14:section name="Quotes, policies and help" id="{bc2ffda3-fb13-66ee-8596-9bad25a563b7}">
          <p14:sldIdLst>
            <p14:sldId id="272"/>
            <p14:sldId id="273"/>
            <p14:sldId id="274"/>
            <p14:sldId id="275"/>
            <p14:sldId id="276"/>
            <p14:sldId id="277"/>
            <p14:sldId id="278"/>
          </p14:sldIdLst>
        </p14:section>
        <p14:section name="Summary" id="{9deb0e59-6d0c-81ea-6181-24e1c3cf5f52}">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Otta Broker Portal. A tour of the portal brokers use to apply, track quotes and manage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module covers. Getting access: Signing in, requesting access and emailed sign-in links. The dashboard: What brokers see first and how the menu works. Forms and applications: Completing forms online, sending them to clients and tracking them. Quotes, policies and help: Binding a quote, policies, documents and account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access. Brokers sign in with a password, an emailed link or their work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broker portal sign-in page. Brokers can use their email and password, their Microsoft or Google work account, or ask for a one-time sign-in link by email. Brokers who don't have an account yet select Request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brokers fill in this short form. The Otta team checks each request, usually within one working day, and the broker then gets a welcome email with a link to set their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welcome email links here. The broker chooses a password and goes straight into the portal. The link works for 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broker forgets their password, they can ask for a sign-in link. It arrives by email, works once and lasts 20 minutes. Once in, they can set a new password from Your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Everything a broker has with Otta,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greets the broker by name and shows their open quote requests, active policies and renewals due in the next 60 days. Shortcuts take them to the most used forms, and below are their recent quote requests and upcoming renewals.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and applications. Brokers can complete a form themselves or send a secure link to their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Forms holds every Otta form, grouped by product. Online forms appear first. Brokers can complete a form themselves, or send it to their client to fill in. Forms that are still PDF only can be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forms are split into sections, with a contents list to jump around. Brokers can download a PDF copy at any point, and Submit sends the completed form straight to the right Otta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there are several cover options, such as on the Landlord Protect form, a question mark beside each one explains it briefly and links to the policy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send a form to a client, choose the form first. The client gets a secure link to that form on the Otta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client's name and email, and a note if you like. Otta emails the link for you, with replies coming back to you. Leave the email blank to just copy the link. Links work for 30 days, and when the client submits, it goes straight to Otta and appears in your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shows everything sent to Otta from the brokerage, and every link sent to clients with its status. Brokers can start a new form or send one from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Quotes, policies and help. From quote to bound policy, and where to get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requests lists every quote with its status: submitted, in review, quoted, bound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quote comes back and the client accepts, the broker opens the quote and instructs Otta to bind. They choose the inception date and confirm the client has accepted. The Otta team sees the instruction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Policies lists every policy the brokerage has with Otta, with expiry dates and renewal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holds policy schedules, wordings and other documents for the brokerage's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and contact lists the email address for each team and our phone number. Brokers talk directly to the underwriters who make the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account shows the broker's details and lets them change their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Brokers request access, Otta approves, and a welcome email sets up the account. Forms can be completed online or sent to the client as a secure link. Everything submitted goes straight to Otta and shows in Applications. Accepted quotes are bound with one instruction from the quote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tta title">
    <p:bg>
      <p:bgPr>
        <a:solidFill>
          <a:schemeClr val="tx2"/>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731520" y="640080"/>
            <a:ext cx="1737360" cy="649224"/>
          </a:xfrm>
          <a:prstGeom prst="rect">
            <a:avLst/>
          </a:prstGeom>
        </p:spPr>
      </p:pic>
      <p:sp>
        <p:nvSpPr>
          <p:cNvPr id="3" name="Shape 0"/>
          <p:cNvSpPr/>
          <p:nvPr/>
        </p:nvSpPr>
        <p:spPr>
          <a:xfrm>
            <a:off x="731520" y="2788920"/>
            <a:ext cx="1097280" cy="73152"/>
          </a:xfrm>
          <a:prstGeom prst="rect">
            <a:avLst/>
          </a:prstGeom>
          <a:solidFill>
            <a:schemeClr val="accent2"/>
          </a:solidFill>
          <a:ln/>
        </p:spPr>
      </p:sp>
      <p:sp>
        <p:nvSpPr>
          <p:cNvPr id="4" name="Text 1"/>
          <p:cNvSpPr/>
          <p:nvPr>
            <p:ph idx="102" type="title" hasCustomPrompt="1"/>
          </p:nvPr>
        </p:nvSpPr>
        <p:spPr>
          <a:xfrm>
            <a:off x="731520" y="3017520"/>
            <a:ext cx="100584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731520" y="4434840"/>
            <a:ext cx="9144000" cy="82296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6" name="Text 1"/>
          <p:cNvSpPr/>
          <p:nvPr>
            <p:ph idx="104" type="body" hasCustomPrompt="1"/>
          </p:nvPr>
        </p:nvSpPr>
        <p:spPr>
          <a:xfrm>
            <a:off x="731520" y="5852160"/>
            <a:ext cx="7315200" cy="365760"/>
          </a:xfrm>
          <a:prstGeom prst="rect">
            <a:avLst/>
          </a:prstGeom>
          <a:noFill/>
          <a:ln/>
        </p:spPr>
        <p:txBody>
          <a:bodyPr wrap="square" rtlCol="0"/>
          <a:lstStyle>
            <a:lvl1pPr algn="l" indent="0" marL="0">
              <a:buNone/>
              <a:defRPr lang="en-US" sz="1300" b="1" spc="200" kern="0" dirty="0">
                <a:solidFill>
                  <a:schemeClr val="accent2"/>
                </a:solidFill>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tta section">
    <p:bg>
      <p:bgPr>
        <a:solidFill>
          <a:schemeClr val="accent1"/>
        </a:solidFill>
      </p:bgPr>
    </p:bg>
    <p:spTree>
      <p:nvGrpSpPr>
        <p:cNvPr id="1" name=""/>
        <p:cNvGrpSpPr/>
        <p:nvPr/>
      </p:nvGrpSpPr>
      <p:grpSpPr>
        <a:xfrm>
          <a:off x="0" y="0"/>
          <a:ext cx="0" cy="0"/>
          <a:chOff x="0" y="0"/>
          <a:chExt cx="0" cy="0"/>
        </a:xfrm>
      </p:grpSpPr>
      <p:pic>
        <p:nvPicPr>
          <p:cNvPr id="2" name="Image 0" descr="/home/user/otta-MVP/public/brand/otta-logo-white.png">    </p:cNvPr>
          <p:cNvPicPr>
            <a:picLocks noChangeAspect="1"/>
          </p:cNvPicPr>
          <p:nvPr/>
        </p:nvPicPr>
        <p:blipFill>
          <a:blip r:embed="rId1"/>
          <a:stretch>
            <a:fillRect/>
          </a:stretch>
        </p:blipFill>
        <p:spPr>
          <a:xfrm>
            <a:off x="10607040" y="411480"/>
            <a:ext cx="1143000" cy="429768"/>
          </a:xfrm>
          <a:prstGeom prst="rect">
            <a:avLst/>
          </a:prstGeom>
        </p:spPr>
      </p:pic>
      <p:sp>
        <p:nvSpPr>
          <p:cNvPr id="3" name="Text 0"/>
          <p:cNvSpPr/>
          <p:nvPr>
            <p:ph idx="101" type="title" hasCustomPrompt="1"/>
          </p:nvPr>
        </p:nvSpPr>
        <p:spPr>
          <a:xfrm>
            <a:off x="731520" y="2743200"/>
            <a:ext cx="10058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5" name="Text 0"/>
          <p:cNvSpPr/>
          <p:nvPr/>
        </p:nvSpPr>
        <p:spPr>
          <a:xfrm>
            <a:off x="731520" y="6263640"/>
            <a:ext cx="7315200" cy="274320"/>
          </a:xfrm>
          <a:prstGeom prst="rect">
            <a:avLst/>
          </a:prstGeom>
          <a:noFill/>
          <a:ln/>
        </p:spPr>
        <p:txBody>
          <a:bodyPr wrap="square" lIns="0" tIns="0" rIns="0" bIns="0" rtlCol="0" anchor="ctr"/>
          <a:lstStyle/>
          <a:p>
            <a:pPr indent="0" marL="0">
              <a:buNone/>
            </a:pPr>
            <a:r>
              <a:rPr lang="en-US" sz="1000" dirty="0">
                <a:solidFill>
                  <a:schemeClr val="bg1"/>
                </a:solidFill>
              </a:rPr>
              <a:t>Otta training  |  The Otta Broker Portal</a:t>
            </a:r>
            <a:endParaRPr lang="en-US" sz="1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tta content">
    <p:bg>
      <p:bgPr>
        <a:solidFill>
          <a:schemeClr val="bg2"/>
        </a:solidFill>
      </p:bgPr>
    </p:bg>
    <p:spTree>
      <p:nvGrpSpPr>
        <p:cNvPr id="1" name=""/>
        <p:cNvGrpSpPr/>
        <p:nvPr/>
      </p:nvGrpSpPr>
      <p:grpSpPr>
        <a:xfrm>
          <a:off x="0" y="0"/>
          <a:ext cx="0" cy="0"/>
          <a:chOff x="0" y="0"/>
          <a:chExt cx="0" cy="0"/>
        </a:xfrm>
      </p:grpSpPr>
      <p:pic>
        <p:nvPicPr>
          <p:cNvPr id="2" name="Image 0" descr="/home/user/otta-MVP/public/brand/otta-logo.png">    </p:cNvPr>
          <p:cNvPicPr>
            <a:picLocks noChangeAspect="1"/>
          </p:cNvPicPr>
          <p:nvPr/>
        </p:nvPicPr>
        <p:blipFill>
          <a:blip r:embed="rId1"/>
          <a:stretch>
            <a:fillRect/>
          </a:stretch>
        </p:blipFill>
        <p:spPr>
          <a:xfrm>
            <a:off x="10835640" y="347472"/>
            <a:ext cx="914400" cy="338328"/>
          </a:xfrm>
          <a:prstGeom prst="rect">
            <a:avLst/>
          </a:prstGeom>
        </p:spPr>
      </p:pic>
      <p:sp>
        <p:nvSpPr>
          <p:cNvPr id="3" name="Text 0"/>
          <p:cNvSpPr/>
          <p:nvPr>
            <p:ph idx="101" type="title" hasCustomPrompt="1"/>
          </p:nvPr>
        </p:nvSpPr>
        <p:spPr>
          <a:xfrm>
            <a:off x="457200" y="274320"/>
            <a:ext cx="1005840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6E72"/>
                </a:solidFill>
              </a:rPr>
              <a:t>Otta training  |  The Otta Broker Portal</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731520" y="3017520"/>
            <a:ext cx="10058400" cy="1371600"/>
          </a:xfrm>
          <a:prstGeom prst="rect">
            <a:avLst/>
          </a:prstGeom>
          <a:noFill/>
          <a:ln/>
        </p:spPr>
        <p:txBody>
          <a:bodyPr wrap="square" lIns="0" tIns="0" rIns="0" bIns="0" rtlCol="0" anchor="t"/>
          <a:lstStyle/>
          <a:p>
            <a:pPr algn="l" indent="0" marL="0">
              <a:buNone/>
            </a:pPr>
            <a:r>
              <a:rPr lang="en-US" sz="4400" b="1" dirty="0">
                <a:solidFill>
                  <a:schemeClr val="bg1"/>
                </a:solidFill>
              </a:rPr>
              <a:t>The Otta Broker Portal</a:t>
            </a:r>
            <a:endParaRPr lang="en-US" sz="4400" dirty="0"/>
          </a:p>
        </p:txBody>
      </p:sp>
      <p:sp>
        <p:nvSpPr>
          <p:cNvPr id="3" name="Text 1"/>
          <p:cNvSpPr/>
          <p:nvPr>
            <p:ph idx="103" type="body" hasCustomPrompt="1"/>
          </p:nvPr>
        </p:nvSpPr>
        <p:spPr>
          <a:xfrm>
            <a:off x="731520" y="4434840"/>
            <a:ext cx="9144000" cy="822960"/>
          </a:xfrm>
          <a:prstGeom prst="rect">
            <a:avLst/>
          </a:prstGeom>
          <a:noFill/>
          <a:ln/>
        </p:spPr>
        <p:txBody>
          <a:bodyPr wrap="square" lIns="0" tIns="0" rIns="0" bIns="0" rtlCol="0" anchor="t"/>
          <a:lstStyle/>
          <a:p>
            <a:pPr algn="l" indent="0" marL="0">
              <a:buNone/>
            </a:pPr>
            <a:r>
              <a:rPr lang="en-US" sz="2000" dirty="0">
                <a:solidFill>
                  <a:schemeClr val="bg1"/>
                </a:solidFill>
              </a:rPr>
              <a:t>A tour of the portal brokers use to apply, track quotes and manage policies</a:t>
            </a:r>
            <a:endParaRPr lang="en-US" sz="2000" dirty="0"/>
          </a:p>
        </p:txBody>
      </p:sp>
      <p:sp>
        <p:nvSpPr>
          <p:cNvPr id="4" name="Text 1"/>
          <p:cNvSpPr/>
          <p:nvPr>
            <p:ph idx="104" type="body" hasCustomPrompt="1"/>
          </p:nvPr>
        </p:nvSpPr>
        <p:spPr>
          <a:xfrm>
            <a:off x="731520" y="5852160"/>
            <a:ext cx="7315200" cy="365760"/>
          </a:xfrm>
          <a:prstGeom prst="rect">
            <a:avLst/>
          </a:prstGeom>
          <a:noFill/>
          <a:ln/>
        </p:spPr>
        <p:txBody>
          <a:bodyPr wrap="square" lIns="0" tIns="0" rIns="0" bIns="0" rtlCol="0"/>
          <a:lstStyle/>
          <a:p>
            <a:pPr algn="l" indent="0" marL="0">
              <a:buNone/>
            </a:pPr>
            <a:r>
              <a:rPr lang="en-US" sz="1300" b="1" spc="200" kern="0" dirty="0">
                <a:solidFill>
                  <a:schemeClr val="accent2"/>
                </a:solidFill>
              </a:rPr>
              <a:t>FOR OTTA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What this module covers</a:t>
            </a:r>
            <a:endParaRPr lang="en-US" sz="2800" dirty="0"/>
          </a:p>
        </p:txBody>
      </p:sp>
      <p:sp>
        <p:nvSpPr>
          <p:cNvPr id="3" name="Card 1"/>
          <p:cNvSpPr/>
          <p:nvPr/>
        </p:nvSpPr>
        <p:spPr>
          <a:xfrm>
            <a:off x="457200" y="1280160"/>
            <a:ext cx="5486400" cy="2331720"/>
          </a:xfrm>
          <a:prstGeom prst="roundRect">
            <a:avLst>
              <a:gd name="adj" fmla="val 3137"/>
            </a:avLst>
          </a:prstGeom>
          <a:solidFill>
            <a:schemeClr val="bg1"/>
          </a:solidFill>
          <a:ln w="12700">
            <a:solidFill>
              <a:srgbClr val="DDE7E5"/>
            </a:solidFill>
            <a:prstDash val="solid"/>
          </a:ln>
        </p:spPr>
      </p:sp>
      <p:sp>
        <p:nvSpPr>
          <p:cNvPr id="4" name="Card 1 marker"/>
          <p:cNvSpPr/>
          <p:nvPr/>
        </p:nvSpPr>
        <p:spPr>
          <a:xfrm>
            <a:off x="777240" y="1600200"/>
            <a:ext cx="502920" cy="502920"/>
          </a:xfrm>
          <a:prstGeom prst="ellipse">
            <a:avLst/>
          </a:prstGeom>
          <a:solidFill>
            <a:schemeClr val="accent1"/>
          </a:solidFill>
          <a:ln w="12700">
            <a:solidFill>
              <a:schemeClr val="accent1"/>
            </a:solidFill>
            <a:prstDash val="solid"/>
          </a:ln>
        </p:spPr>
      </p:sp>
      <p:sp>
        <p:nvSpPr>
          <p:cNvPr id="5" name="Card 1 number"/>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Card 1 heading"/>
          <p:cNvSpPr txBox="1"/>
          <p:nvPr/>
        </p:nvSpPr>
        <p:spPr>
          <a:xfrm>
            <a:off x="1463040" y="155448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Getting access</a:t>
            </a:r>
            <a:endParaRPr lang="en-US" sz="1900" dirty="0"/>
          </a:p>
        </p:txBody>
      </p:sp>
      <p:sp>
        <p:nvSpPr>
          <p:cNvPr id="7" name="Card 1 text"/>
          <p:cNvSpPr txBox="1"/>
          <p:nvPr/>
        </p:nvSpPr>
        <p:spPr>
          <a:xfrm>
            <a:off x="1463040" y="2194560"/>
            <a:ext cx="4206240" cy="1188720"/>
          </a:xfrm>
          <a:prstGeom prst="rect">
            <a:avLst/>
          </a:prstGeom>
          <a:noFill/>
          <a:ln/>
        </p:spPr>
        <p:txBody>
          <a:bodyPr wrap="square" lIns="0" tIns="0" rIns="0" bIns="0" rtlCol="0" anchor="t"/>
          <a:lstStyle/>
          <a:p>
            <a:pPr indent="0" marL="0">
              <a:buNone/>
            </a:pPr>
            <a:r>
              <a:rPr lang="en-US" sz="1500" dirty="0">
                <a:solidFill>
                  <a:schemeClr val="tx1"/>
                </a:solidFill>
              </a:rPr>
              <a:t>Signing in, requesting access and emailed sign-in links.</a:t>
            </a:r>
            <a:endParaRPr lang="en-US" sz="1500" dirty="0"/>
          </a:p>
        </p:txBody>
      </p:sp>
      <p:sp>
        <p:nvSpPr>
          <p:cNvPr id="8" name="Card 2"/>
          <p:cNvSpPr/>
          <p:nvPr/>
        </p:nvSpPr>
        <p:spPr>
          <a:xfrm>
            <a:off x="6217920" y="1280160"/>
            <a:ext cx="5486400" cy="2331720"/>
          </a:xfrm>
          <a:prstGeom prst="roundRect">
            <a:avLst>
              <a:gd name="adj" fmla="val 3137"/>
            </a:avLst>
          </a:prstGeom>
          <a:solidFill>
            <a:schemeClr val="bg1"/>
          </a:solidFill>
          <a:ln w="12700">
            <a:solidFill>
              <a:srgbClr val="DDE7E5"/>
            </a:solidFill>
            <a:prstDash val="solid"/>
          </a:ln>
        </p:spPr>
      </p:sp>
      <p:sp>
        <p:nvSpPr>
          <p:cNvPr id="9" name="Card 2 marker"/>
          <p:cNvSpPr/>
          <p:nvPr/>
        </p:nvSpPr>
        <p:spPr>
          <a:xfrm>
            <a:off x="6537960" y="1600200"/>
            <a:ext cx="502920" cy="502920"/>
          </a:xfrm>
          <a:prstGeom prst="ellipse">
            <a:avLst/>
          </a:prstGeom>
          <a:solidFill>
            <a:schemeClr val="accent1"/>
          </a:solidFill>
          <a:ln w="12700">
            <a:solidFill>
              <a:schemeClr val="accent1"/>
            </a:solidFill>
            <a:prstDash val="solid"/>
          </a:ln>
        </p:spPr>
      </p:sp>
      <p:sp>
        <p:nvSpPr>
          <p:cNvPr id="10" name="Card 2 number"/>
          <p:cNvSpPr txBox="1"/>
          <p:nvPr/>
        </p:nvSpPr>
        <p:spPr>
          <a:xfrm>
            <a:off x="653796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Card 2 heading"/>
          <p:cNvSpPr txBox="1"/>
          <p:nvPr/>
        </p:nvSpPr>
        <p:spPr>
          <a:xfrm>
            <a:off x="7223760" y="155448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The dashboard</a:t>
            </a:r>
            <a:endParaRPr lang="en-US" sz="1900" dirty="0"/>
          </a:p>
        </p:txBody>
      </p:sp>
      <p:sp>
        <p:nvSpPr>
          <p:cNvPr id="12" name="Card 2 text"/>
          <p:cNvSpPr txBox="1"/>
          <p:nvPr/>
        </p:nvSpPr>
        <p:spPr>
          <a:xfrm>
            <a:off x="7223760" y="2194560"/>
            <a:ext cx="4206240" cy="1188720"/>
          </a:xfrm>
          <a:prstGeom prst="rect">
            <a:avLst/>
          </a:prstGeom>
          <a:noFill/>
          <a:ln/>
        </p:spPr>
        <p:txBody>
          <a:bodyPr wrap="square" lIns="0" tIns="0" rIns="0" bIns="0" rtlCol="0" anchor="t"/>
          <a:lstStyle/>
          <a:p>
            <a:pPr indent="0" marL="0">
              <a:buNone/>
            </a:pPr>
            <a:r>
              <a:rPr lang="en-US" sz="1500" dirty="0">
                <a:solidFill>
                  <a:schemeClr val="tx1"/>
                </a:solidFill>
              </a:rPr>
              <a:t>What brokers see first and how the menu works.</a:t>
            </a:r>
            <a:endParaRPr lang="en-US" sz="1500" dirty="0"/>
          </a:p>
        </p:txBody>
      </p:sp>
      <p:sp>
        <p:nvSpPr>
          <p:cNvPr id="13" name="Card 3"/>
          <p:cNvSpPr/>
          <p:nvPr/>
        </p:nvSpPr>
        <p:spPr>
          <a:xfrm>
            <a:off x="457200" y="3886200"/>
            <a:ext cx="5486400" cy="2331720"/>
          </a:xfrm>
          <a:prstGeom prst="roundRect">
            <a:avLst>
              <a:gd name="adj" fmla="val 3137"/>
            </a:avLst>
          </a:prstGeom>
          <a:solidFill>
            <a:schemeClr val="bg1"/>
          </a:solidFill>
          <a:ln w="12700">
            <a:solidFill>
              <a:srgbClr val="DDE7E5"/>
            </a:solidFill>
            <a:prstDash val="solid"/>
          </a:ln>
        </p:spPr>
      </p:sp>
      <p:sp>
        <p:nvSpPr>
          <p:cNvPr id="14" name="Card 3 marker"/>
          <p:cNvSpPr/>
          <p:nvPr/>
        </p:nvSpPr>
        <p:spPr>
          <a:xfrm>
            <a:off x="777240" y="4206240"/>
            <a:ext cx="502920" cy="502920"/>
          </a:xfrm>
          <a:prstGeom prst="ellipse">
            <a:avLst/>
          </a:prstGeom>
          <a:solidFill>
            <a:schemeClr val="accent1"/>
          </a:solidFill>
          <a:ln w="12700">
            <a:solidFill>
              <a:schemeClr val="accent1"/>
            </a:solidFill>
            <a:prstDash val="solid"/>
          </a:ln>
        </p:spPr>
      </p:sp>
      <p:sp>
        <p:nvSpPr>
          <p:cNvPr id="15" name="Card 3 number"/>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Card 3 heading"/>
          <p:cNvSpPr txBox="1"/>
          <p:nvPr/>
        </p:nvSpPr>
        <p:spPr>
          <a:xfrm>
            <a:off x="1463040" y="416052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Forms and applications</a:t>
            </a:r>
            <a:endParaRPr lang="en-US" sz="1900" dirty="0"/>
          </a:p>
        </p:txBody>
      </p:sp>
      <p:sp>
        <p:nvSpPr>
          <p:cNvPr id="17" name="Card 3 text"/>
          <p:cNvSpPr txBox="1"/>
          <p:nvPr/>
        </p:nvSpPr>
        <p:spPr>
          <a:xfrm>
            <a:off x="1463040" y="4800600"/>
            <a:ext cx="4206240" cy="1188720"/>
          </a:xfrm>
          <a:prstGeom prst="rect">
            <a:avLst/>
          </a:prstGeom>
          <a:noFill/>
          <a:ln/>
        </p:spPr>
        <p:txBody>
          <a:bodyPr wrap="square" lIns="0" tIns="0" rIns="0" bIns="0" rtlCol="0" anchor="t"/>
          <a:lstStyle/>
          <a:p>
            <a:pPr indent="0" marL="0">
              <a:buNone/>
            </a:pPr>
            <a:r>
              <a:rPr lang="en-US" sz="1500" dirty="0">
                <a:solidFill>
                  <a:schemeClr val="tx1"/>
                </a:solidFill>
              </a:rPr>
              <a:t>Completing forms online, sending them to clients and tracking them.</a:t>
            </a:r>
            <a:endParaRPr lang="en-US" sz="1500" dirty="0"/>
          </a:p>
        </p:txBody>
      </p:sp>
      <p:sp>
        <p:nvSpPr>
          <p:cNvPr id="18" name="Card 4"/>
          <p:cNvSpPr/>
          <p:nvPr/>
        </p:nvSpPr>
        <p:spPr>
          <a:xfrm>
            <a:off x="6217920" y="3886200"/>
            <a:ext cx="5486400" cy="2331720"/>
          </a:xfrm>
          <a:prstGeom prst="roundRect">
            <a:avLst>
              <a:gd name="adj" fmla="val 3137"/>
            </a:avLst>
          </a:prstGeom>
          <a:solidFill>
            <a:schemeClr val="bg1"/>
          </a:solidFill>
          <a:ln w="12700">
            <a:solidFill>
              <a:srgbClr val="DDE7E5"/>
            </a:solidFill>
            <a:prstDash val="solid"/>
          </a:ln>
        </p:spPr>
      </p:sp>
      <p:sp>
        <p:nvSpPr>
          <p:cNvPr id="19" name="Card 4 marker"/>
          <p:cNvSpPr/>
          <p:nvPr/>
        </p:nvSpPr>
        <p:spPr>
          <a:xfrm>
            <a:off x="6537960" y="4206240"/>
            <a:ext cx="502920" cy="502920"/>
          </a:xfrm>
          <a:prstGeom prst="ellipse">
            <a:avLst/>
          </a:prstGeom>
          <a:solidFill>
            <a:schemeClr val="accent1"/>
          </a:solidFill>
          <a:ln w="12700">
            <a:solidFill>
              <a:schemeClr val="accent1"/>
            </a:solidFill>
            <a:prstDash val="solid"/>
          </a:ln>
        </p:spPr>
      </p:sp>
      <p:sp>
        <p:nvSpPr>
          <p:cNvPr id="20" name="Card 4 number"/>
          <p:cNvSpPr txBox="1"/>
          <p:nvPr/>
        </p:nvSpPr>
        <p:spPr>
          <a:xfrm>
            <a:off x="653796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Card 4 heading"/>
          <p:cNvSpPr txBox="1"/>
          <p:nvPr/>
        </p:nvSpPr>
        <p:spPr>
          <a:xfrm>
            <a:off x="7223760" y="4160520"/>
            <a:ext cx="4206240" cy="594360"/>
          </a:xfrm>
          <a:prstGeom prst="rect">
            <a:avLst/>
          </a:prstGeom>
          <a:noFill/>
          <a:ln/>
        </p:spPr>
        <p:txBody>
          <a:bodyPr wrap="square" lIns="0" tIns="0" rIns="0" bIns="0" rtlCol="0" anchor="ctr"/>
          <a:lstStyle/>
          <a:p>
            <a:pPr indent="0" marL="0">
              <a:buNone/>
            </a:pPr>
            <a:r>
              <a:rPr lang="en-US" sz="1900" b="1" dirty="0">
                <a:solidFill>
                  <a:schemeClr val="tx2"/>
                </a:solidFill>
              </a:rPr>
              <a:t>Quotes, policies and help</a:t>
            </a:r>
            <a:endParaRPr lang="en-US" sz="1900" dirty="0"/>
          </a:p>
        </p:txBody>
      </p:sp>
      <p:sp>
        <p:nvSpPr>
          <p:cNvPr id="22" name="Card 4 text"/>
          <p:cNvSpPr txBox="1"/>
          <p:nvPr/>
        </p:nvSpPr>
        <p:spPr>
          <a:xfrm>
            <a:off x="7223760" y="4800600"/>
            <a:ext cx="4206240" cy="1188720"/>
          </a:xfrm>
          <a:prstGeom prst="rect">
            <a:avLst/>
          </a:prstGeom>
          <a:noFill/>
          <a:ln/>
        </p:spPr>
        <p:txBody>
          <a:bodyPr wrap="square" lIns="0" tIns="0" rIns="0" bIns="0" rtlCol="0" anchor="t"/>
          <a:lstStyle/>
          <a:p>
            <a:pPr indent="0" marL="0">
              <a:buNone/>
            </a:pPr>
            <a:r>
              <a:rPr lang="en-US" sz="1500" dirty="0">
                <a:solidFill>
                  <a:schemeClr val="tx1"/>
                </a:solidFill>
              </a:rPr>
              <a:t>Binding a quote, policies, documents and account settings.</a:t>
            </a:r>
            <a:endParaRPr lang="en-US" sz="15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01</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Getting access</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Brokers sign in with a password, an emailed link or their work account.</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Signing in</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igning in: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Work email and password.</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Select Sign in.</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Or sign in with Microsoft or Google.</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Forgotten your password? Email yourself a sign-in link.</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New to Otta? Request access.</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Requesting access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Requesting acces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Name and work email.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Brokerage name and FSP number.</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Request access. The Otta team checks it, usually within one working day.</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welcome link</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welcome link: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welcome page, for the broker's new account.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and confirm a password.</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Set password and go straight into the portal.</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Emailed sign-in links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Emailed sign-in link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Enter the work email on the account.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Email me a sign-in link. It works once, for 20 minutes.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02</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The dashboard</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Everything a broker has with Otta, on one page.</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The dashboard</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he dashboard: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menu: Dashboard, Applications, Forms, Quote requests, Policies, Documents, Help and Your account.</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Open quote requests, active policies and renewals due. Select one to see the list.</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Shortcuts to proposal forms, renewal declarations, claim forms and general forms.</a:t>
            </a:r>
            <a:endParaRPr lang="en-US" sz="1350" dirty="0"/>
          </a:p>
        </p:txBody>
      </p:sp>
      <p:sp>
        <p:nvSpPr>
          <p:cNvPr id="14" name="Step 4 marker"/>
          <p:cNvSpPr/>
          <p:nvPr/>
        </p:nvSpPr>
        <p:spPr>
          <a:xfrm>
            <a:off x="8503920" y="47731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7731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754880"/>
            <a:ext cx="2770632" cy="1115568"/>
          </a:xfrm>
          <a:prstGeom prst="rect">
            <a:avLst/>
          </a:prstGeom>
          <a:noFill/>
          <a:ln/>
        </p:spPr>
        <p:txBody>
          <a:bodyPr wrap="square" lIns="0" tIns="0" rIns="0" bIns="0" rtlCol="0" anchor="t"/>
          <a:lstStyle/>
          <a:p>
            <a:pPr indent="0" marL="0">
              <a:buNone/>
            </a:pPr>
            <a:r>
              <a:rPr lang="en-US" sz="1350" dirty="0">
                <a:solidFill>
                  <a:schemeClr val="tx1"/>
                </a:solidFill>
              </a:rPr>
              <a:t>Sign out.</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03</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Forms and applications</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Brokers can complete a form themselves or send a secure link to their client.</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Forms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Form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Choose the type: proposal forms, renewal declarations, claim forms or general forms.</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Search by name or filter by product.</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Forms are grouped under a banner for each product.</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Select a form to complete it online.</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Send to a client emails them a secure link instead.</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Completing a form online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Completing a form onlin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The sections of the form. Jump to any section.</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Each section is clearly headed.</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Fill in the answers. Progress is kept as you go.</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Download PDF saves a copy at any point.</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Submit application sends it straight to Otta.</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Help with cover options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Help with cover option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the question mark beside a cover option.</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A short explanation of what it covers.</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A link to the policy wording for the detail.</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Sending a form to a client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ending a form to a clien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which form to send.</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Sending a form to a client (continued)</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Sending a form to a client (continued):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The client's name and email.</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An optional personal note for the email.</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Create link. Otta emails it to the client, or copy it and send it yourself.</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Tracking applications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Tracking application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Applications sent to Otta, by you or your clients.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Links sent to clients, and whether they've been completed.</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Send to a client or fill in a new form online.</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number"/>
          <p:cNvSpPr txBox="1"/>
          <p:nvPr/>
        </p:nvSpPr>
        <p:spPr>
          <a:xfrm>
            <a:off x="731520" y="1463040"/>
            <a:ext cx="1828800" cy="1097280"/>
          </a:xfrm>
          <a:prstGeom prst="rect">
            <a:avLst/>
          </a:prstGeom>
          <a:noFill/>
          <a:ln/>
        </p:spPr>
        <p:txBody>
          <a:bodyPr wrap="square" lIns="0" tIns="0" rIns="0" bIns="0" rtlCol="0" anchor="ctr"/>
          <a:lstStyle/>
          <a:p>
            <a:pPr indent="0" marL="0">
              <a:buNone/>
            </a:pPr>
            <a:r>
              <a:rPr lang="en-US" sz="6600" b="1" dirty="0">
                <a:solidFill>
                  <a:schemeClr val="accent2"/>
                </a:solidFill>
              </a:rPr>
              <a:t>04</a:t>
            </a:r>
            <a:endParaRPr lang="en-US" sz="6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Quotes, policies and help</a:t>
            </a:r>
            <a:endParaRPr lang="en-US" sz="4000" dirty="0"/>
          </a:p>
        </p:txBody>
      </p:sp>
      <p:sp>
        <p:nvSpPr>
          <p:cNvPr id="4" name="Text 0"/>
          <p:cNvSpPr/>
          <p:nvPr>
            <p:ph idx="102" type="body" hasCustomPrompt="1"/>
          </p:nvPr>
        </p:nvSpPr>
        <p:spPr>
          <a:xfrm>
            <a:off x="731520" y="3794760"/>
            <a:ext cx="8686800" cy="1097280"/>
          </a:xfrm>
          <a:prstGeom prst="rect">
            <a:avLst/>
          </a:prstGeom>
          <a:noFill/>
          <a:ln/>
        </p:spPr>
        <p:txBody>
          <a:bodyPr wrap="square" lIns="0" tIns="0" rIns="0" bIns="0" rtlCol="0" anchor="t"/>
          <a:lstStyle/>
          <a:p>
            <a:pPr algn="l" indent="0" marL="0">
              <a:buNone/>
            </a:pPr>
            <a:r>
              <a:rPr lang="en-US" sz="2000" dirty="0">
                <a:solidFill>
                  <a:schemeClr val="bg1"/>
                </a:solidFill>
              </a:rPr>
              <a:t>From quote to bound policy, and where to get help.</a:t>
            </a:r>
            <a:endParaRPr lang="en-US" sz="2000" dirty="0"/>
          </a:p>
        </p:txBody>
      </p:sp>
      <p:sp>
        <p:nvSpPr>
          <p:cNvPr id="25" name="Slide Number Placeholder 0"/>
          <p:cNvSpPr>
            <a:spLocks noGrp="1"/>
          </p:cNvSpPr>
          <p:nvPr>
            <p:ph type="sldNum" sz="quarter" idx="4294967295"/>
          </p:nvPr>
        </p:nvSpPr>
        <p:spPr>
          <a:xfrm>
            <a:off x="1115568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Quote requests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Quote request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Search quote requests.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a quote to see its status and details.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Binding a quote</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Binding a quote: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886968"/>
          </a:xfrm>
          <a:prstGeom prst="rect">
            <a:avLst/>
          </a:prstGeom>
          <a:noFill/>
          <a:ln/>
        </p:spPr>
        <p:txBody>
          <a:bodyPr wrap="square" lIns="0" tIns="0" rIns="0" bIns="0" rtlCol="0" anchor="t"/>
          <a:lstStyle/>
          <a:p>
            <a:pPr indent="0" marL="0">
              <a:buNone/>
            </a:pPr>
            <a:r>
              <a:rPr lang="en-US" sz="1200" dirty="0">
                <a:solidFill>
                  <a:schemeClr val="tx1"/>
                </a:solidFill>
              </a:rPr>
              <a:t>The quote and its details.</a:t>
            </a:r>
            <a:endParaRPr lang="en-US" sz="1200" dirty="0"/>
          </a:p>
        </p:txBody>
      </p:sp>
      <p:sp>
        <p:nvSpPr>
          <p:cNvPr id="8" name="Step 2 marker"/>
          <p:cNvSpPr/>
          <p:nvPr/>
        </p:nvSpPr>
        <p:spPr>
          <a:xfrm>
            <a:off x="8503920" y="21671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1671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148840"/>
            <a:ext cx="2770632" cy="886968"/>
          </a:xfrm>
          <a:prstGeom prst="rect">
            <a:avLst/>
          </a:prstGeom>
          <a:noFill/>
          <a:ln/>
        </p:spPr>
        <p:txBody>
          <a:bodyPr wrap="square" lIns="0" tIns="0" rIns="0" bIns="0" rtlCol="0" anchor="t"/>
          <a:lstStyle/>
          <a:p>
            <a:pPr indent="0" marL="0">
              <a:buNone/>
            </a:pPr>
            <a:r>
              <a:rPr lang="en-US" sz="1200" dirty="0">
                <a:solidFill>
                  <a:schemeClr val="tx1"/>
                </a:solidFill>
              </a:rPr>
              <a:t>Bind this quote, once the client has accepted.</a:t>
            </a:r>
            <a:endParaRPr lang="en-US" sz="1200" dirty="0"/>
          </a:p>
        </p:txBody>
      </p:sp>
      <p:sp>
        <p:nvSpPr>
          <p:cNvPr id="11" name="Step 3 marker"/>
          <p:cNvSpPr/>
          <p:nvPr/>
        </p:nvSpPr>
        <p:spPr>
          <a:xfrm>
            <a:off x="8503920" y="31272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127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108960"/>
            <a:ext cx="2770632" cy="886968"/>
          </a:xfrm>
          <a:prstGeom prst="rect">
            <a:avLst/>
          </a:prstGeom>
          <a:noFill/>
          <a:ln/>
        </p:spPr>
        <p:txBody>
          <a:bodyPr wrap="square" lIns="0" tIns="0" rIns="0" bIns="0" rtlCol="0" anchor="t"/>
          <a:lstStyle/>
          <a:p>
            <a:pPr indent="0" marL="0">
              <a:buNone/>
            </a:pPr>
            <a:r>
              <a:rPr lang="en-US" sz="1200" dirty="0">
                <a:solidFill>
                  <a:schemeClr val="tx1"/>
                </a:solidFill>
              </a:rPr>
              <a:t>The inception date.</a:t>
            </a:r>
            <a:endParaRPr lang="en-US" sz="1200" dirty="0"/>
          </a:p>
        </p:txBody>
      </p:sp>
      <p:sp>
        <p:nvSpPr>
          <p:cNvPr id="14" name="Step 4 marker"/>
          <p:cNvSpPr/>
          <p:nvPr/>
        </p:nvSpPr>
        <p:spPr>
          <a:xfrm>
            <a:off x="8503920" y="4087368"/>
            <a:ext cx="347472" cy="347472"/>
          </a:xfrm>
          <a:prstGeom prst="ellipse">
            <a:avLst/>
          </a:prstGeom>
          <a:solidFill>
            <a:schemeClr val="accent3"/>
          </a:solidFill>
          <a:ln w="12700">
            <a:solidFill>
              <a:schemeClr val="accent3"/>
            </a:solidFill>
            <a:prstDash val="solid"/>
          </a:ln>
        </p:spPr>
      </p:sp>
      <p:sp>
        <p:nvSpPr>
          <p:cNvPr id="15" name="Step 4 number"/>
          <p:cNvSpPr txBox="1"/>
          <p:nvPr/>
        </p:nvSpPr>
        <p:spPr>
          <a:xfrm>
            <a:off x="8503920" y="408736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Step 4 text"/>
          <p:cNvSpPr txBox="1"/>
          <p:nvPr/>
        </p:nvSpPr>
        <p:spPr>
          <a:xfrm>
            <a:off x="8979408" y="4069080"/>
            <a:ext cx="2770632" cy="886968"/>
          </a:xfrm>
          <a:prstGeom prst="rect">
            <a:avLst/>
          </a:prstGeom>
          <a:noFill/>
          <a:ln/>
        </p:spPr>
        <p:txBody>
          <a:bodyPr wrap="square" lIns="0" tIns="0" rIns="0" bIns="0" rtlCol="0" anchor="t"/>
          <a:lstStyle/>
          <a:p>
            <a:pPr indent="0" marL="0">
              <a:buNone/>
            </a:pPr>
            <a:r>
              <a:rPr lang="en-US" sz="1200" dirty="0">
                <a:solidFill>
                  <a:schemeClr val="tx1"/>
                </a:solidFill>
              </a:rPr>
              <a:t>Confirm the client has accepted the quote and terms.</a:t>
            </a:r>
            <a:endParaRPr lang="en-US" sz="1200" dirty="0"/>
          </a:p>
        </p:txBody>
      </p:sp>
      <p:sp>
        <p:nvSpPr>
          <p:cNvPr id="17" name="Step 5 marker"/>
          <p:cNvSpPr/>
          <p:nvPr/>
        </p:nvSpPr>
        <p:spPr>
          <a:xfrm>
            <a:off x="8503920" y="5047488"/>
            <a:ext cx="347472" cy="347472"/>
          </a:xfrm>
          <a:prstGeom prst="ellipse">
            <a:avLst/>
          </a:prstGeom>
          <a:solidFill>
            <a:schemeClr val="accent3"/>
          </a:solidFill>
          <a:ln w="12700">
            <a:solidFill>
              <a:schemeClr val="accent3"/>
            </a:solidFill>
            <a:prstDash val="solid"/>
          </a:ln>
        </p:spPr>
      </p:sp>
      <p:sp>
        <p:nvSpPr>
          <p:cNvPr id="18" name="Step 5 number"/>
          <p:cNvSpPr txBox="1"/>
          <p:nvPr/>
        </p:nvSpPr>
        <p:spPr>
          <a:xfrm>
            <a:off x="8503920" y="504748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Step 5 text"/>
          <p:cNvSpPr txBox="1"/>
          <p:nvPr/>
        </p:nvSpPr>
        <p:spPr>
          <a:xfrm>
            <a:off x="8979408" y="5029200"/>
            <a:ext cx="2770632" cy="886968"/>
          </a:xfrm>
          <a:prstGeom prst="rect">
            <a:avLst/>
          </a:prstGeom>
          <a:noFill/>
          <a:ln/>
        </p:spPr>
        <p:txBody>
          <a:bodyPr wrap="square" lIns="0" tIns="0" rIns="0" bIns="0" rtlCol="0" anchor="t"/>
          <a:lstStyle/>
          <a:p>
            <a:pPr indent="0" marL="0">
              <a:buNone/>
            </a:pPr>
            <a:r>
              <a:rPr lang="en-US" sz="1200" dirty="0">
                <a:solidFill>
                  <a:schemeClr val="tx1"/>
                </a:solidFill>
              </a:rPr>
              <a:t>Instruct Otta to bind. The Otta team is told straight away.</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Policies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Policie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Search policies.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Select a policy to see its details and documents.</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Documents</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Documents: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Policy documents for the brokerage.</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Download any document.</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Help and contact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Help and contac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Email the right underwriting team directly.</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How colleagues get access, and how to reset a password.</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Your account</a:t>
            </a:r>
            <a:endParaRPr lang="en-US" sz="2800" dirty="0"/>
          </a:p>
        </p:txBody>
      </p:sp>
      <p:sp>
        <p:nvSpPr>
          <p:cNvPr id="3" name="Screenshot frame"/>
          <p:cNvSpPr/>
          <p:nvPr/>
        </p:nvSpPr>
        <p:spPr>
          <a:xfrm>
            <a:off x="402336" y="1133856"/>
            <a:ext cx="7790688" cy="4910328"/>
          </a:xfrm>
          <a:prstGeom prst="rect">
            <a:avLst/>
          </a:prstGeom>
          <a:solidFill>
            <a:schemeClr val="bg1"/>
          </a:solidFill>
          <a:ln w="12700">
            <a:solidFill>
              <a:srgbClr val="D5DFDD"/>
            </a:solidFill>
            <a:prstDash val="solid"/>
          </a:ln>
          <a:effectLst>
            <a:outerShdw sx="100000" sy="100000" kx="0" ky="0" algn="bl" rotWithShape="0" blurRad="76200" dist="25400" dir="5400000">
              <a:srgbClr val="000000">
                <a:alpha val="12000"/>
              </a:srgbClr>
            </a:outerShdw>
          </a:effectLst>
        </p:spPr>
      </p:sp>
      <p:pic>
        <p:nvPicPr>
          <p:cNvPr id="4" name="Screenshot" descr="Your account: screenshot with numbered callouts">    </p:cNvPr>
          <p:cNvPicPr>
            <a:picLocks noChangeAspect="1"/>
          </p:cNvPicPr>
          <p:nvPr/>
        </p:nvPicPr>
        <p:blipFill>
          <a:blip r:embed="rId1"/>
          <a:stretch>
            <a:fillRect/>
          </a:stretch>
        </p:blipFill>
        <p:spPr>
          <a:xfrm>
            <a:off x="457200" y="1188720"/>
            <a:ext cx="7680960" cy="4800600"/>
          </a:xfrm>
          <a:prstGeom prst="rect">
            <a:avLst/>
          </a:prstGeom>
        </p:spPr>
      </p:pic>
      <p:sp>
        <p:nvSpPr>
          <p:cNvPr id="5" name="Step 1 marker"/>
          <p:cNvSpPr/>
          <p:nvPr/>
        </p:nvSpPr>
        <p:spPr>
          <a:xfrm>
            <a:off x="8503920" y="1207008"/>
            <a:ext cx="347472" cy="347472"/>
          </a:xfrm>
          <a:prstGeom prst="ellipse">
            <a:avLst/>
          </a:prstGeom>
          <a:solidFill>
            <a:schemeClr val="accent3"/>
          </a:solidFill>
          <a:ln w="12700">
            <a:solidFill>
              <a:schemeClr val="accent3"/>
            </a:solidFill>
            <a:prstDash val="solid"/>
          </a:ln>
        </p:spPr>
      </p:sp>
      <p:sp>
        <p:nvSpPr>
          <p:cNvPr id="6" name="Step 1 number"/>
          <p:cNvSpPr txBox="1"/>
          <p:nvPr/>
        </p:nvSpPr>
        <p:spPr>
          <a:xfrm>
            <a:off x="850392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tep 1 text"/>
          <p:cNvSpPr txBox="1"/>
          <p:nvPr/>
        </p:nvSpPr>
        <p:spPr>
          <a:xfrm>
            <a:off x="8979408" y="1188720"/>
            <a:ext cx="2770632" cy="1115568"/>
          </a:xfrm>
          <a:prstGeom prst="rect">
            <a:avLst/>
          </a:prstGeom>
          <a:noFill/>
          <a:ln/>
        </p:spPr>
        <p:txBody>
          <a:bodyPr wrap="square" lIns="0" tIns="0" rIns="0" bIns="0" rtlCol="0" anchor="t"/>
          <a:lstStyle/>
          <a:p>
            <a:pPr indent="0" marL="0">
              <a:buNone/>
            </a:pPr>
            <a:r>
              <a:rPr lang="en-US" sz="1350" dirty="0">
                <a:solidFill>
                  <a:schemeClr val="tx1"/>
                </a:solidFill>
              </a:rPr>
              <a:t>Your details.</a:t>
            </a:r>
            <a:endParaRPr lang="en-US" sz="1350" dirty="0"/>
          </a:p>
        </p:txBody>
      </p:sp>
      <p:sp>
        <p:nvSpPr>
          <p:cNvPr id="8" name="Step 2 marker"/>
          <p:cNvSpPr/>
          <p:nvPr/>
        </p:nvSpPr>
        <p:spPr>
          <a:xfrm>
            <a:off x="8503920" y="2395728"/>
            <a:ext cx="347472" cy="347472"/>
          </a:xfrm>
          <a:prstGeom prst="ellipse">
            <a:avLst/>
          </a:prstGeom>
          <a:solidFill>
            <a:schemeClr val="accent3"/>
          </a:solidFill>
          <a:ln w="12700">
            <a:solidFill>
              <a:schemeClr val="accent3"/>
            </a:solidFill>
            <a:prstDash val="solid"/>
          </a:ln>
        </p:spPr>
      </p:sp>
      <p:sp>
        <p:nvSpPr>
          <p:cNvPr id="9" name="Step 2 number"/>
          <p:cNvSpPr txBox="1"/>
          <p:nvPr/>
        </p:nvSpPr>
        <p:spPr>
          <a:xfrm>
            <a:off x="8503920" y="239572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Step 2 text"/>
          <p:cNvSpPr txBox="1"/>
          <p:nvPr/>
        </p:nvSpPr>
        <p:spPr>
          <a:xfrm>
            <a:off x="8979408" y="2377440"/>
            <a:ext cx="2770632" cy="1115568"/>
          </a:xfrm>
          <a:prstGeom prst="rect">
            <a:avLst/>
          </a:prstGeom>
          <a:noFill/>
          <a:ln/>
        </p:spPr>
        <p:txBody>
          <a:bodyPr wrap="square" lIns="0" tIns="0" rIns="0" bIns="0" rtlCol="0" anchor="t"/>
          <a:lstStyle/>
          <a:p>
            <a:pPr indent="0" marL="0">
              <a:buNone/>
            </a:pPr>
            <a:r>
              <a:rPr lang="en-US" sz="1350" dirty="0">
                <a:solidFill>
                  <a:schemeClr val="tx1"/>
                </a:solidFill>
              </a:rPr>
              <a:t>Choose a new password.</a:t>
            </a:r>
            <a:endParaRPr lang="en-US" sz="1350" dirty="0"/>
          </a:p>
        </p:txBody>
      </p:sp>
      <p:sp>
        <p:nvSpPr>
          <p:cNvPr id="11" name="Step 3 marker"/>
          <p:cNvSpPr/>
          <p:nvPr/>
        </p:nvSpPr>
        <p:spPr>
          <a:xfrm>
            <a:off x="8503920" y="3584448"/>
            <a:ext cx="347472" cy="347472"/>
          </a:xfrm>
          <a:prstGeom prst="ellipse">
            <a:avLst/>
          </a:prstGeom>
          <a:solidFill>
            <a:schemeClr val="accent3"/>
          </a:solidFill>
          <a:ln w="12700">
            <a:solidFill>
              <a:schemeClr val="accent3"/>
            </a:solidFill>
            <a:prstDash val="solid"/>
          </a:ln>
        </p:spPr>
      </p:sp>
      <p:sp>
        <p:nvSpPr>
          <p:cNvPr id="12" name="Step 3 number"/>
          <p:cNvSpPr txBox="1"/>
          <p:nvPr/>
        </p:nvSpPr>
        <p:spPr>
          <a:xfrm>
            <a:off x="8503920" y="35844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Step 3 text"/>
          <p:cNvSpPr txBox="1"/>
          <p:nvPr/>
        </p:nvSpPr>
        <p:spPr>
          <a:xfrm>
            <a:off x="8979408" y="3566160"/>
            <a:ext cx="2770632" cy="1115568"/>
          </a:xfrm>
          <a:prstGeom prst="rect">
            <a:avLst/>
          </a:prstGeom>
          <a:noFill/>
          <a:ln/>
        </p:spPr>
        <p:txBody>
          <a:bodyPr wrap="square" lIns="0" tIns="0" rIns="0" bIns="0" rtlCol="0" anchor="t"/>
          <a:lstStyle/>
          <a:p>
            <a:pPr indent="0" marL="0">
              <a:buNone/>
            </a:pPr>
            <a:r>
              <a:rPr lang="en-US" sz="1350" dirty="0">
                <a:solidFill>
                  <a:schemeClr val="tx1"/>
                </a:solidFill>
              </a:rPr>
              <a:t>Save new password.</a:t>
            </a:r>
            <a:endParaRPr lang="en-US" sz="135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10058400" cy="685800"/>
          </a:xfrm>
          <a:prstGeom prst="rect">
            <a:avLst/>
          </a:prstGeom>
          <a:noFill/>
          <a:ln/>
        </p:spPr>
        <p:txBody>
          <a:bodyPr wrap="square" lIns="0" tIns="0" rIns="0" bIns="0" rtlCol="0" anchor="ctr"/>
          <a:lstStyle/>
          <a:p>
            <a:pPr algn="l" indent="0" marL="0">
              <a:buNone/>
            </a:pPr>
            <a:r>
              <a:rPr lang="en-US" sz="2800" b="1" dirty="0">
                <a:solidFill>
                  <a:schemeClr val="tx2"/>
                </a:solidFill>
              </a:rPr>
              <a:t>Key points</a:t>
            </a:r>
            <a:endParaRPr lang="en-US" sz="2800" dirty="0"/>
          </a:p>
        </p:txBody>
      </p:sp>
      <p:sp>
        <p:nvSpPr>
          <p:cNvPr id="3" name="Point 1"/>
          <p:cNvSpPr/>
          <p:nvPr/>
        </p:nvSpPr>
        <p:spPr>
          <a:xfrm>
            <a:off x="457200" y="1417320"/>
            <a:ext cx="11247120" cy="960120"/>
          </a:xfrm>
          <a:prstGeom prst="roundRect">
            <a:avLst>
              <a:gd name="adj" fmla="val 7619"/>
            </a:avLst>
          </a:prstGeom>
          <a:solidFill>
            <a:schemeClr val="bg1"/>
          </a:solidFill>
          <a:ln w="12700">
            <a:solidFill>
              <a:srgbClr val="DDE7E5"/>
            </a:solidFill>
            <a:prstDash val="solid"/>
          </a:ln>
        </p:spPr>
      </p:sp>
      <p:sp>
        <p:nvSpPr>
          <p:cNvPr id="4" name="Point 1 marker"/>
          <p:cNvSpPr/>
          <p:nvPr/>
        </p:nvSpPr>
        <p:spPr>
          <a:xfrm>
            <a:off x="731520" y="1664208"/>
            <a:ext cx="457200" cy="457200"/>
          </a:xfrm>
          <a:prstGeom prst="ellipse">
            <a:avLst/>
          </a:prstGeom>
          <a:solidFill>
            <a:schemeClr val="accent2"/>
          </a:solidFill>
          <a:ln w="12700">
            <a:solidFill>
              <a:schemeClr val="accent2"/>
            </a:solidFill>
            <a:prstDash val="solid"/>
          </a:ln>
        </p:spPr>
      </p:sp>
      <p:sp>
        <p:nvSpPr>
          <p:cNvPr id="5" name="Point 1 tick"/>
          <p:cNvSpPr txBox="1"/>
          <p:nvPr/>
        </p:nvSpPr>
        <p:spPr>
          <a:xfrm>
            <a:off x="731520" y="1664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 name="Point 1 text"/>
          <p:cNvSpPr txBox="1"/>
          <p:nvPr/>
        </p:nvSpPr>
        <p:spPr>
          <a:xfrm>
            <a:off x="1463040" y="1417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Brokers request access, Otta approves, and a welcome email sets up the account.</a:t>
            </a:r>
            <a:endParaRPr lang="en-US" sz="1800" dirty="0"/>
          </a:p>
        </p:txBody>
      </p:sp>
      <p:sp>
        <p:nvSpPr>
          <p:cNvPr id="7" name="Point 2"/>
          <p:cNvSpPr/>
          <p:nvPr/>
        </p:nvSpPr>
        <p:spPr>
          <a:xfrm>
            <a:off x="457200" y="2560320"/>
            <a:ext cx="11247120" cy="960120"/>
          </a:xfrm>
          <a:prstGeom prst="roundRect">
            <a:avLst>
              <a:gd name="adj" fmla="val 7619"/>
            </a:avLst>
          </a:prstGeom>
          <a:solidFill>
            <a:schemeClr val="bg1"/>
          </a:solidFill>
          <a:ln w="12700">
            <a:solidFill>
              <a:srgbClr val="DDE7E5"/>
            </a:solidFill>
            <a:prstDash val="solid"/>
          </a:ln>
        </p:spPr>
      </p:sp>
      <p:sp>
        <p:nvSpPr>
          <p:cNvPr id="8" name="Point 2 marker"/>
          <p:cNvSpPr/>
          <p:nvPr/>
        </p:nvSpPr>
        <p:spPr>
          <a:xfrm>
            <a:off x="731520" y="2807208"/>
            <a:ext cx="457200" cy="457200"/>
          </a:xfrm>
          <a:prstGeom prst="ellipse">
            <a:avLst/>
          </a:prstGeom>
          <a:solidFill>
            <a:schemeClr val="accent2"/>
          </a:solidFill>
          <a:ln w="12700">
            <a:solidFill>
              <a:schemeClr val="accent2"/>
            </a:solidFill>
            <a:prstDash val="solid"/>
          </a:ln>
        </p:spPr>
      </p:sp>
      <p:sp>
        <p:nvSpPr>
          <p:cNvPr id="9" name="Point 2 tick"/>
          <p:cNvSpPr txBox="1"/>
          <p:nvPr/>
        </p:nvSpPr>
        <p:spPr>
          <a:xfrm>
            <a:off x="73152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Point 2 text"/>
          <p:cNvSpPr txBox="1"/>
          <p:nvPr/>
        </p:nvSpPr>
        <p:spPr>
          <a:xfrm>
            <a:off x="1463040" y="2560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Forms can be completed online or sent to the client as a secure link.</a:t>
            </a:r>
            <a:endParaRPr lang="en-US" sz="1800" dirty="0"/>
          </a:p>
        </p:txBody>
      </p:sp>
      <p:sp>
        <p:nvSpPr>
          <p:cNvPr id="11" name="Point 3"/>
          <p:cNvSpPr/>
          <p:nvPr/>
        </p:nvSpPr>
        <p:spPr>
          <a:xfrm>
            <a:off x="457200" y="3703320"/>
            <a:ext cx="11247120" cy="960120"/>
          </a:xfrm>
          <a:prstGeom prst="roundRect">
            <a:avLst>
              <a:gd name="adj" fmla="val 7619"/>
            </a:avLst>
          </a:prstGeom>
          <a:solidFill>
            <a:schemeClr val="bg1"/>
          </a:solidFill>
          <a:ln w="12700">
            <a:solidFill>
              <a:srgbClr val="DDE7E5"/>
            </a:solidFill>
            <a:prstDash val="solid"/>
          </a:ln>
        </p:spPr>
      </p:sp>
      <p:sp>
        <p:nvSpPr>
          <p:cNvPr id="12" name="Point 3 marker"/>
          <p:cNvSpPr/>
          <p:nvPr/>
        </p:nvSpPr>
        <p:spPr>
          <a:xfrm>
            <a:off x="731520" y="3950208"/>
            <a:ext cx="457200" cy="457200"/>
          </a:xfrm>
          <a:prstGeom prst="ellipse">
            <a:avLst/>
          </a:prstGeom>
          <a:solidFill>
            <a:schemeClr val="accent2"/>
          </a:solidFill>
          <a:ln w="12700">
            <a:solidFill>
              <a:schemeClr val="accent2"/>
            </a:solidFill>
            <a:prstDash val="solid"/>
          </a:ln>
        </p:spPr>
      </p:sp>
      <p:sp>
        <p:nvSpPr>
          <p:cNvPr id="13" name="Point 3 tick"/>
          <p:cNvSpPr txBox="1"/>
          <p:nvPr/>
        </p:nvSpPr>
        <p:spPr>
          <a:xfrm>
            <a:off x="731520" y="3950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Point 3 text"/>
          <p:cNvSpPr txBox="1"/>
          <p:nvPr/>
        </p:nvSpPr>
        <p:spPr>
          <a:xfrm>
            <a:off x="1463040" y="3703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Everything submitted goes straight to Otta and shows in Applications.</a:t>
            </a:r>
            <a:endParaRPr lang="en-US" sz="1800" dirty="0"/>
          </a:p>
        </p:txBody>
      </p:sp>
      <p:sp>
        <p:nvSpPr>
          <p:cNvPr id="15" name="Point 4"/>
          <p:cNvSpPr/>
          <p:nvPr/>
        </p:nvSpPr>
        <p:spPr>
          <a:xfrm>
            <a:off x="457200" y="4846320"/>
            <a:ext cx="11247120" cy="960120"/>
          </a:xfrm>
          <a:prstGeom prst="roundRect">
            <a:avLst>
              <a:gd name="adj" fmla="val 7619"/>
            </a:avLst>
          </a:prstGeom>
          <a:solidFill>
            <a:schemeClr val="bg1"/>
          </a:solidFill>
          <a:ln w="12700">
            <a:solidFill>
              <a:srgbClr val="DDE7E5"/>
            </a:solidFill>
            <a:prstDash val="solid"/>
          </a:ln>
        </p:spPr>
      </p:sp>
      <p:sp>
        <p:nvSpPr>
          <p:cNvPr id="16" name="Point 4 marker"/>
          <p:cNvSpPr/>
          <p:nvPr/>
        </p:nvSpPr>
        <p:spPr>
          <a:xfrm>
            <a:off x="731520" y="5093208"/>
            <a:ext cx="457200" cy="457200"/>
          </a:xfrm>
          <a:prstGeom prst="ellipse">
            <a:avLst/>
          </a:prstGeom>
          <a:solidFill>
            <a:schemeClr val="accent2"/>
          </a:solidFill>
          <a:ln w="12700">
            <a:solidFill>
              <a:schemeClr val="accent2"/>
            </a:solidFill>
            <a:prstDash val="solid"/>
          </a:ln>
        </p:spPr>
      </p:sp>
      <p:sp>
        <p:nvSpPr>
          <p:cNvPr id="17" name="Point 4 tick"/>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Point 4 text"/>
          <p:cNvSpPr txBox="1"/>
          <p:nvPr/>
        </p:nvSpPr>
        <p:spPr>
          <a:xfrm>
            <a:off x="1463040" y="4846320"/>
            <a:ext cx="9966960" cy="960120"/>
          </a:xfrm>
          <a:prstGeom prst="rect">
            <a:avLst/>
          </a:prstGeom>
          <a:noFill/>
          <a:ln/>
        </p:spPr>
        <p:txBody>
          <a:bodyPr wrap="square" lIns="0" tIns="0" rIns="0" bIns="0" rtlCol="0" anchor="ctr"/>
          <a:lstStyle/>
          <a:p>
            <a:pPr indent="0" marL="0">
              <a:buNone/>
            </a:pPr>
            <a:r>
              <a:rPr lang="en-US" sz="1800" dirty="0">
                <a:solidFill>
                  <a:schemeClr val="tx1"/>
                </a:solidFill>
              </a:rPr>
              <a:t>Accepted quotes are bound with one instruction from the quote page.</a:t>
            </a:r>
            <a:endParaRPr lang="en-US" sz="18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E72"/>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tta">
  <a:themeElements>
    <a:clrScheme name="Otta">
      <a:dk1>
        <a:srgbClr val="303133"/>
      </a:dk1>
      <a:lt1>
        <a:srgbClr val="FFFFFF"/>
      </a:lt1>
      <a:dk2>
        <a:srgbClr val="014C69"/>
      </a:dk2>
      <a:lt2>
        <a:srgbClr val="F2F7F6"/>
      </a:lt2>
      <a:accent1>
        <a:srgbClr val="2E7D74"/>
      </a:accent1>
      <a:accent2>
        <a:srgbClr val="61B9AD"/>
      </a:accent2>
      <a:accent3>
        <a:srgbClr val="5E008D"/>
      </a:accent3>
      <a:accent4>
        <a:srgbClr val="014C69"/>
      </a:accent4>
      <a:accent5>
        <a:srgbClr val="E8F4F2"/>
      </a:accent5>
      <a:accent6>
        <a:srgbClr val="F1E6F7"/>
      </a:accent6>
      <a:hlink>
        <a:srgbClr val="2E7D74"/>
      </a:hlink>
      <a:folHlink>
        <a:srgbClr val="5E008D"/>
      </a:folHlink>
    </a:clrScheme>
    <a:fontScheme name="Ot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Otta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Otta Broker Portal</dc:title>
  <dc:subject>PptxGenJS Presentation</dc:subject>
  <dc:creator>Otta</dc:creator>
  <cp:lastModifiedBy>Otta</cp:lastModifiedBy>
  <cp:revision>1</cp:revision>
  <dcterms:created xsi:type="dcterms:W3CDTF">2026-10-14T22:18:04Z</dcterms:created>
  <dcterms:modified xsi:type="dcterms:W3CDTF">2026-10-14T22:18:04Z</dcterms:modified>
</cp:coreProperties>
</file>