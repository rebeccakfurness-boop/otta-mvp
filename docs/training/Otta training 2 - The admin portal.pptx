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eca5261-cbe3-888a-bfb3-171df74552d7}">
          <p14:sldIdLst>
            <p14:sldId id="257"/>
          </p14:sldIdLst>
        </p14:section>
        <p14:section name="Signing in and the overview" id="{67854cd6-3587-43f8-0dbe-74250f32a4a9}">
          <p14:sldIdLst>
            <p14:sldId id="258"/>
            <p14:sldId id="259"/>
            <p14:sldId id="260"/>
            <p14:sldId id="261"/>
            <p14:sldId id="262"/>
          </p14:sldIdLst>
        </p14:section>
        <p14:section name="Applications and underwriting" id="{70760c71-41d9-223a-0540-14625a9633cd}">
          <p14:sldIdLst>
            <p14:sldId id="263"/>
            <p14:sldId id="264"/>
            <p14:sldId id="265"/>
            <p14:sldId id="266"/>
            <p14:sldId id="267"/>
            <p14:sldId id="268"/>
          </p14:sldIdLst>
        </p14:section>
        <p14:section name="Enquiries and brokers" id="{bf8ba971-3128-fa3f-2735-9d04e2e5e4bb}">
          <p14:sldIdLst>
            <p14:sldId id="269"/>
            <p14:sldId id="270"/>
            <p14:sldId id="271"/>
            <p14:sldId id="272"/>
          </p14:sldIdLst>
        </p14:section>
        <p14:section name="Quotes, policies and email" id="{51dcf5b9-8993-fe86-bbaa-5f6f9eb7e54d}">
          <p14:sldIdLst>
            <p14:sldId id="273"/>
            <p14:sldId id="274"/>
            <p14:sldId id="275"/>
            <p14:sldId id="276"/>
          </p14:sldIdLst>
        </p14:section>
        <p14:section name="Summary" id="{c8e902ae-1444-2a3d-030d-f8a92b16f1ab}">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Otta admin portal. How the Otta team runs the book: applications, enquiries, brokers and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module covers. Signing in and the overview: The dashboard, live activity and what needs attention. Applications and underwriting: Reading an application with the underwriting assistant and filling the V13 worksheet. Enquiries and brokers: Website enquiries, approving portal access and managing brokers. Quotes, policies and email: Bind instructions, the policy book and checking email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Signing in and the overview. The overview shows the whole book across every brokerage, and what needs action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is for the Otta team only. Sign in with your Otta email and password, or use your Microsoft or Google work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is the home page. On the left is the menu. At the top, banners show anything waiting on you, such as brokers asking for portal access or website enquiries that need a reply. Live activity lists everything new, most recent first. It updates on its own every few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Whenever a new enquiry, quote request or bind instruction arrives while you have the admin portal open, you'll see a confetti pop and a card naming what came in. Select the card to go straight to it. You don't need to refresh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down the overview are the headline numbers for the whole book and a breakdown by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and underwriting. Every online application and claim lands here, with a first read from the underwriting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lists every online form submitted by brokers or by their clients through a secure link. Each row shows the insured, the product, the broker and the status. Select a row to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top of each application is the insured name and reference, with buttons to download the filled V13 worksheet and the application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underwriting assistant reads each application against the Property and Landlord Underwriting Guide. It gives a headline recommendation, lists any red flags, and suggests excesses, premiums and endorsements, each with the guide section it relies on. It is a first read only. The underwriter makes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also drafts a follow up email to the broker. Read it, change anything you like, then copy it or open it straight in your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into the V13 worksheet lets you fill the rating spreadsheet without retyping. Check the rating region first: it is suggested from the address but you can change it. Then copy each block and paste it into the first matching yellow cell in V13. Only the values go in, so the worksheet's own formulas and dropdowns stay as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Enquiries and brokers. Website enquiries, new broker sign ups and the brokerages we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enquiry from the website Contact Us form appears here as well as by email. Reply to the visitor, then select Mark handled so the team knows it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broker asks for portal access, they appear under Access requests. Check their details, choose the brokerage they belong to, and approve. They receive a welcome email with a link to set their password and the broker guide. The link lasts 7 days. You can also invite a broker directly with the form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Brokers lists every brokerage and its people. Broker view is useful when a broker calls with a question: you see exactly what they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policies and email. From quote to bound policy, and making sure our emails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broker accepts a quote in the portal and instructs Otta to bind, the quote shows a bind instruction banner, and you'll see a celebration on the overview. Bind the policy in the usual way, then update the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Policies holds every policy across all brokers, from manual entry and InsuredHQ. Search, filter by product or status, and select a policy to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emails aren't arriving, start here. Email check shows whether sending is switched on, lets you send yourself a test email, and lists the sender addresses that must be verified in Brevo, our email service. If the test fails, the page shows the reason Brevo gave.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Start each day on the overview: banners show what's waiting, Live activity shows what's new. The underwriting assistant gives a first read. The underwriter makes every decision. Copy into V13 fills the rating worksheet without retyping. Approve broker access from Access requests; the broker gets a welcome email and the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tta title">
    <p:bg>
      <p:bgPr>
        <a:solidFill>
          <a:schemeClr val="tx2"/>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731520" y="640080"/>
            <a:ext cx="1737360" cy="649224"/>
          </a:xfrm>
          <a:prstGeom prst="rect">
            <a:avLst/>
          </a:prstGeom>
        </p:spPr>
      </p:pic>
      <p:sp>
        <p:nvSpPr>
          <p:cNvPr id="3" name="Shape 0"/>
          <p:cNvSpPr/>
          <p:nvPr/>
        </p:nvSpPr>
        <p:spPr>
          <a:xfrm>
            <a:off x="731520" y="2788920"/>
            <a:ext cx="1097280" cy="73152"/>
          </a:xfrm>
          <a:prstGeom prst="rect">
            <a:avLst/>
          </a:prstGeom>
          <a:solidFill>
            <a:schemeClr val="accent2"/>
          </a:solidFill>
          <a:ln/>
        </p:spPr>
      </p:sp>
      <p:sp>
        <p:nvSpPr>
          <p:cNvPr id="4" name="Text 1"/>
          <p:cNvSpPr/>
          <p:nvPr>
            <p:ph idx="102" type="title" hasCustomPrompt="1"/>
          </p:nvPr>
        </p:nvSpPr>
        <p:spPr>
          <a:xfrm>
            <a:off x="731520" y="3017520"/>
            <a:ext cx="100584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1"/>
          <p:cNvSpPr/>
          <p:nvPr>
            <p:ph idx="103" type="body" hasCustomPrompt="1"/>
          </p:nvPr>
        </p:nvSpPr>
        <p:spPr>
          <a:xfrm>
            <a:off x="731520" y="4434840"/>
            <a:ext cx="9144000" cy="82296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6" name="Text 1"/>
          <p:cNvSpPr/>
          <p:nvPr>
            <p:ph idx="104" type="body" hasCustomPrompt="1"/>
          </p:nvPr>
        </p:nvSpPr>
        <p:spPr>
          <a:xfrm>
            <a:off x="731520" y="5852160"/>
            <a:ext cx="7315200" cy="365760"/>
          </a:xfrm>
          <a:prstGeom prst="rect">
            <a:avLst/>
          </a:prstGeom>
          <a:noFill/>
          <a:ln/>
        </p:spPr>
        <p:txBody>
          <a:bodyPr wrap="square" rtlCol="0"/>
          <a:lstStyle>
            <a:lvl1pPr algn="l" indent="0" marL="0">
              <a:buNone/>
              <a:defRPr lang="en-US" sz="1300" b="1" spc="200" kern="0" dirty="0">
                <a:solidFill>
                  <a:schemeClr val="accent2"/>
                </a:solidFill>
              </a:defRPr>
            </a:lvl1pPr>
          </a:lstStyle>
          <a:p>
            <a:pPr algn="l"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tta section">
    <p:bg>
      <p:bgPr>
        <a:solidFill>
          <a:schemeClr val="accent1"/>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10607040" y="411480"/>
            <a:ext cx="1143000" cy="429768"/>
          </a:xfrm>
          <a:prstGeom prst="rect">
            <a:avLst/>
          </a:prstGeom>
        </p:spPr>
      </p:pic>
      <p:sp>
        <p:nvSpPr>
          <p:cNvPr id="3" name="Text 0"/>
          <p:cNvSpPr/>
          <p:nvPr>
            <p:ph idx="101" type="title" hasCustomPrompt="1"/>
          </p:nvPr>
        </p:nvSpPr>
        <p:spPr>
          <a:xfrm>
            <a:off x="731520" y="2743200"/>
            <a:ext cx="100584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5" name="Text 0"/>
          <p:cNvSpPr/>
          <p:nvPr/>
        </p:nvSpPr>
        <p:spPr>
          <a:xfrm>
            <a:off x="731520" y="6263640"/>
            <a:ext cx="7315200" cy="274320"/>
          </a:xfrm>
          <a:prstGeom prst="rect">
            <a:avLst/>
          </a:prstGeom>
          <a:noFill/>
          <a:ln/>
        </p:spPr>
        <p:txBody>
          <a:bodyPr wrap="square" lIns="0" tIns="0" rIns="0" bIns="0" rtlCol="0" anchor="ctr"/>
          <a:lstStyle/>
          <a:p>
            <a:pPr indent="0" marL="0">
              <a:buNone/>
            </a:pPr>
            <a:r>
              <a:rPr lang="en-US" sz="1000" dirty="0">
                <a:solidFill>
                  <a:schemeClr val="bg1"/>
                </a:solidFill>
              </a:rPr>
              <a:t>Otta training  |  The Otta admin portal</a:t>
            </a:r>
            <a:endParaRPr lang="en-US" sz="1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tta content">
    <p:bg>
      <p:bgPr>
        <a:solidFill>
          <a:schemeClr val="bg2"/>
        </a:solidFill>
      </p:bgPr>
    </p:bg>
    <p:spTree>
      <p:nvGrpSpPr>
        <p:cNvPr id="1" name=""/>
        <p:cNvGrpSpPr/>
        <p:nvPr/>
      </p:nvGrpSpPr>
      <p:grpSpPr>
        <a:xfrm>
          <a:off x="0" y="0"/>
          <a:ext cx="0" cy="0"/>
          <a:chOff x="0" y="0"/>
          <a:chExt cx="0" cy="0"/>
        </a:xfrm>
      </p:grpSpPr>
      <p:pic>
        <p:nvPicPr>
          <p:cNvPr id="2" name="Image 0" descr="/home/user/otta-MVP/public/brand/otta-logo.png">    </p:cNvPr>
          <p:cNvPicPr>
            <a:picLocks noChangeAspect="1"/>
          </p:cNvPicPr>
          <p:nvPr/>
        </p:nvPicPr>
        <p:blipFill>
          <a:blip r:embed="rId1"/>
          <a:stretch>
            <a:fillRect/>
          </a:stretch>
        </p:blipFill>
        <p:spPr>
          <a:xfrm>
            <a:off x="10835640" y="347472"/>
            <a:ext cx="914400" cy="338328"/>
          </a:xfrm>
          <a:prstGeom prst="rect">
            <a:avLst/>
          </a:prstGeom>
        </p:spPr>
      </p:pic>
      <p:sp>
        <p:nvSpPr>
          <p:cNvPr id="3" name="Text 0"/>
          <p:cNvSpPr/>
          <p:nvPr>
            <p:ph idx="101" type="title" hasCustomPrompt="1"/>
          </p:nvPr>
        </p:nvSpPr>
        <p:spPr>
          <a:xfrm>
            <a:off x="457200" y="274320"/>
            <a:ext cx="100584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6E72"/>
                </a:solidFill>
              </a:rPr>
              <a:t>Otta training  |  The Otta admin portal</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731520" y="3017520"/>
            <a:ext cx="10058400" cy="1371600"/>
          </a:xfrm>
          <a:prstGeom prst="rect">
            <a:avLst/>
          </a:prstGeom>
          <a:noFill/>
          <a:ln/>
        </p:spPr>
        <p:txBody>
          <a:bodyPr wrap="square" lIns="0" tIns="0" rIns="0" bIns="0" rtlCol="0" anchor="t"/>
          <a:lstStyle/>
          <a:p>
            <a:pPr algn="l" indent="0" marL="0">
              <a:buNone/>
            </a:pPr>
            <a:r>
              <a:rPr lang="en-US" sz="4400" b="1" dirty="0">
                <a:solidFill>
                  <a:schemeClr val="bg1"/>
                </a:solidFill>
              </a:rPr>
              <a:t>The Otta admin portal</a:t>
            </a:r>
            <a:endParaRPr lang="en-US" sz="4400" dirty="0"/>
          </a:p>
        </p:txBody>
      </p:sp>
      <p:sp>
        <p:nvSpPr>
          <p:cNvPr id="3" name="Text 1"/>
          <p:cNvSpPr/>
          <p:nvPr>
            <p:ph idx="103" type="body" hasCustomPrompt="1"/>
          </p:nvPr>
        </p:nvSpPr>
        <p:spPr>
          <a:xfrm>
            <a:off x="731520" y="4434840"/>
            <a:ext cx="9144000" cy="822960"/>
          </a:xfrm>
          <a:prstGeom prst="rect">
            <a:avLst/>
          </a:prstGeom>
          <a:noFill/>
          <a:ln/>
        </p:spPr>
        <p:txBody>
          <a:bodyPr wrap="square" lIns="0" tIns="0" rIns="0" bIns="0" rtlCol="0" anchor="t"/>
          <a:lstStyle/>
          <a:p>
            <a:pPr algn="l" indent="0" marL="0">
              <a:buNone/>
            </a:pPr>
            <a:r>
              <a:rPr lang="en-US" sz="2000" dirty="0">
                <a:solidFill>
                  <a:schemeClr val="bg1"/>
                </a:solidFill>
              </a:rPr>
              <a:t>How the Otta team runs the book: applications, enquiries, brokers and policies</a:t>
            </a:r>
            <a:endParaRPr lang="en-US" sz="2000" dirty="0"/>
          </a:p>
        </p:txBody>
      </p:sp>
      <p:sp>
        <p:nvSpPr>
          <p:cNvPr id="4" name="Text 1"/>
          <p:cNvSpPr/>
          <p:nvPr>
            <p:ph idx="104" type="body" hasCustomPrompt="1"/>
          </p:nvPr>
        </p:nvSpPr>
        <p:spPr>
          <a:xfrm>
            <a:off x="731520" y="5852160"/>
            <a:ext cx="7315200" cy="365760"/>
          </a:xfrm>
          <a:prstGeom prst="rect">
            <a:avLst/>
          </a:prstGeom>
          <a:noFill/>
          <a:ln/>
        </p:spPr>
        <p:txBody>
          <a:bodyPr wrap="square" lIns="0" tIns="0" rIns="0" bIns="0" rtlCol="0"/>
          <a:lstStyle/>
          <a:p>
            <a:pPr algn="l" indent="0" marL="0">
              <a:buNone/>
            </a:pPr>
            <a:r>
              <a:rPr lang="en-US" sz="1300" b="1" spc="200" kern="0" dirty="0">
                <a:solidFill>
                  <a:schemeClr val="accent2"/>
                </a:solidFill>
              </a:rPr>
              <a:t>FOR OTTA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What this module covers</a:t>
            </a:r>
            <a:endParaRPr lang="en-US" sz="2800" dirty="0"/>
          </a:p>
        </p:txBody>
      </p:sp>
      <p:sp>
        <p:nvSpPr>
          <p:cNvPr id="3" name="Card 1"/>
          <p:cNvSpPr/>
          <p:nvPr/>
        </p:nvSpPr>
        <p:spPr>
          <a:xfrm>
            <a:off x="457200" y="1280160"/>
            <a:ext cx="5486400" cy="2331720"/>
          </a:xfrm>
          <a:prstGeom prst="roundRect">
            <a:avLst>
              <a:gd name="adj" fmla="val 3137"/>
            </a:avLst>
          </a:prstGeom>
          <a:solidFill>
            <a:schemeClr val="bg1"/>
          </a:solidFill>
          <a:ln w="12700">
            <a:solidFill>
              <a:srgbClr val="DDE7E5"/>
            </a:solidFill>
            <a:prstDash val="solid"/>
          </a:ln>
        </p:spPr>
      </p:sp>
      <p:sp>
        <p:nvSpPr>
          <p:cNvPr id="4" name="Card 1 marker"/>
          <p:cNvSpPr/>
          <p:nvPr/>
        </p:nvSpPr>
        <p:spPr>
          <a:xfrm>
            <a:off x="777240" y="1600200"/>
            <a:ext cx="502920" cy="502920"/>
          </a:xfrm>
          <a:prstGeom prst="ellipse">
            <a:avLst/>
          </a:prstGeom>
          <a:solidFill>
            <a:schemeClr val="accent1"/>
          </a:solidFill>
          <a:ln w="12700">
            <a:solidFill>
              <a:schemeClr val="accent1"/>
            </a:solidFill>
            <a:prstDash val="solid"/>
          </a:ln>
        </p:spPr>
      </p:sp>
      <p:sp>
        <p:nvSpPr>
          <p:cNvPr id="5" name="Card 1 number"/>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Card 1 heading"/>
          <p:cNvSpPr txBox="1"/>
          <p:nvPr/>
        </p:nvSpPr>
        <p:spPr>
          <a:xfrm>
            <a:off x="1463040" y="155448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Signing in and the overview</a:t>
            </a:r>
            <a:endParaRPr lang="en-US" sz="1900" dirty="0"/>
          </a:p>
        </p:txBody>
      </p:sp>
      <p:sp>
        <p:nvSpPr>
          <p:cNvPr id="7" name="Card 1 text"/>
          <p:cNvSpPr txBox="1"/>
          <p:nvPr/>
        </p:nvSpPr>
        <p:spPr>
          <a:xfrm>
            <a:off x="1463040" y="2194560"/>
            <a:ext cx="4206240" cy="1188720"/>
          </a:xfrm>
          <a:prstGeom prst="rect">
            <a:avLst/>
          </a:prstGeom>
          <a:noFill/>
          <a:ln/>
        </p:spPr>
        <p:txBody>
          <a:bodyPr wrap="square" lIns="0" tIns="0" rIns="0" bIns="0" rtlCol="0" anchor="t"/>
          <a:lstStyle/>
          <a:p>
            <a:pPr indent="0" marL="0">
              <a:buNone/>
            </a:pPr>
            <a:r>
              <a:rPr lang="en-US" sz="1500" dirty="0">
                <a:solidFill>
                  <a:schemeClr val="tx1"/>
                </a:solidFill>
              </a:rPr>
              <a:t>The dashboard, live activity and what needs attention.</a:t>
            </a:r>
            <a:endParaRPr lang="en-US" sz="1500" dirty="0"/>
          </a:p>
        </p:txBody>
      </p:sp>
      <p:sp>
        <p:nvSpPr>
          <p:cNvPr id="8" name="Card 2"/>
          <p:cNvSpPr/>
          <p:nvPr/>
        </p:nvSpPr>
        <p:spPr>
          <a:xfrm>
            <a:off x="6217920" y="1280160"/>
            <a:ext cx="5486400" cy="2331720"/>
          </a:xfrm>
          <a:prstGeom prst="roundRect">
            <a:avLst>
              <a:gd name="adj" fmla="val 3137"/>
            </a:avLst>
          </a:prstGeom>
          <a:solidFill>
            <a:schemeClr val="bg1"/>
          </a:solidFill>
          <a:ln w="12700">
            <a:solidFill>
              <a:srgbClr val="DDE7E5"/>
            </a:solidFill>
            <a:prstDash val="solid"/>
          </a:ln>
        </p:spPr>
      </p:sp>
      <p:sp>
        <p:nvSpPr>
          <p:cNvPr id="9" name="Card 2 marker"/>
          <p:cNvSpPr/>
          <p:nvPr/>
        </p:nvSpPr>
        <p:spPr>
          <a:xfrm>
            <a:off x="6537960" y="1600200"/>
            <a:ext cx="502920" cy="502920"/>
          </a:xfrm>
          <a:prstGeom prst="ellipse">
            <a:avLst/>
          </a:prstGeom>
          <a:solidFill>
            <a:schemeClr val="accent1"/>
          </a:solidFill>
          <a:ln w="12700">
            <a:solidFill>
              <a:schemeClr val="accent1"/>
            </a:solidFill>
            <a:prstDash val="solid"/>
          </a:ln>
        </p:spPr>
      </p:sp>
      <p:sp>
        <p:nvSpPr>
          <p:cNvPr id="10" name="Card 2 number"/>
          <p:cNvSpPr txBox="1"/>
          <p:nvPr/>
        </p:nvSpPr>
        <p:spPr>
          <a:xfrm>
            <a:off x="653796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Card 2 heading"/>
          <p:cNvSpPr txBox="1"/>
          <p:nvPr/>
        </p:nvSpPr>
        <p:spPr>
          <a:xfrm>
            <a:off x="7223760" y="155448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Applications and underwriting</a:t>
            </a:r>
            <a:endParaRPr lang="en-US" sz="1900" dirty="0"/>
          </a:p>
        </p:txBody>
      </p:sp>
      <p:sp>
        <p:nvSpPr>
          <p:cNvPr id="12" name="Card 2 text"/>
          <p:cNvSpPr txBox="1"/>
          <p:nvPr/>
        </p:nvSpPr>
        <p:spPr>
          <a:xfrm>
            <a:off x="7223760" y="2194560"/>
            <a:ext cx="4206240" cy="1188720"/>
          </a:xfrm>
          <a:prstGeom prst="rect">
            <a:avLst/>
          </a:prstGeom>
          <a:noFill/>
          <a:ln/>
        </p:spPr>
        <p:txBody>
          <a:bodyPr wrap="square" lIns="0" tIns="0" rIns="0" bIns="0" rtlCol="0" anchor="t"/>
          <a:lstStyle/>
          <a:p>
            <a:pPr indent="0" marL="0">
              <a:buNone/>
            </a:pPr>
            <a:r>
              <a:rPr lang="en-US" sz="1500" dirty="0">
                <a:solidFill>
                  <a:schemeClr val="tx1"/>
                </a:solidFill>
              </a:rPr>
              <a:t>Reading an application with the underwriting assistant and filling the V13 worksheet.</a:t>
            </a:r>
            <a:endParaRPr lang="en-US" sz="1500" dirty="0"/>
          </a:p>
        </p:txBody>
      </p:sp>
      <p:sp>
        <p:nvSpPr>
          <p:cNvPr id="13" name="Card 3"/>
          <p:cNvSpPr/>
          <p:nvPr/>
        </p:nvSpPr>
        <p:spPr>
          <a:xfrm>
            <a:off x="457200" y="3886200"/>
            <a:ext cx="5486400" cy="2331720"/>
          </a:xfrm>
          <a:prstGeom prst="roundRect">
            <a:avLst>
              <a:gd name="adj" fmla="val 3137"/>
            </a:avLst>
          </a:prstGeom>
          <a:solidFill>
            <a:schemeClr val="bg1"/>
          </a:solidFill>
          <a:ln w="12700">
            <a:solidFill>
              <a:srgbClr val="DDE7E5"/>
            </a:solidFill>
            <a:prstDash val="solid"/>
          </a:ln>
        </p:spPr>
      </p:sp>
      <p:sp>
        <p:nvSpPr>
          <p:cNvPr id="14" name="Card 3 marker"/>
          <p:cNvSpPr/>
          <p:nvPr/>
        </p:nvSpPr>
        <p:spPr>
          <a:xfrm>
            <a:off x="777240" y="4206240"/>
            <a:ext cx="502920" cy="502920"/>
          </a:xfrm>
          <a:prstGeom prst="ellipse">
            <a:avLst/>
          </a:prstGeom>
          <a:solidFill>
            <a:schemeClr val="accent1"/>
          </a:solidFill>
          <a:ln w="12700">
            <a:solidFill>
              <a:schemeClr val="accent1"/>
            </a:solidFill>
            <a:prstDash val="solid"/>
          </a:ln>
        </p:spPr>
      </p:sp>
      <p:sp>
        <p:nvSpPr>
          <p:cNvPr id="15" name="Card 3 number"/>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Card 3 heading"/>
          <p:cNvSpPr txBox="1"/>
          <p:nvPr/>
        </p:nvSpPr>
        <p:spPr>
          <a:xfrm>
            <a:off x="1463040" y="416052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Enquiries and brokers</a:t>
            </a:r>
            <a:endParaRPr lang="en-US" sz="1900" dirty="0"/>
          </a:p>
        </p:txBody>
      </p:sp>
      <p:sp>
        <p:nvSpPr>
          <p:cNvPr id="17" name="Card 3 text"/>
          <p:cNvSpPr txBox="1"/>
          <p:nvPr/>
        </p:nvSpPr>
        <p:spPr>
          <a:xfrm>
            <a:off x="1463040" y="4800600"/>
            <a:ext cx="4206240" cy="1188720"/>
          </a:xfrm>
          <a:prstGeom prst="rect">
            <a:avLst/>
          </a:prstGeom>
          <a:noFill/>
          <a:ln/>
        </p:spPr>
        <p:txBody>
          <a:bodyPr wrap="square" lIns="0" tIns="0" rIns="0" bIns="0" rtlCol="0" anchor="t"/>
          <a:lstStyle/>
          <a:p>
            <a:pPr indent="0" marL="0">
              <a:buNone/>
            </a:pPr>
            <a:r>
              <a:rPr lang="en-US" sz="1500" dirty="0">
                <a:solidFill>
                  <a:schemeClr val="tx1"/>
                </a:solidFill>
              </a:rPr>
              <a:t>Website enquiries, approving portal access and managing brokers.</a:t>
            </a:r>
            <a:endParaRPr lang="en-US" sz="1500" dirty="0"/>
          </a:p>
        </p:txBody>
      </p:sp>
      <p:sp>
        <p:nvSpPr>
          <p:cNvPr id="18" name="Card 4"/>
          <p:cNvSpPr/>
          <p:nvPr/>
        </p:nvSpPr>
        <p:spPr>
          <a:xfrm>
            <a:off x="6217920" y="3886200"/>
            <a:ext cx="5486400" cy="2331720"/>
          </a:xfrm>
          <a:prstGeom prst="roundRect">
            <a:avLst>
              <a:gd name="adj" fmla="val 3137"/>
            </a:avLst>
          </a:prstGeom>
          <a:solidFill>
            <a:schemeClr val="bg1"/>
          </a:solidFill>
          <a:ln w="12700">
            <a:solidFill>
              <a:srgbClr val="DDE7E5"/>
            </a:solidFill>
            <a:prstDash val="solid"/>
          </a:ln>
        </p:spPr>
      </p:sp>
      <p:sp>
        <p:nvSpPr>
          <p:cNvPr id="19" name="Card 4 marker"/>
          <p:cNvSpPr/>
          <p:nvPr/>
        </p:nvSpPr>
        <p:spPr>
          <a:xfrm>
            <a:off x="6537960" y="4206240"/>
            <a:ext cx="502920" cy="502920"/>
          </a:xfrm>
          <a:prstGeom prst="ellipse">
            <a:avLst/>
          </a:prstGeom>
          <a:solidFill>
            <a:schemeClr val="accent1"/>
          </a:solidFill>
          <a:ln w="12700">
            <a:solidFill>
              <a:schemeClr val="accent1"/>
            </a:solidFill>
            <a:prstDash val="solid"/>
          </a:ln>
        </p:spPr>
      </p:sp>
      <p:sp>
        <p:nvSpPr>
          <p:cNvPr id="20" name="Card 4 number"/>
          <p:cNvSpPr txBox="1"/>
          <p:nvPr/>
        </p:nvSpPr>
        <p:spPr>
          <a:xfrm>
            <a:off x="6537960" y="4206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Card 4 heading"/>
          <p:cNvSpPr txBox="1"/>
          <p:nvPr/>
        </p:nvSpPr>
        <p:spPr>
          <a:xfrm>
            <a:off x="7223760" y="416052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Quotes, policies and email</a:t>
            </a:r>
            <a:endParaRPr lang="en-US" sz="1900" dirty="0"/>
          </a:p>
        </p:txBody>
      </p:sp>
      <p:sp>
        <p:nvSpPr>
          <p:cNvPr id="22" name="Card 4 text"/>
          <p:cNvSpPr txBox="1"/>
          <p:nvPr/>
        </p:nvSpPr>
        <p:spPr>
          <a:xfrm>
            <a:off x="7223760" y="4800600"/>
            <a:ext cx="4206240" cy="1188720"/>
          </a:xfrm>
          <a:prstGeom prst="rect">
            <a:avLst/>
          </a:prstGeom>
          <a:noFill/>
          <a:ln/>
        </p:spPr>
        <p:txBody>
          <a:bodyPr wrap="square" lIns="0" tIns="0" rIns="0" bIns="0" rtlCol="0" anchor="t"/>
          <a:lstStyle/>
          <a:p>
            <a:pPr indent="0" marL="0">
              <a:buNone/>
            </a:pPr>
            <a:r>
              <a:rPr lang="en-US" sz="1500" dirty="0">
                <a:solidFill>
                  <a:schemeClr val="tx1"/>
                </a:solidFill>
              </a:rPr>
              <a:t>Bind instructions, the policy book and checking email delivery.</a:t>
            </a:r>
            <a:endParaRPr lang="en-US" sz="15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01</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Signing in and the overview</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The overview shows the whole book across every brokerage, and what needs action today.</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Signing in</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Signing in: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Your Otta email and password.</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Or sign in with Microsoft or Google.</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Select Sign in.</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overview</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overview: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menu: every area of the admin portal.</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Things waiting on you: access requests and unanswered enquiries.</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Live activity: new enquiries, quote requests, claims and bind instructions as they arrive.</a:t>
            </a:r>
            <a:endParaRPr lang="en-US" sz="1350" dirty="0"/>
          </a:p>
        </p:txBody>
      </p:sp>
      <p:sp>
        <p:nvSpPr>
          <p:cNvPr id="14" name="Step 4 marker"/>
          <p:cNvSpPr/>
          <p:nvPr/>
        </p:nvSpPr>
        <p:spPr>
          <a:xfrm>
            <a:off x="8503920" y="47731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7731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754880"/>
            <a:ext cx="2770632" cy="1115568"/>
          </a:xfrm>
          <a:prstGeom prst="rect">
            <a:avLst/>
          </a:prstGeom>
          <a:noFill/>
          <a:ln/>
        </p:spPr>
        <p:txBody>
          <a:bodyPr wrap="square" lIns="0" tIns="0" rIns="0" bIns="0" rtlCol="0" anchor="t"/>
          <a:lstStyle/>
          <a:p>
            <a:pPr indent="0" marL="0">
              <a:buNone/>
            </a:pPr>
            <a:r>
              <a:rPr lang="en-US" sz="1350" dirty="0">
                <a:solidFill>
                  <a:schemeClr val="tx1"/>
                </a:solidFill>
              </a:rPr>
              <a:t>Try the celebration plays the pop you'll see when something new comes in.</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When something new arrives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When something new arrive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A confetti pop and a card say what has arrived. Select it to open it.</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It is added to the top of Live activity.</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book at a glance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book at a glanc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Headline numbers: active policies, premium and renewals. Select one to see the list.</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book broken down by product.</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02</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Applications and underwriting</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Every online application and claim lands here, with a first read from the underwriting assistant.</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applications list</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applications list: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Each application or claim, newest first. Select one to open it.</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Its status: new, in review, quoted and so on.</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Opening an application</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Opening an application: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insured and the reference.</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V13 worksheet downloads the spreadsheet, already filled in.</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Download PDF saves the application as submitted.</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underwriting assistant</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underwriting assistant: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headline: accept, refer or decline, with the main reason.</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Red flags against the Property and Landlord Underwriting Guide.</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Suggested terms, each linked to the section of the guide it comes from.</a:t>
            </a:r>
            <a:endParaRPr lang="en-US" sz="1350" dirty="0"/>
          </a:p>
        </p:txBody>
      </p:sp>
      <p:sp>
        <p:nvSpPr>
          <p:cNvPr id="14" name="Step 4 marker"/>
          <p:cNvSpPr/>
          <p:nvPr/>
        </p:nvSpPr>
        <p:spPr>
          <a:xfrm>
            <a:off x="8503920" y="47731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7731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754880"/>
            <a:ext cx="2770632" cy="1115568"/>
          </a:xfrm>
          <a:prstGeom prst="rect">
            <a:avLst/>
          </a:prstGeom>
          <a:noFill/>
          <a:ln/>
        </p:spPr>
        <p:txBody>
          <a:bodyPr wrap="square" lIns="0" tIns="0" rIns="0" bIns="0" rtlCol="0" anchor="t"/>
          <a:lstStyle/>
          <a:p>
            <a:pPr indent="0" marL="0">
              <a:buNone/>
            </a:pPr>
            <a:r>
              <a:rPr lang="en-US" sz="1350" dirty="0">
                <a:solidFill>
                  <a:schemeClr val="tx1"/>
                </a:solidFill>
              </a:rPr>
              <a:t>Write again refreshes the brief after changes.</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Following up with the broker</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Following up with the broker: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A draft email to the broker, asking for anything still missing.</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Copy email to paste it into your own email.</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Open in email starts a new message with it filled in.</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Copying into the V13 worksheet</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Copying into the V13 worksheet: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Choose the rating region. The suggested one comes from the suburb or town.</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Each block lines up with the yellow boxes in V13.</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Copy, then click the first cell in V13 and paste.</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03</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Enquiries and brokers</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Website enquiries, new broker sign ups and the brokerages we work with.</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Website enquiries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Website enquirie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Each enquiry from the Contact Us page, with the message and contact details.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Mark handled once you've replied.</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Approving broker portal access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Approving broker portal acces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A broker who has asked to join the portal.</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Choose their brokerage, or create a new one.</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Approve and send invite emails them a welcome link to set a password.</a:t>
            </a:r>
            <a:endParaRPr lang="en-US" sz="1350" dirty="0"/>
          </a:p>
        </p:txBody>
      </p:sp>
      <p:sp>
        <p:nvSpPr>
          <p:cNvPr id="14" name="Step 4 marker"/>
          <p:cNvSpPr/>
          <p:nvPr/>
        </p:nvSpPr>
        <p:spPr>
          <a:xfrm>
            <a:off x="8503920" y="47731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7731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754880"/>
            <a:ext cx="2770632" cy="1115568"/>
          </a:xfrm>
          <a:prstGeom prst="rect">
            <a:avLst/>
          </a:prstGeom>
          <a:noFill/>
          <a:ln/>
        </p:spPr>
        <p:txBody>
          <a:bodyPr wrap="square" lIns="0" tIns="0" rIns="0" bIns="0" rtlCol="0" anchor="t"/>
          <a:lstStyle/>
          <a:p>
            <a:pPr indent="0" marL="0">
              <a:buNone/>
            </a:pPr>
            <a:r>
              <a:rPr lang="en-US" sz="1350" dirty="0">
                <a:solidFill>
                  <a:schemeClr val="tx1"/>
                </a:solidFill>
              </a:rPr>
              <a:t>Or invite a broker yourself.</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Brokers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Broker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Search brokerages and brokers.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Broker view shows the portal exactly as that broker sees it.</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Open a brokerage to see its people, quotes and policies.</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04</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Quotes, policies and email</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From quote to bound policy, and making sure our emails arrive.</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A bind instruction</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A bind instruction: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broker's instruction to bind, with the inception date and any notes.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original request details.</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Policies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Policie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Search by insured, policy number, broker or InsuredHQ reference.</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Filter by product.</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Select a policy to see its details.</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Email check</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Email check: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Set up: whether email sending is switched on.</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Send test email to check delivery end to end.</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senders that must be verified in Brevo.</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Key points</a:t>
            </a:r>
            <a:endParaRPr lang="en-US" sz="2800" dirty="0"/>
          </a:p>
        </p:txBody>
      </p:sp>
      <p:sp>
        <p:nvSpPr>
          <p:cNvPr id="3" name="Point 1"/>
          <p:cNvSpPr/>
          <p:nvPr/>
        </p:nvSpPr>
        <p:spPr>
          <a:xfrm>
            <a:off x="457200" y="1417320"/>
            <a:ext cx="11247120" cy="960120"/>
          </a:xfrm>
          <a:prstGeom prst="roundRect">
            <a:avLst>
              <a:gd name="adj" fmla="val 7619"/>
            </a:avLst>
          </a:prstGeom>
          <a:solidFill>
            <a:schemeClr val="bg1"/>
          </a:solidFill>
          <a:ln w="12700">
            <a:solidFill>
              <a:srgbClr val="DDE7E5"/>
            </a:solidFill>
            <a:prstDash val="solid"/>
          </a:ln>
        </p:spPr>
      </p:sp>
      <p:sp>
        <p:nvSpPr>
          <p:cNvPr id="4" name="Point 1 marker"/>
          <p:cNvSpPr/>
          <p:nvPr/>
        </p:nvSpPr>
        <p:spPr>
          <a:xfrm>
            <a:off x="731520" y="1664208"/>
            <a:ext cx="457200" cy="457200"/>
          </a:xfrm>
          <a:prstGeom prst="ellipse">
            <a:avLst/>
          </a:prstGeom>
          <a:solidFill>
            <a:schemeClr val="accent2"/>
          </a:solidFill>
          <a:ln w="12700">
            <a:solidFill>
              <a:schemeClr val="accent2"/>
            </a:solidFill>
            <a:prstDash val="solid"/>
          </a:ln>
        </p:spPr>
      </p:sp>
      <p:sp>
        <p:nvSpPr>
          <p:cNvPr id="5" name="Point 1 tick"/>
          <p:cNvSpPr txBox="1"/>
          <p:nvPr/>
        </p:nvSpPr>
        <p:spPr>
          <a:xfrm>
            <a:off x="731520" y="1664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Point 1 text"/>
          <p:cNvSpPr txBox="1"/>
          <p:nvPr/>
        </p:nvSpPr>
        <p:spPr>
          <a:xfrm>
            <a:off x="1463040" y="1417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Start each day on the overview: banners show what's waiting, Live activity shows what's new.</a:t>
            </a:r>
            <a:endParaRPr lang="en-US" sz="1800" dirty="0"/>
          </a:p>
        </p:txBody>
      </p:sp>
      <p:sp>
        <p:nvSpPr>
          <p:cNvPr id="7" name="Point 2"/>
          <p:cNvSpPr/>
          <p:nvPr/>
        </p:nvSpPr>
        <p:spPr>
          <a:xfrm>
            <a:off x="457200" y="2560320"/>
            <a:ext cx="11247120" cy="960120"/>
          </a:xfrm>
          <a:prstGeom prst="roundRect">
            <a:avLst>
              <a:gd name="adj" fmla="val 7619"/>
            </a:avLst>
          </a:prstGeom>
          <a:solidFill>
            <a:schemeClr val="bg1"/>
          </a:solidFill>
          <a:ln w="12700">
            <a:solidFill>
              <a:srgbClr val="DDE7E5"/>
            </a:solidFill>
            <a:prstDash val="solid"/>
          </a:ln>
        </p:spPr>
      </p:sp>
      <p:sp>
        <p:nvSpPr>
          <p:cNvPr id="8" name="Point 2 marker"/>
          <p:cNvSpPr/>
          <p:nvPr/>
        </p:nvSpPr>
        <p:spPr>
          <a:xfrm>
            <a:off x="731520" y="2807208"/>
            <a:ext cx="457200" cy="457200"/>
          </a:xfrm>
          <a:prstGeom prst="ellipse">
            <a:avLst/>
          </a:prstGeom>
          <a:solidFill>
            <a:schemeClr val="accent2"/>
          </a:solidFill>
          <a:ln w="12700">
            <a:solidFill>
              <a:schemeClr val="accent2"/>
            </a:solidFill>
            <a:prstDash val="solid"/>
          </a:ln>
        </p:spPr>
      </p:sp>
      <p:sp>
        <p:nvSpPr>
          <p:cNvPr id="9" name="Point 2 tick"/>
          <p:cNvSpPr txBox="1"/>
          <p:nvPr/>
        </p:nvSpPr>
        <p:spPr>
          <a:xfrm>
            <a:off x="731520" y="2807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Point 2 text"/>
          <p:cNvSpPr txBox="1"/>
          <p:nvPr/>
        </p:nvSpPr>
        <p:spPr>
          <a:xfrm>
            <a:off x="1463040" y="2560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The underwriting assistant gives a first read. The underwriter makes every decision.</a:t>
            </a:r>
            <a:endParaRPr lang="en-US" sz="1800" dirty="0"/>
          </a:p>
        </p:txBody>
      </p:sp>
      <p:sp>
        <p:nvSpPr>
          <p:cNvPr id="11" name="Point 3"/>
          <p:cNvSpPr/>
          <p:nvPr/>
        </p:nvSpPr>
        <p:spPr>
          <a:xfrm>
            <a:off x="457200" y="3703320"/>
            <a:ext cx="11247120" cy="960120"/>
          </a:xfrm>
          <a:prstGeom prst="roundRect">
            <a:avLst>
              <a:gd name="adj" fmla="val 7619"/>
            </a:avLst>
          </a:prstGeom>
          <a:solidFill>
            <a:schemeClr val="bg1"/>
          </a:solidFill>
          <a:ln w="12700">
            <a:solidFill>
              <a:srgbClr val="DDE7E5"/>
            </a:solidFill>
            <a:prstDash val="solid"/>
          </a:ln>
        </p:spPr>
      </p:sp>
      <p:sp>
        <p:nvSpPr>
          <p:cNvPr id="12" name="Point 3 marker"/>
          <p:cNvSpPr/>
          <p:nvPr/>
        </p:nvSpPr>
        <p:spPr>
          <a:xfrm>
            <a:off x="731520" y="3950208"/>
            <a:ext cx="457200" cy="457200"/>
          </a:xfrm>
          <a:prstGeom prst="ellipse">
            <a:avLst/>
          </a:prstGeom>
          <a:solidFill>
            <a:schemeClr val="accent2"/>
          </a:solidFill>
          <a:ln w="12700">
            <a:solidFill>
              <a:schemeClr val="accent2"/>
            </a:solidFill>
            <a:prstDash val="solid"/>
          </a:ln>
        </p:spPr>
      </p:sp>
      <p:sp>
        <p:nvSpPr>
          <p:cNvPr id="13" name="Point 3 tick"/>
          <p:cNvSpPr txBox="1"/>
          <p:nvPr/>
        </p:nvSpPr>
        <p:spPr>
          <a:xfrm>
            <a:off x="731520" y="3950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Point 3 text"/>
          <p:cNvSpPr txBox="1"/>
          <p:nvPr/>
        </p:nvSpPr>
        <p:spPr>
          <a:xfrm>
            <a:off x="1463040" y="3703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Copy into V13 fills the rating worksheet without retyping.</a:t>
            </a:r>
            <a:endParaRPr lang="en-US" sz="1800" dirty="0"/>
          </a:p>
        </p:txBody>
      </p:sp>
      <p:sp>
        <p:nvSpPr>
          <p:cNvPr id="15" name="Point 4"/>
          <p:cNvSpPr/>
          <p:nvPr/>
        </p:nvSpPr>
        <p:spPr>
          <a:xfrm>
            <a:off x="457200" y="4846320"/>
            <a:ext cx="11247120" cy="960120"/>
          </a:xfrm>
          <a:prstGeom prst="roundRect">
            <a:avLst>
              <a:gd name="adj" fmla="val 7619"/>
            </a:avLst>
          </a:prstGeom>
          <a:solidFill>
            <a:schemeClr val="bg1"/>
          </a:solidFill>
          <a:ln w="12700">
            <a:solidFill>
              <a:srgbClr val="DDE7E5"/>
            </a:solidFill>
            <a:prstDash val="solid"/>
          </a:ln>
        </p:spPr>
      </p:sp>
      <p:sp>
        <p:nvSpPr>
          <p:cNvPr id="16" name="Point 4 marker"/>
          <p:cNvSpPr/>
          <p:nvPr/>
        </p:nvSpPr>
        <p:spPr>
          <a:xfrm>
            <a:off x="731520" y="5093208"/>
            <a:ext cx="457200" cy="457200"/>
          </a:xfrm>
          <a:prstGeom prst="ellipse">
            <a:avLst/>
          </a:prstGeom>
          <a:solidFill>
            <a:schemeClr val="accent2"/>
          </a:solidFill>
          <a:ln w="12700">
            <a:solidFill>
              <a:schemeClr val="accent2"/>
            </a:solidFill>
            <a:prstDash val="solid"/>
          </a:ln>
        </p:spPr>
      </p:sp>
      <p:sp>
        <p:nvSpPr>
          <p:cNvPr id="17" name="Point 4 tick"/>
          <p:cNvSpPr txBox="1"/>
          <p:nvPr/>
        </p:nvSpPr>
        <p:spPr>
          <a:xfrm>
            <a:off x="731520" y="5093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Point 4 text"/>
          <p:cNvSpPr txBox="1"/>
          <p:nvPr/>
        </p:nvSpPr>
        <p:spPr>
          <a:xfrm>
            <a:off x="1463040" y="4846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Approve broker access from Access requests; the broker gets a welcome email and the guide.</a:t>
            </a:r>
            <a:endParaRPr lang="en-US" sz="18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Otta">
  <a:themeElements>
    <a:clrScheme name="Otta">
      <a:dk1>
        <a:srgbClr val="303133"/>
      </a:dk1>
      <a:lt1>
        <a:srgbClr val="FFFFFF"/>
      </a:lt1>
      <a:dk2>
        <a:srgbClr val="014C69"/>
      </a:dk2>
      <a:lt2>
        <a:srgbClr val="F2F7F6"/>
      </a:lt2>
      <a:accent1>
        <a:srgbClr val="2E7D74"/>
      </a:accent1>
      <a:accent2>
        <a:srgbClr val="61B9AD"/>
      </a:accent2>
      <a:accent3>
        <a:srgbClr val="5E008D"/>
      </a:accent3>
      <a:accent4>
        <a:srgbClr val="014C69"/>
      </a:accent4>
      <a:accent5>
        <a:srgbClr val="E8F4F2"/>
      </a:accent5>
      <a:accent6>
        <a:srgbClr val="F1E6F7"/>
      </a:accent6>
      <a:hlink>
        <a:srgbClr val="2E7D74"/>
      </a:hlink>
      <a:folHlink>
        <a:srgbClr val="5E008D"/>
      </a:folHlink>
    </a:clrScheme>
    <a:fontScheme name="Ott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Otta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Otta admin portal</dc:title>
  <dc:subject>PptxGenJS Presentation</dc:subject>
  <dc:creator>Otta</dc:creator>
  <cp:lastModifiedBy>Otta</cp:lastModifiedBy>
  <cp:revision>1</cp:revision>
  <dcterms:created xsi:type="dcterms:W3CDTF">2026-10-14T22:18:04Z</dcterms:created>
  <dcterms:modified xsi:type="dcterms:W3CDTF">2026-10-14T22:18:04Z</dcterms:modified>
</cp:coreProperties>
</file>