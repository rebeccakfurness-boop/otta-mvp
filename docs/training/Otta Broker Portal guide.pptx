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eabb33-c8a3-233e-6987-885f4b5a5c6d}">
          <p14:sldIdLst>
            <p14:sldId id="257"/>
          </p14:sldIdLst>
        </p14:section>
        <p14:section name="Signing in" id="{9c7c3d2f-c141-b441-0db7-af8fc3697d94}">
          <p14:sldIdLst>
            <p14:sldId id="258"/>
            <p14:sldId id="259"/>
            <p14:sldId id="260"/>
          </p14:sldIdLst>
        </p14:section>
        <p14:section name="Your dashboard" id="{36ce644a-89cb-beb2-08c8-7f0288835de8}">
          <p14:sldIdLst>
            <p14:sldId id="261"/>
            <p14:sldId id="262"/>
          </p14:sldIdLst>
        </p14:section>
        <p14:section name="Applying for cover" id="{5c9e63bb-886c-0f63-3db6-8f51869e922d}">
          <p14:sldIdLst>
            <p14:sldId id="263"/>
            <p14:sldId id="264"/>
            <p14:sldId id="265"/>
            <p14:sldId id="266"/>
            <p14:sldId id="267"/>
            <p14:sldId id="268"/>
          </p14:sldIdLst>
        </p14:section>
        <p14:section name="Quotes and policies" id="{719f8fe4-d5d6-66f3-da00-72ba4f0c57fa}">
          <p14:sldIdLst>
            <p14:sldId id="269"/>
            <p14:sldId id="270"/>
            <p14:sldId id="271"/>
          </p14:sldIdLst>
        </p14:section>
        <p14:section name="Help when you need it" id="{5628853b-5606-5a74-fb69-aa0fe266f8f5}">
          <p14:sldIdLst>
            <p14:sldId id="272"/>
            <p14:sldId id="273"/>
          </p14:sldIdLst>
        </p14:section>
        <p14:section name="Summary" id="{45629b57-6e34-1f78-8033-29979dc6bff8}">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Otta Broker Portal. Your guide to getting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in five steps. 1. Set your password: Use the link in your welcome email. It works for 7 days. 2. Find your way around: Your dashboard shows quotes, policies and renewals at a glance. 3. Complete or send a form: Fill it in online, or send your client a secure link. 4. Track it: See every application and quote, and bind accepted quotes. 5. Ask us anything: Help &amp; contact puts you straight through to the underwriters.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Signing in. Your account is ready. Here's how to get in, now and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welcome email has a link to set your password. It works for 7 days. If it has expired, email yourself a sign-in link from the sign-in page or ask us to resend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at the broker portal with your email and password, or with your Microsoft or Google work account. If you forget your password, ask for a sign-in link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dashboard. Everything you have with Otta,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dashboard shows your open quote requests, active policies and renewals due in the next 60 days, with shortcuts to the forms you'll use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for cover. Complete a form yourself, or send it to your client to fill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holds every Otta form, grouped by product. Online forms are listed first, and any PDF only forms can be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sections in any order. Download a PDF copy whenever you like. When you submit, it goes straight to the underwriting team and appears in your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 form offers several cover options, the question mark explains each one and links to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form, then add your client's details. We email them a secure link that works for 30 days. When they submit, it comes straight to Otta and shows in your Applications. Leave the email blank to copy the link and send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shows everything you and your clients have sent us, and every link you've sent with its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and policies. From quote to bound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 client accepts a quote, open it and instruct us to bind. Choose the inception date and confirm acceptance. We'll confirm cover and send the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lists every policy you have with Otta, with expiry dates. Renewals due soon also show on your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when you need it. You talk directly to the underwriters who make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and contact lists each team's email address and our phone number. Colleagues can request their own account from the Request access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here to help. Call us on 0800 003 545. Email hello@ottainsurance.co.nz, or the team listed under Help &amp; contact. Claims: claims@ottainsurance.co.nz. Thanks for choosing Otta. We look forward to working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tta title">
    <p:bg>
      <p:bgPr>
        <a:solidFill>
          <a:schemeClr val="tx2"/>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731520" y="640080"/>
            <a:ext cx="1737360" cy="649224"/>
          </a:xfrm>
          <a:prstGeom prst="rect">
            <a:avLst/>
          </a:prstGeom>
        </p:spPr>
      </p:pic>
      <p:sp>
        <p:nvSpPr>
          <p:cNvPr id="3" name="Shape 0"/>
          <p:cNvSpPr/>
          <p:nvPr/>
        </p:nvSpPr>
        <p:spPr>
          <a:xfrm>
            <a:off x="731520" y="2788920"/>
            <a:ext cx="1097280" cy="73152"/>
          </a:xfrm>
          <a:prstGeom prst="rect">
            <a:avLst/>
          </a:prstGeom>
          <a:solidFill>
            <a:schemeClr val="accent2"/>
          </a:solidFill>
          <a:ln/>
        </p:spPr>
      </p:sp>
      <p:sp>
        <p:nvSpPr>
          <p:cNvPr id="4" name="Text 1"/>
          <p:cNvSpPr/>
          <p:nvPr>
            <p:ph idx="102" type="title" hasCustomPrompt="1"/>
          </p:nvPr>
        </p:nvSpPr>
        <p:spPr>
          <a:xfrm>
            <a:off x="731520" y="3017520"/>
            <a:ext cx="10058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731520" y="4434840"/>
            <a:ext cx="91440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6" name="Text 1"/>
          <p:cNvSpPr/>
          <p:nvPr>
            <p:ph idx="104" type="body" hasCustomPrompt="1"/>
          </p:nvPr>
        </p:nvSpPr>
        <p:spPr>
          <a:xfrm>
            <a:off x="731520" y="5852160"/>
            <a:ext cx="7315200"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tta section">
    <p:bg>
      <p:bgPr>
        <a:solidFill>
          <a:schemeClr val="accent1"/>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10607040" y="411480"/>
            <a:ext cx="1143000" cy="429768"/>
          </a:xfrm>
          <a:prstGeom prst="rect">
            <a:avLst/>
          </a:prstGeom>
        </p:spPr>
      </p:pic>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0"/>
          <p:cNvSpPr/>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chemeClr val="bg1"/>
                </a:solidFill>
              </a:rPr>
              <a:t>Otta  |  Welcome to the Otta Broker Portal</a:t>
            </a:r>
            <a:endParaRPr lang="en-US" sz="1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tta content">
    <p:bg>
      <p:bgPr>
        <a:solidFill>
          <a:schemeClr val="bg2"/>
        </a:solidFill>
      </p:bgPr>
    </p:bg>
    <p:spTree>
      <p:nvGrpSpPr>
        <p:cNvPr id="1" name=""/>
        <p:cNvGrpSpPr/>
        <p:nvPr/>
      </p:nvGrpSpPr>
      <p:grpSpPr>
        <a:xfrm>
          <a:off x="0" y="0"/>
          <a:ext cx="0" cy="0"/>
          <a:chOff x="0" y="0"/>
          <a:chExt cx="0" cy="0"/>
        </a:xfrm>
      </p:grpSpPr>
      <p:pic>
        <p:nvPicPr>
          <p:cNvPr id="2" name="Image 0" descr="/home/user/otta-MVP/public/brand/otta-logo.png">    </p:cNvPr>
          <p:cNvPicPr>
            <a:picLocks noChangeAspect="1"/>
          </p:cNvPicPr>
          <p:nvPr/>
        </p:nvPicPr>
        <p:blipFill>
          <a:blip r:embed="rId1"/>
          <a:stretch>
            <a:fillRect/>
          </a:stretch>
        </p:blipFill>
        <p:spPr>
          <a:xfrm>
            <a:off x="10835640" y="347472"/>
            <a:ext cx="914400" cy="338328"/>
          </a:xfrm>
          <a:prstGeom prst="rect">
            <a:avLst/>
          </a:prstGeom>
        </p:spPr>
      </p:pic>
      <p:sp>
        <p:nvSpPr>
          <p:cNvPr id="3" name="Text 0"/>
          <p:cNvSpPr/>
          <p:nvPr>
            <p:ph idx="101" type="title" hasCustomPrompt="1"/>
          </p:nvPr>
        </p:nvSpPr>
        <p:spPr>
          <a:xfrm>
            <a:off x="457200" y="2743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6E72"/>
                </a:solidFill>
              </a:rPr>
              <a:t>Otta  |  Welcome to the Otta Broker Portal</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058400" cy="1371600"/>
          </a:xfrm>
          <a:prstGeom prst="rect">
            <a:avLst/>
          </a:prstGeom>
          <a:noFill/>
          <a:ln/>
        </p:spPr>
        <p:txBody>
          <a:bodyPr wrap="square" lIns="0" tIns="0" rIns="0" bIns="0" rtlCol="0" anchor="t"/>
          <a:lstStyle/>
          <a:p>
            <a:pPr algn="l" indent="0" marL="0">
              <a:buNone/>
            </a:pPr>
            <a:r>
              <a:rPr lang="en-US" sz="4400" b="1" dirty="0">
                <a:solidFill>
                  <a:schemeClr val="bg1"/>
                </a:solidFill>
              </a:rPr>
              <a:t>Welcome to the Otta Broker Portal</a:t>
            </a:r>
            <a:endParaRPr lang="en-US" sz="4400" dirty="0"/>
          </a:p>
        </p:txBody>
      </p:sp>
      <p:sp>
        <p:nvSpPr>
          <p:cNvPr id="3" name="Text 1"/>
          <p:cNvSpPr/>
          <p:nvPr>
            <p:ph idx="103" type="body" hasCustomPrompt="1"/>
          </p:nvPr>
        </p:nvSpPr>
        <p:spPr>
          <a:xfrm>
            <a:off x="731520" y="4434840"/>
            <a:ext cx="9144000" cy="822960"/>
          </a:xfrm>
          <a:prstGeom prst="rect">
            <a:avLst/>
          </a:prstGeom>
          <a:noFill/>
          <a:ln/>
        </p:spPr>
        <p:txBody>
          <a:bodyPr wrap="square" lIns="0" tIns="0" rIns="0" bIns="0" rtlCol="0" anchor="t"/>
          <a:lstStyle/>
          <a:p>
            <a:pPr algn="l" indent="0" marL="0">
              <a:buNone/>
            </a:pPr>
            <a:r>
              <a:rPr lang="en-US" sz="2000" dirty="0">
                <a:solidFill>
                  <a:schemeClr val="bg1"/>
                </a:solidFill>
              </a:rPr>
              <a:t>Your guide to getting started</a:t>
            </a:r>
            <a:endParaRPr lang="en-US" sz="2000" dirty="0"/>
          </a:p>
        </p:txBody>
      </p:sp>
      <p:sp>
        <p:nvSpPr>
          <p:cNvPr id="4" name="Text 1"/>
          <p:cNvSpPr/>
          <p:nvPr>
            <p:ph idx="104" type="body" hasCustomPrompt="1"/>
          </p:nvPr>
        </p:nvSpPr>
        <p:spPr>
          <a:xfrm>
            <a:off x="731520" y="5852160"/>
            <a:ext cx="7315200" cy="365760"/>
          </a:xfrm>
          <a:prstGeom prst="rect">
            <a:avLst/>
          </a:prstGeom>
          <a:noFill/>
          <a:ln/>
        </p:spPr>
        <p:txBody>
          <a:bodyPr wrap="square" lIns="0" tIns="0" rIns="0" bIns="0" rtlCol="0"/>
          <a:lstStyle/>
          <a:p>
            <a:pPr algn="l" indent="0" marL="0">
              <a:buNone/>
            </a:pPr>
            <a:r>
              <a:rPr lang="en-US" sz="1300" b="1" spc="200" kern="0" dirty="0">
                <a:solidFill>
                  <a:schemeClr val="accent2"/>
                </a:solidFill>
              </a:rPr>
              <a:t>FOR BROKERS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Getting started in five steps</a:t>
            </a:r>
            <a:endParaRPr lang="en-US" sz="2800" dirty="0"/>
          </a:p>
        </p:txBody>
      </p:sp>
      <p:sp>
        <p:nvSpPr>
          <p:cNvPr id="3" name="Card 1"/>
          <p:cNvSpPr/>
          <p:nvPr/>
        </p:nvSpPr>
        <p:spPr>
          <a:xfrm>
            <a:off x="457200" y="1280160"/>
            <a:ext cx="3566160" cy="2331720"/>
          </a:xfrm>
          <a:prstGeom prst="roundRect">
            <a:avLst>
              <a:gd name="adj" fmla="val 3137"/>
            </a:avLst>
          </a:prstGeom>
          <a:solidFill>
            <a:schemeClr val="bg1"/>
          </a:solidFill>
          <a:ln w="12700">
            <a:solidFill>
              <a:srgbClr val="DDE7E5"/>
            </a:solidFill>
            <a:prstDash val="solid"/>
          </a:ln>
        </p:spPr>
      </p:sp>
      <p:sp>
        <p:nvSpPr>
          <p:cNvPr id="4" name="Card 1 marker"/>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Card 1 number"/>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ard 1 heading"/>
          <p:cNvSpPr txBox="1"/>
          <p:nvPr/>
        </p:nvSpPr>
        <p:spPr>
          <a:xfrm>
            <a:off x="1463040" y="1554480"/>
            <a:ext cx="2286000" cy="594360"/>
          </a:xfrm>
          <a:prstGeom prst="rect">
            <a:avLst/>
          </a:prstGeom>
          <a:noFill/>
          <a:ln/>
        </p:spPr>
        <p:txBody>
          <a:bodyPr wrap="square" lIns="0" tIns="0" rIns="0" bIns="0" rtlCol="0" anchor="ctr"/>
          <a:lstStyle/>
          <a:p>
            <a:pPr indent="0" marL="0">
              <a:buNone/>
            </a:pPr>
            <a:r>
              <a:rPr lang="en-US" sz="1900" b="1" dirty="0">
                <a:solidFill>
                  <a:schemeClr val="tx2"/>
                </a:solidFill>
              </a:rPr>
              <a:t>Set your password</a:t>
            </a:r>
            <a:endParaRPr lang="en-US" sz="1900" dirty="0"/>
          </a:p>
        </p:txBody>
      </p:sp>
      <p:sp>
        <p:nvSpPr>
          <p:cNvPr id="7" name="Card 1 text"/>
          <p:cNvSpPr txBox="1"/>
          <p:nvPr/>
        </p:nvSpPr>
        <p:spPr>
          <a:xfrm>
            <a:off x="1463040" y="2194560"/>
            <a:ext cx="2286000" cy="1188720"/>
          </a:xfrm>
          <a:prstGeom prst="rect">
            <a:avLst/>
          </a:prstGeom>
          <a:noFill/>
          <a:ln/>
        </p:spPr>
        <p:txBody>
          <a:bodyPr wrap="square" lIns="0" tIns="0" rIns="0" bIns="0" rtlCol="0" anchor="t"/>
          <a:lstStyle/>
          <a:p>
            <a:pPr indent="0" marL="0">
              <a:buNone/>
            </a:pPr>
            <a:r>
              <a:rPr lang="en-US" sz="1500" dirty="0">
                <a:solidFill>
                  <a:schemeClr val="tx1"/>
                </a:solidFill>
              </a:rPr>
              <a:t>Use the link in your welcome email. It works for 7 days.</a:t>
            </a:r>
            <a:endParaRPr lang="en-US" sz="1500" dirty="0"/>
          </a:p>
        </p:txBody>
      </p:sp>
      <p:sp>
        <p:nvSpPr>
          <p:cNvPr id="8" name="Card 2"/>
          <p:cNvSpPr/>
          <p:nvPr/>
        </p:nvSpPr>
        <p:spPr>
          <a:xfrm>
            <a:off x="4297680" y="1280160"/>
            <a:ext cx="3566160" cy="2331720"/>
          </a:xfrm>
          <a:prstGeom prst="roundRect">
            <a:avLst>
              <a:gd name="adj" fmla="val 3137"/>
            </a:avLst>
          </a:prstGeom>
          <a:solidFill>
            <a:schemeClr val="bg1"/>
          </a:solidFill>
          <a:ln w="12700">
            <a:solidFill>
              <a:srgbClr val="DDE7E5"/>
            </a:solidFill>
            <a:prstDash val="solid"/>
          </a:ln>
        </p:spPr>
      </p:sp>
      <p:sp>
        <p:nvSpPr>
          <p:cNvPr id="9" name="Card 2 marker"/>
          <p:cNvSpPr/>
          <p:nvPr/>
        </p:nvSpPr>
        <p:spPr>
          <a:xfrm>
            <a:off x="4617720" y="1600200"/>
            <a:ext cx="502920" cy="502920"/>
          </a:xfrm>
          <a:prstGeom prst="ellipse">
            <a:avLst/>
          </a:prstGeom>
          <a:solidFill>
            <a:schemeClr val="accent1"/>
          </a:solidFill>
          <a:ln w="12700">
            <a:solidFill>
              <a:schemeClr val="accent1"/>
            </a:solidFill>
            <a:prstDash val="solid"/>
          </a:ln>
        </p:spPr>
      </p:sp>
      <p:sp>
        <p:nvSpPr>
          <p:cNvPr id="10" name="Card 2 number"/>
          <p:cNvSpPr txBox="1"/>
          <p:nvPr/>
        </p:nvSpPr>
        <p:spPr>
          <a:xfrm>
            <a:off x="461772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Card 2 heading"/>
          <p:cNvSpPr txBox="1"/>
          <p:nvPr/>
        </p:nvSpPr>
        <p:spPr>
          <a:xfrm>
            <a:off x="5303520" y="1554480"/>
            <a:ext cx="2286000" cy="594360"/>
          </a:xfrm>
          <a:prstGeom prst="rect">
            <a:avLst/>
          </a:prstGeom>
          <a:noFill/>
          <a:ln/>
        </p:spPr>
        <p:txBody>
          <a:bodyPr wrap="square" lIns="0" tIns="0" rIns="0" bIns="0" rtlCol="0" anchor="ctr"/>
          <a:lstStyle/>
          <a:p>
            <a:pPr indent="0" marL="0">
              <a:buNone/>
            </a:pPr>
            <a:r>
              <a:rPr lang="en-US" sz="1900" b="1" dirty="0">
                <a:solidFill>
                  <a:schemeClr val="tx2"/>
                </a:solidFill>
              </a:rPr>
              <a:t>Find your way around</a:t>
            </a:r>
            <a:endParaRPr lang="en-US" sz="1900" dirty="0"/>
          </a:p>
        </p:txBody>
      </p:sp>
      <p:sp>
        <p:nvSpPr>
          <p:cNvPr id="12" name="Card 2 text"/>
          <p:cNvSpPr txBox="1"/>
          <p:nvPr/>
        </p:nvSpPr>
        <p:spPr>
          <a:xfrm>
            <a:off x="5303520" y="2194560"/>
            <a:ext cx="2286000" cy="1188720"/>
          </a:xfrm>
          <a:prstGeom prst="rect">
            <a:avLst/>
          </a:prstGeom>
          <a:noFill/>
          <a:ln/>
        </p:spPr>
        <p:txBody>
          <a:bodyPr wrap="square" lIns="0" tIns="0" rIns="0" bIns="0" rtlCol="0" anchor="t"/>
          <a:lstStyle/>
          <a:p>
            <a:pPr indent="0" marL="0">
              <a:buNone/>
            </a:pPr>
            <a:r>
              <a:rPr lang="en-US" sz="1500" dirty="0">
                <a:solidFill>
                  <a:schemeClr val="tx1"/>
                </a:solidFill>
              </a:rPr>
              <a:t>Your dashboard shows quotes, policies and renewals at a glance.</a:t>
            </a:r>
            <a:endParaRPr lang="en-US" sz="1500" dirty="0"/>
          </a:p>
        </p:txBody>
      </p:sp>
      <p:sp>
        <p:nvSpPr>
          <p:cNvPr id="13" name="Card 3"/>
          <p:cNvSpPr/>
          <p:nvPr/>
        </p:nvSpPr>
        <p:spPr>
          <a:xfrm>
            <a:off x="8138160" y="1280160"/>
            <a:ext cx="3566160" cy="2331720"/>
          </a:xfrm>
          <a:prstGeom prst="roundRect">
            <a:avLst>
              <a:gd name="adj" fmla="val 3137"/>
            </a:avLst>
          </a:prstGeom>
          <a:solidFill>
            <a:schemeClr val="bg1"/>
          </a:solidFill>
          <a:ln w="12700">
            <a:solidFill>
              <a:srgbClr val="DDE7E5"/>
            </a:solidFill>
            <a:prstDash val="solid"/>
          </a:ln>
        </p:spPr>
      </p:sp>
      <p:sp>
        <p:nvSpPr>
          <p:cNvPr id="14" name="Card 3 marker"/>
          <p:cNvSpPr/>
          <p:nvPr/>
        </p:nvSpPr>
        <p:spPr>
          <a:xfrm>
            <a:off x="8458200" y="1600200"/>
            <a:ext cx="502920" cy="502920"/>
          </a:xfrm>
          <a:prstGeom prst="ellipse">
            <a:avLst/>
          </a:prstGeom>
          <a:solidFill>
            <a:schemeClr val="accent1"/>
          </a:solidFill>
          <a:ln w="12700">
            <a:solidFill>
              <a:schemeClr val="accent1"/>
            </a:solidFill>
            <a:prstDash val="solid"/>
          </a:ln>
        </p:spPr>
      </p:sp>
      <p:sp>
        <p:nvSpPr>
          <p:cNvPr id="15" name="Card 3 number"/>
          <p:cNvSpPr txBox="1"/>
          <p:nvPr/>
        </p:nvSpPr>
        <p:spPr>
          <a:xfrm>
            <a:off x="845820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Card 3 heading"/>
          <p:cNvSpPr txBox="1"/>
          <p:nvPr/>
        </p:nvSpPr>
        <p:spPr>
          <a:xfrm>
            <a:off x="9144000" y="1554480"/>
            <a:ext cx="2286000" cy="594360"/>
          </a:xfrm>
          <a:prstGeom prst="rect">
            <a:avLst/>
          </a:prstGeom>
          <a:noFill/>
          <a:ln/>
        </p:spPr>
        <p:txBody>
          <a:bodyPr wrap="square" lIns="0" tIns="0" rIns="0" bIns="0" rtlCol="0" anchor="ctr"/>
          <a:lstStyle/>
          <a:p>
            <a:pPr indent="0" marL="0">
              <a:buNone/>
            </a:pPr>
            <a:r>
              <a:rPr lang="en-US" sz="1900" b="1" dirty="0">
                <a:solidFill>
                  <a:schemeClr val="tx2"/>
                </a:solidFill>
              </a:rPr>
              <a:t>Complete or send a form</a:t>
            </a:r>
            <a:endParaRPr lang="en-US" sz="1900" dirty="0"/>
          </a:p>
        </p:txBody>
      </p:sp>
      <p:sp>
        <p:nvSpPr>
          <p:cNvPr id="17" name="Card 3 text"/>
          <p:cNvSpPr txBox="1"/>
          <p:nvPr/>
        </p:nvSpPr>
        <p:spPr>
          <a:xfrm>
            <a:off x="9144000" y="2194560"/>
            <a:ext cx="2286000" cy="1188720"/>
          </a:xfrm>
          <a:prstGeom prst="rect">
            <a:avLst/>
          </a:prstGeom>
          <a:noFill/>
          <a:ln/>
        </p:spPr>
        <p:txBody>
          <a:bodyPr wrap="square" lIns="0" tIns="0" rIns="0" bIns="0" rtlCol="0" anchor="t"/>
          <a:lstStyle/>
          <a:p>
            <a:pPr indent="0" marL="0">
              <a:buNone/>
            </a:pPr>
            <a:r>
              <a:rPr lang="en-US" sz="1500" dirty="0">
                <a:solidFill>
                  <a:schemeClr val="tx1"/>
                </a:solidFill>
              </a:rPr>
              <a:t>Fill it in online, or send your client a secure link.</a:t>
            </a:r>
            <a:endParaRPr lang="en-US" sz="1500" dirty="0"/>
          </a:p>
        </p:txBody>
      </p:sp>
      <p:sp>
        <p:nvSpPr>
          <p:cNvPr id="18" name="Card 4"/>
          <p:cNvSpPr/>
          <p:nvPr/>
        </p:nvSpPr>
        <p:spPr>
          <a:xfrm>
            <a:off x="457200" y="3886200"/>
            <a:ext cx="3566160" cy="2331720"/>
          </a:xfrm>
          <a:prstGeom prst="roundRect">
            <a:avLst>
              <a:gd name="adj" fmla="val 3137"/>
            </a:avLst>
          </a:prstGeom>
          <a:solidFill>
            <a:schemeClr val="bg1"/>
          </a:solidFill>
          <a:ln w="12700">
            <a:solidFill>
              <a:srgbClr val="DDE7E5"/>
            </a:solidFill>
            <a:prstDash val="solid"/>
          </a:ln>
        </p:spPr>
      </p:sp>
      <p:sp>
        <p:nvSpPr>
          <p:cNvPr id="19" name="Card 4 marker"/>
          <p:cNvSpPr/>
          <p:nvPr/>
        </p:nvSpPr>
        <p:spPr>
          <a:xfrm>
            <a:off x="777240" y="4206240"/>
            <a:ext cx="502920" cy="502920"/>
          </a:xfrm>
          <a:prstGeom prst="ellipse">
            <a:avLst/>
          </a:prstGeom>
          <a:solidFill>
            <a:schemeClr val="accent1"/>
          </a:solidFill>
          <a:ln w="12700">
            <a:solidFill>
              <a:schemeClr val="accent1"/>
            </a:solidFill>
            <a:prstDash val="solid"/>
          </a:ln>
        </p:spPr>
      </p:sp>
      <p:sp>
        <p:nvSpPr>
          <p:cNvPr id="20" name="Card 4 number"/>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Card 4 heading"/>
          <p:cNvSpPr txBox="1"/>
          <p:nvPr/>
        </p:nvSpPr>
        <p:spPr>
          <a:xfrm>
            <a:off x="1463040" y="4160520"/>
            <a:ext cx="2286000" cy="594360"/>
          </a:xfrm>
          <a:prstGeom prst="rect">
            <a:avLst/>
          </a:prstGeom>
          <a:noFill/>
          <a:ln/>
        </p:spPr>
        <p:txBody>
          <a:bodyPr wrap="square" lIns="0" tIns="0" rIns="0" bIns="0" rtlCol="0" anchor="ctr"/>
          <a:lstStyle/>
          <a:p>
            <a:pPr indent="0" marL="0">
              <a:buNone/>
            </a:pPr>
            <a:r>
              <a:rPr lang="en-US" sz="1900" b="1" dirty="0">
                <a:solidFill>
                  <a:schemeClr val="tx2"/>
                </a:solidFill>
              </a:rPr>
              <a:t>Track it</a:t>
            </a:r>
            <a:endParaRPr lang="en-US" sz="1900" dirty="0"/>
          </a:p>
        </p:txBody>
      </p:sp>
      <p:sp>
        <p:nvSpPr>
          <p:cNvPr id="22" name="Card 4 text"/>
          <p:cNvSpPr txBox="1"/>
          <p:nvPr/>
        </p:nvSpPr>
        <p:spPr>
          <a:xfrm>
            <a:off x="1463040" y="4800600"/>
            <a:ext cx="2286000" cy="1188720"/>
          </a:xfrm>
          <a:prstGeom prst="rect">
            <a:avLst/>
          </a:prstGeom>
          <a:noFill/>
          <a:ln/>
        </p:spPr>
        <p:txBody>
          <a:bodyPr wrap="square" lIns="0" tIns="0" rIns="0" bIns="0" rtlCol="0" anchor="t"/>
          <a:lstStyle/>
          <a:p>
            <a:pPr indent="0" marL="0">
              <a:buNone/>
            </a:pPr>
            <a:r>
              <a:rPr lang="en-US" sz="1500" dirty="0">
                <a:solidFill>
                  <a:schemeClr val="tx1"/>
                </a:solidFill>
              </a:rPr>
              <a:t>See every application and quote, and bind accepted quotes.</a:t>
            </a:r>
            <a:endParaRPr lang="en-US" sz="1500" dirty="0"/>
          </a:p>
        </p:txBody>
      </p:sp>
      <p:sp>
        <p:nvSpPr>
          <p:cNvPr id="23" name="Card 5"/>
          <p:cNvSpPr/>
          <p:nvPr/>
        </p:nvSpPr>
        <p:spPr>
          <a:xfrm>
            <a:off x="4297680" y="3886200"/>
            <a:ext cx="3566160" cy="2331720"/>
          </a:xfrm>
          <a:prstGeom prst="roundRect">
            <a:avLst>
              <a:gd name="adj" fmla="val 3137"/>
            </a:avLst>
          </a:prstGeom>
          <a:solidFill>
            <a:schemeClr val="bg1"/>
          </a:solidFill>
          <a:ln w="12700">
            <a:solidFill>
              <a:srgbClr val="DDE7E5"/>
            </a:solidFill>
            <a:prstDash val="solid"/>
          </a:ln>
        </p:spPr>
      </p:sp>
      <p:sp>
        <p:nvSpPr>
          <p:cNvPr id="24" name="Card 5 marker"/>
          <p:cNvSpPr/>
          <p:nvPr/>
        </p:nvSpPr>
        <p:spPr>
          <a:xfrm>
            <a:off x="4617720" y="4206240"/>
            <a:ext cx="502920" cy="502920"/>
          </a:xfrm>
          <a:prstGeom prst="ellipse">
            <a:avLst/>
          </a:prstGeom>
          <a:solidFill>
            <a:schemeClr val="accent1"/>
          </a:solidFill>
          <a:ln w="12700">
            <a:solidFill>
              <a:schemeClr val="accent1"/>
            </a:solidFill>
            <a:prstDash val="solid"/>
          </a:ln>
        </p:spPr>
      </p:sp>
      <p:sp>
        <p:nvSpPr>
          <p:cNvPr id="25" name="Card 5 number"/>
          <p:cNvSpPr txBox="1"/>
          <p:nvPr/>
        </p:nvSpPr>
        <p:spPr>
          <a:xfrm>
            <a:off x="461772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Card 5 heading"/>
          <p:cNvSpPr txBox="1"/>
          <p:nvPr/>
        </p:nvSpPr>
        <p:spPr>
          <a:xfrm>
            <a:off x="5303520" y="4160520"/>
            <a:ext cx="2286000" cy="594360"/>
          </a:xfrm>
          <a:prstGeom prst="rect">
            <a:avLst/>
          </a:prstGeom>
          <a:noFill/>
          <a:ln/>
        </p:spPr>
        <p:txBody>
          <a:bodyPr wrap="square" lIns="0" tIns="0" rIns="0" bIns="0" rtlCol="0" anchor="ctr"/>
          <a:lstStyle/>
          <a:p>
            <a:pPr indent="0" marL="0">
              <a:buNone/>
            </a:pPr>
            <a:r>
              <a:rPr lang="en-US" sz="1900" b="1" dirty="0">
                <a:solidFill>
                  <a:schemeClr val="tx2"/>
                </a:solidFill>
              </a:rPr>
              <a:t>Ask us anything</a:t>
            </a:r>
            <a:endParaRPr lang="en-US" sz="1900" dirty="0"/>
          </a:p>
        </p:txBody>
      </p:sp>
      <p:sp>
        <p:nvSpPr>
          <p:cNvPr id="27" name="Card 5 text"/>
          <p:cNvSpPr txBox="1"/>
          <p:nvPr/>
        </p:nvSpPr>
        <p:spPr>
          <a:xfrm>
            <a:off x="5303520" y="4800600"/>
            <a:ext cx="2286000" cy="1188720"/>
          </a:xfrm>
          <a:prstGeom prst="rect">
            <a:avLst/>
          </a:prstGeom>
          <a:noFill/>
          <a:ln/>
        </p:spPr>
        <p:txBody>
          <a:bodyPr wrap="square" lIns="0" tIns="0" rIns="0" bIns="0" rtlCol="0" anchor="t"/>
          <a:lstStyle/>
          <a:p>
            <a:pPr indent="0" marL="0">
              <a:buNone/>
            </a:pPr>
            <a:r>
              <a:rPr lang="en-US" sz="1500" dirty="0">
                <a:solidFill>
                  <a:schemeClr val="tx1"/>
                </a:solidFill>
              </a:rPr>
              <a:t>Help &amp; contact puts you straight through to the underwriters.</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01</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Signing in</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Your account is ready. Here's how to get in, now and next time.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Set your password</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et your password: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the link in your welcome email.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and confirm a password.</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Set password. You're in.</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Signing in next time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igning in next tim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Your work email and password.</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Select Sign in.</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Or use your Microsoft or Google work account.</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Forgotten your password? Email yourself a sign-in link.</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Colleagues can request their own access here.</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02</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Your dashboard</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Everything you have with Otta, on one page.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Your dashboard</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Your dashboard: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menu takes you to every part of the portal.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Your open quote requests, active policies and renewals due.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Shortcuts to proposal forms, renewal declarations, claim forms and general forms.</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Sign out when you're done.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03</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Applying for cover</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Complete a form yourself, or send it to your client to fill in.</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Finding the right form</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Finding the right form: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Choose proposal forms, renewal declarations, claim forms or general forms.</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Search, or filter by product.</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Forms are grouped by product.</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Select a form to complete it online.</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Or send it to your client.</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Completing a form online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Completing a form onlin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Jump to any section.</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Each section is clearly headed.</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Fill in the answers.</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Download a PDF copy at any time.</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Submit. It goes straight to the right Otta team.</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Not sure which cover?</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Not sure which cover?: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the question mark beside an option.</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 short explanation of the cover.</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A link to the policy wording.</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Sending a form to your client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ending a form to your clien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Your client's name and email.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An optional note, added to the email.</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Create link. We email your client, and replies come back to you.</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Tracking applications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racking application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Everything sent to Otta, by you or your clients.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Links you've sent to clients, and whether they're done.</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Send another form, or fill one in online.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04</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Quotes and policies</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From quote to bound policy.</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Binding a quote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Binding a quot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Open the quote.</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Bind this quote, once your client accepts.</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Choose the inception date.</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Confirm your client has accepted the quote and terms.</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Instruct Otta to bind. We're told straight away.</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Your policies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Your polici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Search your policies.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a policy for its details and documents.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05</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Help when you need it</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You talk directly to the underwriters who make the decisions.</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Help and contact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Help and contac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Email the right team directly.</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Access for colleagues and password help.</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We're here to help</a:t>
            </a:r>
            <a:endParaRPr lang="en-US" sz="2800" dirty="0"/>
          </a:p>
        </p:txBody>
      </p:sp>
      <p:sp>
        <p:nvSpPr>
          <p:cNvPr id="3" name="Point 1"/>
          <p:cNvSpPr/>
          <p:nvPr/>
        </p:nvSpPr>
        <p:spPr>
          <a:xfrm>
            <a:off x="457200" y="1417320"/>
            <a:ext cx="11247120" cy="960120"/>
          </a:xfrm>
          <a:prstGeom prst="roundRect">
            <a:avLst>
              <a:gd name="adj" fmla="val 7619"/>
            </a:avLst>
          </a:prstGeom>
          <a:solidFill>
            <a:schemeClr val="bg1"/>
          </a:solidFill>
          <a:ln w="12700">
            <a:solidFill>
              <a:srgbClr val="DDE7E5"/>
            </a:solidFill>
            <a:prstDash val="solid"/>
          </a:ln>
        </p:spPr>
      </p:sp>
      <p:sp>
        <p:nvSpPr>
          <p:cNvPr id="4" name="Point 1 marker"/>
          <p:cNvSpPr/>
          <p:nvPr/>
        </p:nvSpPr>
        <p:spPr>
          <a:xfrm>
            <a:off x="731520" y="1664208"/>
            <a:ext cx="457200" cy="457200"/>
          </a:xfrm>
          <a:prstGeom prst="ellipse">
            <a:avLst/>
          </a:prstGeom>
          <a:solidFill>
            <a:schemeClr val="accent2"/>
          </a:solidFill>
          <a:ln w="12700">
            <a:solidFill>
              <a:schemeClr val="accent2"/>
            </a:solidFill>
            <a:prstDash val="solid"/>
          </a:ln>
        </p:spPr>
      </p:sp>
      <p:sp>
        <p:nvSpPr>
          <p:cNvPr id="5" name="Point 1 tick"/>
          <p:cNvSpPr txBox="1"/>
          <p:nvPr/>
        </p:nvSpPr>
        <p:spPr>
          <a:xfrm>
            <a:off x="731520" y="1664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Point 1 text"/>
          <p:cNvSpPr txBox="1"/>
          <p:nvPr/>
        </p:nvSpPr>
        <p:spPr>
          <a:xfrm>
            <a:off x="1463040" y="1417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Call us on 0800 003 545.</a:t>
            </a:r>
            <a:endParaRPr lang="en-US" sz="1800" dirty="0"/>
          </a:p>
        </p:txBody>
      </p:sp>
      <p:sp>
        <p:nvSpPr>
          <p:cNvPr id="7" name="Point 2"/>
          <p:cNvSpPr/>
          <p:nvPr/>
        </p:nvSpPr>
        <p:spPr>
          <a:xfrm>
            <a:off x="457200" y="2560320"/>
            <a:ext cx="11247120" cy="960120"/>
          </a:xfrm>
          <a:prstGeom prst="roundRect">
            <a:avLst>
              <a:gd name="adj" fmla="val 7619"/>
            </a:avLst>
          </a:prstGeom>
          <a:solidFill>
            <a:schemeClr val="bg1"/>
          </a:solidFill>
          <a:ln w="12700">
            <a:solidFill>
              <a:srgbClr val="DDE7E5"/>
            </a:solidFill>
            <a:prstDash val="solid"/>
          </a:ln>
        </p:spPr>
      </p:sp>
      <p:sp>
        <p:nvSpPr>
          <p:cNvPr id="8" name="Point 2 marker"/>
          <p:cNvSpPr/>
          <p:nvPr/>
        </p:nvSpPr>
        <p:spPr>
          <a:xfrm>
            <a:off x="731520" y="2807208"/>
            <a:ext cx="457200" cy="457200"/>
          </a:xfrm>
          <a:prstGeom prst="ellipse">
            <a:avLst/>
          </a:prstGeom>
          <a:solidFill>
            <a:schemeClr val="accent2"/>
          </a:solidFill>
          <a:ln w="12700">
            <a:solidFill>
              <a:schemeClr val="accent2"/>
            </a:solidFill>
            <a:prstDash val="solid"/>
          </a:ln>
        </p:spPr>
      </p:sp>
      <p:sp>
        <p:nvSpPr>
          <p:cNvPr id="9" name="Point 2 tick"/>
          <p:cNvSpPr txBox="1"/>
          <p:nvPr/>
        </p:nvSpPr>
        <p:spPr>
          <a:xfrm>
            <a:off x="73152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Point 2 text"/>
          <p:cNvSpPr txBox="1"/>
          <p:nvPr/>
        </p:nvSpPr>
        <p:spPr>
          <a:xfrm>
            <a:off x="1463040" y="2560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Email hello@ottainsurance.co.nz, or the team listed under Help &amp; contact.</a:t>
            </a:r>
            <a:endParaRPr lang="en-US" sz="1800" dirty="0"/>
          </a:p>
        </p:txBody>
      </p:sp>
      <p:sp>
        <p:nvSpPr>
          <p:cNvPr id="11" name="Point 3"/>
          <p:cNvSpPr/>
          <p:nvPr/>
        </p:nvSpPr>
        <p:spPr>
          <a:xfrm>
            <a:off x="457200" y="3703320"/>
            <a:ext cx="11247120" cy="960120"/>
          </a:xfrm>
          <a:prstGeom prst="roundRect">
            <a:avLst>
              <a:gd name="adj" fmla="val 7619"/>
            </a:avLst>
          </a:prstGeom>
          <a:solidFill>
            <a:schemeClr val="bg1"/>
          </a:solidFill>
          <a:ln w="12700">
            <a:solidFill>
              <a:srgbClr val="DDE7E5"/>
            </a:solidFill>
            <a:prstDash val="solid"/>
          </a:ln>
        </p:spPr>
      </p:sp>
      <p:sp>
        <p:nvSpPr>
          <p:cNvPr id="12" name="Point 3 marker"/>
          <p:cNvSpPr/>
          <p:nvPr/>
        </p:nvSpPr>
        <p:spPr>
          <a:xfrm>
            <a:off x="731520" y="3950208"/>
            <a:ext cx="457200" cy="457200"/>
          </a:xfrm>
          <a:prstGeom prst="ellipse">
            <a:avLst/>
          </a:prstGeom>
          <a:solidFill>
            <a:schemeClr val="accent2"/>
          </a:solidFill>
          <a:ln w="12700">
            <a:solidFill>
              <a:schemeClr val="accent2"/>
            </a:solidFill>
            <a:prstDash val="solid"/>
          </a:ln>
        </p:spPr>
      </p:sp>
      <p:sp>
        <p:nvSpPr>
          <p:cNvPr id="13" name="Point 3 tick"/>
          <p:cNvSpPr txBox="1"/>
          <p:nvPr/>
        </p:nvSpPr>
        <p:spPr>
          <a:xfrm>
            <a:off x="731520" y="3950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Point 3 text"/>
          <p:cNvSpPr txBox="1"/>
          <p:nvPr/>
        </p:nvSpPr>
        <p:spPr>
          <a:xfrm>
            <a:off x="1463040" y="3703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Claims: claims@ottainsurance.co.nz.</a:t>
            </a:r>
            <a:endParaRPr lang="en-US" sz="1800" dirty="0"/>
          </a:p>
        </p:txBody>
      </p:sp>
      <p:sp>
        <p:nvSpPr>
          <p:cNvPr id="15" name="Point 4"/>
          <p:cNvSpPr/>
          <p:nvPr/>
        </p:nvSpPr>
        <p:spPr>
          <a:xfrm>
            <a:off x="457200" y="4846320"/>
            <a:ext cx="11247120" cy="960120"/>
          </a:xfrm>
          <a:prstGeom prst="roundRect">
            <a:avLst>
              <a:gd name="adj" fmla="val 7619"/>
            </a:avLst>
          </a:prstGeom>
          <a:solidFill>
            <a:schemeClr val="bg1"/>
          </a:solidFill>
          <a:ln w="12700">
            <a:solidFill>
              <a:srgbClr val="DDE7E5"/>
            </a:solidFill>
            <a:prstDash val="solid"/>
          </a:ln>
        </p:spPr>
      </p:sp>
      <p:sp>
        <p:nvSpPr>
          <p:cNvPr id="16" name="Point 4 marker"/>
          <p:cNvSpPr/>
          <p:nvPr/>
        </p:nvSpPr>
        <p:spPr>
          <a:xfrm>
            <a:off x="731520" y="5093208"/>
            <a:ext cx="457200" cy="457200"/>
          </a:xfrm>
          <a:prstGeom prst="ellipse">
            <a:avLst/>
          </a:prstGeom>
          <a:solidFill>
            <a:schemeClr val="accent2"/>
          </a:solidFill>
          <a:ln w="12700">
            <a:solidFill>
              <a:schemeClr val="accent2"/>
            </a:solidFill>
            <a:prstDash val="solid"/>
          </a:ln>
        </p:spPr>
      </p:sp>
      <p:sp>
        <p:nvSpPr>
          <p:cNvPr id="17" name="Point 4 tick"/>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Point 4 text"/>
          <p:cNvSpPr txBox="1"/>
          <p:nvPr/>
        </p:nvSpPr>
        <p:spPr>
          <a:xfrm>
            <a:off x="1463040" y="4846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Thanks for choosing Otta. We look forward to working with you.</a:t>
            </a:r>
            <a:endParaRPr lang="en-US" sz="18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tta">
  <a:themeElements>
    <a:clrScheme name="Otta">
      <a:dk1>
        <a:srgbClr val="303133"/>
      </a:dk1>
      <a:lt1>
        <a:srgbClr val="FFFFFF"/>
      </a:lt1>
      <a:dk2>
        <a:srgbClr val="014C69"/>
      </a:dk2>
      <a:lt2>
        <a:srgbClr val="F2F7F6"/>
      </a:lt2>
      <a:accent1>
        <a:srgbClr val="2E7D74"/>
      </a:accent1>
      <a:accent2>
        <a:srgbClr val="61B9AD"/>
      </a:accent2>
      <a:accent3>
        <a:srgbClr val="5E008D"/>
      </a:accent3>
      <a:accent4>
        <a:srgbClr val="014C69"/>
      </a:accent4>
      <a:accent5>
        <a:srgbClr val="E8F4F2"/>
      </a:accent5>
      <a:accent6>
        <a:srgbClr val="F1E6F7"/>
      </a:accent6>
      <a:hlink>
        <a:srgbClr val="2E7D74"/>
      </a:hlink>
      <a:folHlink>
        <a:srgbClr val="5E008D"/>
      </a:folHlink>
    </a:clrScheme>
    <a:fontScheme name="Ot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Otta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Otta Broker Portal</dc:title>
  <dc:subject>PptxGenJS Presentation</dc:subject>
  <dc:creator>Otta</dc:creator>
  <cp:lastModifiedBy>Otta</cp:lastModifiedBy>
  <cp:revision>1</cp:revision>
  <dcterms:created xsi:type="dcterms:W3CDTF">2026-10-14T22:18:05Z</dcterms:created>
  <dcterms:modified xsi:type="dcterms:W3CDTF">2026-10-14T22:18:05Z</dcterms:modified>
</cp:coreProperties>
</file>