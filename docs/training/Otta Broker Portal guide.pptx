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dcffe79-76ff-bd14-767c-38b54100cc82}">
          <p14:sldIdLst>
            <p14:sldId id="257"/>
          </p14:sldIdLst>
        </p14:section>
        <p14:section name="Signing in" id="{299c6082-8414-7eed-e2bf-2b2d72798dff}">
          <p14:sldIdLst>
            <p14:sldId id="258"/>
            <p14:sldId id="259"/>
            <p14:sldId id="260"/>
          </p14:sldIdLst>
        </p14:section>
        <p14:section name="Your dashboard" id="{7fbd1039-ed23-efbe-355c-dcd25a31bab9}">
          <p14:sldIdLst>
            <p14:sldId id="261"/>
            <p14:sldId id="262"/>
          </p14:sldIdLst>
        </p14:section>
        <p14:section name="Applying for cover" id="{8ed33386-b20b-70e0-866e-6b6504ad50d6}">
          <p14:sldIdLst>
            <p14:sldId id="263"/>
            <p14:sldId id="264"/>
            <p14:sldId id="265"/>
            <p14:sldId id="266"/>
            <p14:sldId id="267"/>
            <p14:sldId id="268"/>
          </p14:sldIdLst>
        </p14:section>
        <p14:section name="Quotes, policies and claims" id="{b8cb18e1-832b-c227-878a-69d2ffa27968}">
          <p14:sldIdLst>
            <p14:sldId id="269"/>
            <p14:sldId id="270"/>
            <p14:sldId id="271"/>
            <p14:sldId id="272"/>
          </p14:sldIdLst>
        </p14:section>
        <p14:section name="Wordings, training and help" id="{c8fa1ef4-81fe-9ce0-6067-9c2801020cdf}">
          <p14:sldIdLst>
            <p14:sldId id="273"/>
            <p14:sldId id="274"/>
            <p14:sldId id="275"/>
            <p14:sldId id="276"/>
          </p14:sldIdLst>
        </p14:section>
        <p14:section name="Summary" id="{1bec49b5-f9a3-dd5a-d3c0-24e0259c84ed}">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Otta Broker Portal. Your guide to getting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in five steps. 1. Set your password: Use the link in your welcome email. It works for 7 days. 2. Find your way around: Your dashboard shows quotes, policies and renewals at a glance. 3. Complete or share a form: Fill it in online, or send your client a secure link yourself. 4. Track it: Follow applications, quotes and claims, and bind accepted quotes. 5. Ask us anything: Help &amp; contact puts you straight through to the underwriters.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Signing in. Your account is ready. Here's how to get in, now and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welcome email has a link to set your password. It works for 7 days. If it has expired, email yourself a sign-in link from the sign-in page or ask us to resend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 in at the broker portal with your email and password, or with your Microsoft or Google work account. If you forget your password, ask for a sign-in link by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dashboard. Everything you have with Otta, on one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dashboard shows your active book with Otta, broken down by product, plus your open quote requests, active policies and renewals due in the next 60 days, with shortcuts to the forms you'll use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Applying for cover. Complete a form yourself, or send it to your client to fill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Forms holds every Otta form, grouped by product. Online forms are listed first, and any PDF only forms can be downloaded.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through the sections in any order. Download a PDF copy whenever you like. When you submit, it goes straight to the underwriting team and appears in your 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a form offers several cover options, the question mark explains each one and links to the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the form and enter your client's name, then create the link. Copy it and send it to your client however suits you: Otta never contacts your clients. The link works for 30 days. When they submit, it comes straight to Otta and shows in your 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Applications shows everything you and your clients have sent us, and every client link with its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Quotes, policies and claims. From quote to bound policy, and following your clients'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your client accepts a quote, open it and instruct us to bind. Choose the inception date and confirm acceptance. We'll confirm cover and send the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Policies lists every policy you have with Otta, with expiry dates. Renewals due soon also show on your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Claims shows every claim on your clients' policies and where each one is up to. Open one to see its progress, or email the claims team about it. In an emergency, call us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Wordings, training and help. Check cover, brush up on the portal, and talk directly to the underwriters who make the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Policy wordings has the current wording for every Otta product, so you can check cover and share it with your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has this guide in the portal whenever you need it, with a walkthrough of each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Help and contact lists each team's email address and our phone number. Colleagues can request their own account from the Request access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here to help. Call us on 0800 003 545. Email hello@ottainsurance.co.nz, or the team listed under Help &amp; contact. Claims: claims@ottainsurance.co.nz. Thanks for choosing Otta. We look forward to working with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tta title">
    <p:bg>
      <p:bgPr>
        <a:solidFill>
          <a:schemeClr val="tx2"/>
        </a:solidFill>
      </p:bgPr>
    </p:bg>
    <p:spTree>
      <p:nvGrpSpPr>
        <p:cNvPr id="1" name=""/>
        <p:cNvGrpSpPr/>
        <p:nvPr/>
      </p:nvGrpSpPr>
      <p:grpSpPr>
        <a:xfrm>
          <a:off x="0" y="0"/>
          <a:ext cx="0" cy="0"/>
          <a:chOff x="0" y="0"/>
          <a:chExt cx="0" cy="0"/>
        </a:xfrm>
      </p:grpSpPr>
      <p:pic>
        <p:nvPicPr>
          <p:cNvPr id="2" name="Image 0" descr="/home/user/otta-MVP/public/brand/otta-logo-white.png">    </p:cNvPr>
          <p:cNvPicPr>
            <a:picLocks noChangeAspect="1"/>
          </p:cNvPicPr>
          <p:nvPr/>
        </p:nvPicPr>
        <p:blipFill>
          <a:blip r:embed="rId1"/>
          <a:stretch>
            <a:fillRect/>
          </a:stretch>
        </p:blipFill>
        <p:spPr>
          <a:xfrm>
            <a:off x="731520" y="640080"/>
            <a:ext cx="1737360" cy="649224"/>
          </a:xfrm>
          <a:prstGeom prst="rect">
            <a:avLst/>
          </a:prstGeom>
        </p:spPr>
      </p:pic>
      <p:sp>
        <p:nvSpPr>
          <p:cNvPr id="3" name="Shape 0"/>
          <p:cNvSpPr/>
          <p:nvPr/>
        </p:nvSpPr>
        <p:spPr>
          <a:xfrm>
            <a:off x="731520" y="2788920"/>
            <a:ext cx="1097280" cy="73152"/>
          </a:xfrm>
          <a:prstGeom prst="rect">
            <a:avLst/>
          </a:prstGeom>
          <a:solidFill>
            <a:schemeClr val="accent2"/>
          </a:solidFill>
          <a:ln/>
        </p:spPr>
      </p:sp>
      <p:sp>
        <p:nvSpPr>
          <p:cNvPr id="4" name="Text 1"/>
          <p:cNvSpPr/>
          <p:nvPr>
            <p:ph idx="102" type="title" hasCustomPrompt="1"/>
          </p:nvPr>
        </p:nvSpPr>
        <p:spPr>
          <a:xfrm>
            <a:off x="731520" y="3017520"/>
            <a:ext cx="10058400" cy="13716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5" name="Text 1"/>
          <p:cNvSpPr/>
          <p:nvPr>
            <p:ph idx="103" type="body" hasCustomPrompt="1"/>
          </p:nvPr>
        </p:nvSpPr>
        <p:spPr>
          <a:xfrm>
            <a:off x="731520" y="4434840"/>
            <a:ext cx="9144000" cy="822960"/>
          </a:xfrm>
          <a:prstGeom prst="rect">
            <a:avLst/>
          </a:prstGeom>
          <a:noFill/>
          <a:ln/>
        </p:spPr>
        <p:txBody>
          <a:bodyPr wrap="square" rtlCol="0"/>
          <a:lstStyle>
            <a:lvl1pPr algn="l" indent="0" marL="0">
              <a:buNone/>
              <a:defRPr lang="en-US" sz="2000" dirty="0">
                <a:solidFill>
                  <a:schemeClr val="bg1"/>
                </a:solidFill>
              </a:defRPr>
            </a:lvl1pPr>
          </a:lstStyle>
          <a:p>
            <a:pPr algn="l" indent="0" marL="0">
              <a:buNone/>
            </a:pPr>
            <a:endParaRPr lang="en-US" sz="2000" dirty="0"/>
          </a:p>
        </p:txBody>
      </p:sp>
      <p:sp>
        <p:nvSpPr>
          <p:cNvPr id="6" name="Text 1"/>
          <p:cNvSpPr/>
          <p:nvPr>
            <p:ph idx="104" type="body" hasCustomPrompt="1"/>
          </p:nvPr>
        </p:nvSpPr>
        <p:spPr>
          <a:xfrm>
            <a:off x="731520" y="5852160"/>
            <a:ext cx="7315200" cy="365760"/>
          </a:xfrm>
          <a:prstGeom prst="rect">
            <a:avLst/>
          </a:prstGeom>
          <a:noFill/>
          <a:ln/>
        </p:spPr>
        <p:txBody>
          <a:bodyPr wrap="square" rtlCol="0"/>
          <a:lstStyle>
            <a:lvl1pPr algn="l" indent="0" marL="0">
              <a:buNone/>
              <a:defRPr lang="en-US" sz="1300" b="1" spc="200" kern="0" dirty="0">
                <a:solidFill>
                  <a:schemeClr val="accent2"/>
                </a:solidFill>
              </a:defRPr>
            </a:lvl1pPr>
          </a:lstStyle>
          <a:p>
            <a:pPr algn="l"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tta section">
    <p:bg>
      <p:bgPr>
        <a:solidFill>
          <a:schemeClr val="accent1"/>
        </a:solidFill>
      </p:bgPr>
    </p:bg>
    <p:spTree>
      <p:nvGrpSpPr>
        <p:cNvPr id="1" name=""/>
        <p:cNvGrpSpPr/>
        <p:nvPr/>
      </p:nvGrpSpPr>
      <p:grpSpPr>
        <a:xfrm>
          <a:off x="0" y="0"/>
          <a:ext cx="0" cy="0"/>
          <a:chOff x="0" y="0"/>
          <a:chExt cx="0" cy="0"/>
        </a:xfrm>
      </p:grpSpPr>
      <p:pic>
        <p:nvPicPr>
          <p:cNvPr id="2" name="Image 0" descr="/home/user/otta-MVP/public/brand/otta-logo-white.png">    </p:cNvPr>
          <p:cNvPicPr>
            <a:picLocks noChangeAspect="1"/>
          </p:cNvPicPr>
          <p:nvPr/>
        </p:nvPicPr>
        <p:blipFill>
          <a:blip r:embed="rId1"/>
          <a:stretch>
            <a:fillRect/>
          </a:stretch>
        </p:blipFill>
        <p:spPr>
          <a:xfrm>
            <a:off x="10607040" y="411480"/>
            <a:ext cx="1143000" cy="429768"/>
          </a:xfrm>
          <a:prstGeom prst="rect">
            <a:avLst/>
          </a:prstGeom>
        </p:spPr>
      </p:pic>
      <p:sp>
        <p:nvSpPr>
          <p:cNvPr id="3" name="Text 0"/>
          <p:cNvSpPr/>
          <p:nvPr>
            <p:ph idx="101" type="title" hasCustomPrompt="1"/>
          </p:nvPr>
        </p:nvSpPr>
        <p:spPr>
          <a:xfrm>
            <a:off x="731520" y="2743200"/>
            <a:ext cx="10058400" cy="10058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rtlCol="0"/>
          <a:lstStyle>
            <a:lvl1pPr algn="l" indent="0" marL="0">
              <a:buNone/>
              <a:defRPr lang="en-US" sz="2000" dirty="0">
                <a:solidFill>
                  <a:schemeClr val="bg1"/>
                </a:solidFill>
              </a:defRPr>
            </a:lvl1pPr>
          </a:lstStyle>
          <a:p>
            <a:pPr algn="l" indent="0" marL="0">
              <a:buNone/>
            </a:pPr>
            <a:endParaRPr lang="en-US" sz="2000" dirty="0"/>
          </a:p>
        </p:txBody>
      </p:sp>
      <p:sp>
        <p:nvSpPr>
          <p:cNvPr id="5" name="Text 0"/>
          <p:cNvSpPr/>
          <p:nvPr/>
        </p:nvSpPr>
        <p:spPr>
          <a:xfrm>
            <a:off x="731520" y="6263640"/>
            <a:ext cx="7315200" cy="274320"/>
          </a:xfrm>
          <a:prstGeom prst="rect">
            <a:avLst/>
          </a:prstGeom>
          <a:noFill/>
          <a:ln/>
        </p:spPr>
        <p:txBody>
          <a:bodyPr wrap="square" lIns="0" tIns="0" rIns="0" bIns="0" rtlCol="0" anchor="ctr"/>
          <a:lstStyle/>
          <a:p>
            <a:pPr indent="0" marL="0">
              <a:buNone/>
            </a:pPr>
            <a:r>
              <a:rPr lang="en-US" sz="1000" dirty="0">
                <a:solidFill>
                  <a:schemeClr val="bg1"/>
                </a:solidFill>
              </a:rPr>
              <a:t>Otta  |  Welcome to the Otta Broker Portal</a:t>
            </a:r>
            <a:endParaRPr lang="en-US" sz="1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tta content">
    <p:bg>
      <p:bgPr>
        <a:solidFill>
          <a:schemeClr val="bg2"/>
        </a:solidFill>
      </p:bgPr>
    </p:bg>
    <p:spTree>
      <p:nvGrpSpPr>
        <p:cNvPr id="1" name=""/>
        <p:cNvGrpSpPr/>
        <p:nvPr/>
      </p:nvGrpSpPr>
      <p:grpSpPr>
        <a:xfrm>
          <a:off x="0" y="0"/>
          <a:ext cx="0" cy="0"/>
          <a:chOff x="0" y="0"/>
          <a:chExt cx="0" cy="0"/>
        </a:xfrm>
      </p:grpSpPr>
      <p:pic>
        <p:nvPicPr>
          <p:cNvPr id="2" name="Image 0" descr="/home/user/otta-MVP/public/brand/otta-logo.png">    </p:cNvPr>
          <p:cNvPicPr>
            <a:picLocks noChangeAspect="1"/>
          </p:cNvPicPr>
          <p:nvPr/>
        </p:nvPicPr>
        <p:blipFill>
          <a:blip r:embed="rId1"/>
          <a:stretch>
            <a:fillRect/>
          </a:stretch>
        </p:blipFill>
        <p:spPr>
          <a:xfrm>
            <a:off x="10835640" y="347472"/>
            <a:ext cx="914400" cy="338328"/>
          </a:xfrm>
          <a:prstGeom prst="rect">
            <a:avLst/>
          </a:prstGeom>
        </p:spPr>
      </p:pic>
      <p:sp>
        <p:nvSpPr>
          <p:cNvPr id="3" name="Text 0"/>
          <p:cNvSpPr/>
          <p:nvPr>
            <p:ph idx="101" type="title" hasCustomPrompt="1"/>
          </p:nvPr>
        </p:nvSpPr>
        <p:spPr>
          <a:xfrm>
            <a:off x="457200" y="274320"/>
            <a:ext cx="10058400" cy="68580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457200" y="6446520"/>
            <a:ext cx="7315200" cy="274320"/>
          </a:xfrm>
          <a:prstGeom prst="rect">
            <a:avLst/>
          </a:prstGeom>
          <a:noFill/>
          <a:ln/>
        </p:spPr>
        <p:txBody>
          <a:bodyPr wrap="square" lIns="0" tIns="0" rIns="0" bIns="0" rtlCol="0" anchor="ctr"/>
          <a:lstStyle/>
          <a:p>
            <a:pPr indent="0" marL="0">
              <a:buNone/>
            </a:pPr>
            <a:r>
              <a:rPr lang="en-US" sz="1000" dirty="0">
                <a:solidFill>
                  <a:srgbClr val="6B6E72"/>
                </a:solidFill>
              </a:rPr>
              <a:t>Otta  |  Welcome to the Otta Broker Portal</a:t>
            </a:r>
            <a:endParaRPr lang="en-US" sz="100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title" hasCustomPrompt="1"/>
          </p:nvPr>
        </p:nvSpPr>
        <p:spPr>
          <a:xfrm>
            <a:off x="731520" y="3017520"/>
            <a:ext cx="10058400" cy="1371600"/>
          </a:xfrm>
          <a:prstGeom prst="rect">
            <a:avLst/>
          </a:prstGeom>
          <a:noFill/>
          <a:ln/>
        </p:spPr>
        <p:txBody>
          <a:bodyPr wrap="square" lIns="0" tIns="0" rIns="0" bIns="0" rtlCol="0" anchor="t"/>
          <a:lstStyle/>
          <a:p>
            <a:pPr algn="l" indent="0" marL="0">
              <a:buNone/>
            </a:pPr>
            <a:r>
              <a:rPr lang="en-US" sz="4400" b="1" dirty="0">
                <a:solidFill>
                  <a:schemeClr val="bg1"/>
                </a:solidFill>
              </a:rPr>
              <a:t>Welcome to the Otta Broker Portal</a:t>
            </a:r>
            <a:endParaRPr lang="en-US" sz="4400" dirty="0"/>
          </a:p>
        </p:txBody>
      </p:sp>
      <p:sp>
        <p:nvSpPr>
          <p:cNvPr id="3" name="Text 1"/>
          <p:cNvSpPr/>
          <p:nvPr>
            <p:ph idx="103" type="body" hasCustomPrompt="1"/>
          </p:nvPr>
        </p:nvSpPr>
        <p:spPr>
          <a:xfrm>
            <a:off x="731520" y="4434840"/>
            <a:ext cx="9144000" cy="822960"/>
          </a:xfrm>
          <a:prstGeom prst="rect">
            <a:avLst/>
          </a:prstGeom>
          <a:noFill/>
          <a:ln/>
        </p:spPr>
        <p:txBody>
          <a:bodyPr wrap="square" lIns="0" tIns="0" rIns="0" bIns="0" rtlCol="0" anchor="t"/>
          <a:lstStyle/>
          <a:p>
            <a:pPr algn="l" indent="0" marL="0">
              <a:buNone/>
            </a:pPr>
            <a:r>
              <a:rPr lang="en-US" sz="2000" dirty="0">
                <a:solidFill>
                  <a:schemeClr val="bg1"/>
                </a:solidFill>
              </a:rPr>
              <a:t>Your guide to getting started</a:t>
            </a:r>
            <a:endParaRPr lang="en-US" sz="2000" dirty="0"/>
          </a:p>
        </p:txBody>
      </p:sp>
      <p:sp>
        <p:nvSpPr>
          <p:cNvPr id="4" name="Text 1"/>
          <p:cNvSpPr/>
          <p:nvPr>
            <p:ph idx="104" type="body" hasCustomPrompt="1"/>
          </p:nvPr>
        </p:nvSpPr>
        <p:spPr>
          <a:xfrm>
            <a:off x="731520" y="5852160"/>
            <a:ext cx="7315200" cy="365760"/>
          </a:xfrm>
          <a:prstGeom prst="rect">
            <a:avLst/>
          </a:prstGeom>
          <a:noFill/>
          <a:ln/>
        </p:spPr>
        <p:txBody>
          <a:bodyPr wrap="square" lIns="0" tIns="0" rIns="0" bIns="0" rtlCol="0"/>
          <a:lstStyle/>
          <a:p>
            <a:pPr algn="l" indent="0" marL="0">
              <a:buNone/>
            </a:pPr>
            <a:r>
              <a:rPr lang="en-US" sz="1300" b="1" spc="200" kern="0" dirty="0">
                <a:solidFill>
                  <a:schemeClr val="accent2"/>
                </a:solidFill>
              </a:rPr>
              <a:t>FOR BROKERS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Getting started in five steps</a:t>
            </a:r>
            <a:endParaRPr lang="en-US" sz="2800" dirty="0"/>
          </a:p>
        </p:txBody>
      </p:sp>
      <p:sp>
        <p:nvSpPr>
          <p:cNvPr id="3" name="Card 1"/>
          <p:cNvSpPr/>
          <p:nvPr/>
        </p:nvSpPr>
        <p:spPr>
          <a:xfrm>
            <a:off x="457200" y="1280160"/>
            <a:ext cx="3566160" cy="2331720"/>
          </a:xfrm>
          <a:prstGeom prst="roundRect">
            <a:avLst>
              <a:gd name="adj" fmla="val 3137"/>
            </a:avLst>
          </a:prstGeom>
          <a:solidFill>
            <a:schemeClr val="bg1"/>
          </a:solidFill>
          <a:ln w="12700">
            <a:solidFill>
              <a:srgbClr val="DDE7E5"/>
            </a:solidFill>
            <a:prstDash val="solid"/>
          </a:ln>
        </p:spPr>
      </p:sp>
      <p:sp>
        <p:nvSpPr>
          <p:cNvPr id="4" name="Card 1 marker"/>
          <p:cNvSpPr/>
          <p:nvPr/>
        </p:nvSpPr>
        <p:spPr>
          <a:xfrm>
            <a:off x="777240" y="1600200"/>
            <a:ext cx="502920" cy="502920"/>
          </a:xfrm>
          <a:prstGeom prst="ellipse">
            <a:avLst/>
          </a:prstGeom>
          <a:solidFill>
            <a:schemeClr val="accent1"/>
          </a:solidFill>
          <a:ln w="12700">
            <a:solidFill>
              <a:schemeClr val="accent1"/>
            </a:solidFill>
            <a:prstDash val="solid"/>
          </a:ln>
        </p:spPr>
      </p:sp>
      <p:sp>
        <p:nvSpPr>
          <p:cNvPr id="5" name="Card 1 number"/>
          <p:cNvSpPr txBox="1"/>
          <p:nvPr/>
        </p:nvSpPr>
        <p:spPr>
          <a:xfrm>
            <a:off x="777240" y="16002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Card 1 heading"/>
          <p:cNvSpPr txBox="1"/>
          <p:nvPr/>
        </p:nvSpPr>
        <p:spPr>
          <a:xfrm>
            <a:off x="1463040" y="1554480"/>
            <a:ext cx="2286000" cy="594360"/>
          </a:xfrm>
          <a:prstGeom prst="rect">
            <a:avLst/>
          </a:prstGeom>
          <a:noFill/>
          <a:ln/>
        </p:spPr>
        <p:txBody>
          <a:bodyPr wrap="square" lIns="0" tIns="0" rIns="0" bIns="0" rtlCol="0" anchor="ctr"/>
          <a:lstStyle/>
          <a:p>
            <a:pPr indent="0" marL="0">
              <a:buNone/>
            </a:pPr>
            <a:r>
              <a:rPr lang="en-US" sz="1900" b="1" dirty="0">
                <a:solidFill>
                  <a:schemeClr val="tx2"/>
                </a:solidFill>
              </a:rPr>
              <a:t>Set your password</a:t>
            </a:r>
            <a:endParaRPr lang="en-US" sz="1900" dirty="0"/>
          </a:p>
        </p:txBody>
      </p:sp>
      <p:sp>
        <p:nvSpPr>
          <p:cNvPr id="7" name="Card 1 text"/>
          <p:cNvSpPr txBox="1"/>
          <p:nvPr/>
        </p:nvSpPr>
        <p:spPr>
          <a:xfrm>
            <a:off x="1463040" y="2194560"/>
            <a:ext cx="2286000" cy="1188720"/>
          </a:xfrm>
          <a:prstGeom prst="rect">
            <a:avLst/>
          </a:prstGeom>
          <a:noFill/>
          <a:ln/>
        </p:spPr>
        <p:txBody>
          <a:bodyPr wrap="square" lIns="0" tIns="0" rIns="0" bIns="0" rtlCol="0" anchor="t"/>
          <a:lstStyle/>
          <a:p>
            <a:pPr indent="0" marL="0">
              <a:buNone/>
            </a:pPr>
            <a:r>
              <a:rPr lang="en-US" sz="1500" dirty="0">
                <a:solidFill>
                  <a:schemeClr val="tx1"/>
                </a:solidFill>
              </a:rPr>
              <a:t>Use the link in your welcome email. It works for 7 days.</a:t>
            </a:r>
            <a:endParaRPr lang="en-US" sz="1500" dirty="0"/>
          </a:p>
        </p:txBody>
      </p:sp>
      <p:sp>
        <p:nvSpPr>
          <p:cNvPr id="8" name="Card 2"/>
          <p:cNvSpPr/>
          <p:nvPr/>
        </p:nvSpPr>
        <p:spPr>
          <a:xfrm>
            <a:off x="4297680" y="1280160"/>
            <a:ext cx="3566160" cy="2331720"/>
          </a:xfrm>
          <a:prstGeom prst="roundRect">
            <a:avLst>
              <a:gd name="adj" fmla="val 3137"/>
            </a:avLst>
          </a:prstGeom>
          <a:solidFill>
            <a:schemeClr val="bg1"/>
          </a:solidFill>
          <a:ln w="12700">
            <a:solidFill>
              <a:srgbClr val="DDE7E5"/>
            </a:solidFill>
            <a:prstDash val="solid"/>
          </a:ln>
        </p:spPr>
      </p:sp>
      <p:sp>
        <p:nvSpPr>
          <p:cNvPr id="9" name="Card 2 marker"/>
          <p:cNvSpPr/>
          <p:nvPr/>
        </p:nvSpPr>
        <p:spPr>
          <a:xfrm>
            <a:off x="4617720" y="1600200"/>
            <a:ext cx="502920" cy="502920"/>
          </a:xfrm>
          <a:prstGeom prst="ellipse">
            <a:avLst/>
          </a:prstGeom>
          <a:solidFill>
            <a:schemeClr val="accent1"/>
          </a:solidFill>
          <a:ln w="12700">
            <a:solidFill>
              <a:schemeClr val="accent1"/>
            </a:solidFill>
            <a:prstDash val="solid"/>
          </a:ln>
        </p:spPr>
      </p:sp>
      <p:sp>
        <p:nvSpPr>
          <p:cNvPr id="10" name="Card 2 number"/>
          <p:cNvSpPr txBox="1"/>
          <p:nvPr/>
        </p:nvSpPr>
        <p:spPr>
          <a:xfrm>
            <a:off x="4617720" y="16002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Card 2 heading"/>
          <p:cNvSpPr txBox="1"/>
          <p:nvPr/>
        </p:nvSpPr>
        <p:spPr>
          <a:xfrm>
            <a:off x="5303520" y="1554480"/>
            <a:ext cx="2286000" cy="594360"/>
          </a:xfrm>
          <a:prstGeom prst="rect">
            <a:avLst/>
          </a:prstGeom>
          <a:noFill/>
          <a:ln/>
        </p:spPr>
        <p:txBody>
          <a:bodyPr wrap="square" lIns="0" tIns="0" rIns="0" bIns="0" rtlCol="0" anchor="ctr"/>
          <a:lstStyle/>
          <a:p>
            <a:pPr indent="0" marL="0">
              <a:buNone/>
            </a:pPr>
            <a:r>
              <a:rPr lang="en-US" sz="1900" b="1" dirty="0">
                <a:solidFill>
                  <a:schemeClr val="tx2"/>
                </a:solidFill>
              </a:rPr>
              <a:t>Find your way around</a:t>
            </a:r>
            <a:endParaRPr lang="en-US" sz="1900" dirty="0"/>
          </a:p>
        </p:txBody>
      </p:sp>
      <p:sp>
        <p:nvSpPr>
          <p:cNvPr id="12" name="Card 2 text"/>
          <p:cNvSpPr txBox="1"/>
          <p:nvPr/>
        </p:nvSpPr>
        <p:spPr>
          <a:xfrm>
            <a:off x="5303520" y="2194560"/>
            <a:ext cx="2286000" cy="1188720"/>
          </a:xfrm>
          <a:prstGeom prst="rect">
            <a:avLst/>
          </a:prstGeom>
          <a:noFill/>
          <a:ln/>
        </p:spPr>
        <p:txBody>
          <a:bodyPr wrap="square" lIns="0" tIns="0" rIns="0" bIns="0" rtlCol="0" anchor="t"/>
          <a:lstStyle/>
          <a:p>
            <a:pPr indent="0" marL="0">
              <a:buNone/>
            </a:pPr>
            <a:r>
              <a:rPr lang="en-US" sz="1500" dirty="0">
                <a:solidFill>
                  <a:schemeClr val="tx1"/>
                </a:solidFill>
              </a:rPr>
              <a:t>Your dashboard shows quotes, policies and renewals at a glance.</a:t>
            </a:r>
            <a:endParaRPr lang="en-US" sz="1500" dirty="0"/>
          </a:p>
        </p:txBody>
      </p:sp>
      <p:sp>
        <p:nvSpPr>
          <p:cNvPr id="13" name="Card 3"/>
          <p:cNvSpPr/>
          <p:nvPr/>
        </p:nvSpPr>
        <p:spPr>
          <a:xfrm>
            <a:off x="8138160" y="1280160"/>
            <a:ext cx="3566160" cy="2331720"/>
          </a:xfrm>
          <a:prstGeom prst="roundRect">
            <a:avLst>
              <a:gd name="adj" fmla="val 3137"/>
            </a:avLst>
          </a:prstGeom>
          <a:solidFill>
            <a:schemeClr val="bg1"/>
          </a:solidFill>
          <a:ln w="12700">
            <a:solidFill>
              <a:srgbClr val="DDE7E5"/>
            </a:solidFill>
            <a:prstDash val="solid"/>
          </a:ln>
        </p:spPr>
      </p:sp>
      <p:sp>
        <p:nvSpPr>
          <p:cNvPr id="14" name="Card 3 marker"/>
          <p:cNvSpPr/>
          <p:nvPr/>
        </p:nvSpPr>
        <p:spPr>
          <a:xfrm>
            <a:off x="8458200" y="1600200"/>
            <a:ext cx="502920" cy="502920"/>
          </a:xfrm>
          <a:prstGeom prst="ellipse">
            <a:avLst/>
          </a:prstGeom>
          <a:solidFill>
            <a:schemeClr val="accent1"/>
          </a:solidFill>
          <a:ln w="12700">
            <a:solidFill>
              <a:schemeClr val="accent1"/>
            </a:solidFill>
            <a:prstDash val="solid"/>
          </a:ln>
        </p:spPr>
      </p:sp>
      <p:sp>
        <p:nvSpPr>
          <p:cNvPr id="15" name="Card 3 number"/>
          <p:cNvSpPr txBox="1"/>
          <p:nvPr/>
        </p:nvSpPr>
        <p:spPr>
          <a:xfrm>
            <a:off x="8458200" y="160020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Card 3 heading"/>
          <p:cNvSpPr txBox="1"/>
          <p:nvPr/>
        </p:nvSpPr>
        <p:spPr>
          <a:xfrm>
            <a:off x="9144000" y="1554480"/>
            <a:ext cx="2286000" cy="594360"/>
          </a:xfrm>
          <a:prstGeom prst="rect">
            <a:avLst/>
          </a:prstGeom>
          <a:noFill/>
          <a:ln/>
        </p:spPr>
        <p:txBody>
          <a:bodyPr wrap="square" lIns="0" tIns="0" rIns="0" bIns="0" rtlCol="0" anchor="ctr"/>
          <a:lstStyle/>
          <a:p>
            <a:pPr indent="0" marL="0">
              <a:buNone/>
            </a:pPr>
            <a:r>
              <a:rPr lang="en-US" sz="1900" b="1" dirty="0">
                <a:solidFill>
                  <a:schemeClr val="tx2"/>
                </a:solidFill>
              </a:rPr>
              <a:t>Complete or share a form</a:t>
            </a:r>
            <a:endParaRPr lang="en-US" sz="1900" dirty="0"/>
          </a:p>
        </p:txBody>
      </p:sp>
      <p:sp>
        <p:nvSpPr>
          <p:cNvPr id="17" name="Card 3 text"/>
          <p:cNvSpPr txBox="1"/>
          <p:nvPr/>
        </p:nvSpPr>
        <p:spPr>
          <a:xfrm>
            <a:off x="9144000" y="2194560"/>
            <a:ext cx="2286000" cy="1188720"/>
          </a:xfrm>
          <a:prstGeom prst="rect">
            <a:avLst/>
          </a:prstGeom>
          <a:noFill/>
          <a:ln/>
        </p:spPr>
        <p:txBody>
          <a:bodyPr wrap="square" lIns="0" tIns="0" rIns="0" bIns="0" rtlCol="0" anchor="t"/>
          <a:lstStyle/>
          <a:p>
            <a:pPr indent="0" marL="0">
              <a:buNone/>
            </a:pPr>
            <a:r>
              <a:rPr lang="en-US" sz="1500" dirty="0">
                <a:solidFill>
                  <a:schemeClr val="tx1"/>
                </a:solidFill>
              </a:rPr>
              <a:t>Fill it in online, or send your client a secure link yourself.</a:t>
            </a:r>
            <a:endParaRPr lang="en-US" sz="1500" dirty="0"/>
          </a:p>
        </p:txBody>
      </p:sp>
      <p:sp>
        <p:nvSpPr>
          <p:cNvPr id="18" name="Card 4"/>
          <p:cNvSpPr/>
          <p:nvPr/>
        </p:nvSpPr>
        <p:spPr>
          <a:xfrm>
            <a:off x="457200" y="3886200"/>
            <a:ext cx="3566160" cy="2331720"/>
          </a:xfrm>
          <a:prstGeom prst="roundRect">
            <a:avLst>
              <a:gd name="adj" fmla="val 3137"/>
            </a:avLst>
          </a:prstGeom>
          <a:solidFill>
            <a:schemeClr val="bg1"/>
          </a:solidFill>
          <a:ln w="12700">
            <a:solidFill>
              <a:srgbClr val="DDE7E5"/>
            </a:solidFill>
            <a:prstDash val="solid"/>
          </a:ln>
        </p:spPr>
      </p:sp>
      <p:sp>
        <p:nvSpPr>
          <p:cNvPr id="19" name="Card 4 marker"/>
          <p:cNvSpPr/>
          <p:nvPr/>
        </p:nvSpPr>
        <p:spPr>
          <a:xfrm>
            <a:off x="777240" y="4206240"/>
            <a:ext cx="502920" cy="502920"/>
          </a:xfrm>
          <a:prstGeom prst="ellipse">
            <a:avLst/>
          </a:prstGeom>
          <a:solidFill>
            <a:schemeClr val="accent1"/>
          </a:solidFill>
          <a:ln w="12700">
            <a:solidFill>
              <a:schemeClr val="accent1"/>
            </a:solidFill>
            <a:prstDash val="solid"/>
          </a:ln>
        </p:spPr>
      </p:sp>
      <p:sp>
        <p:nvSpPr>
          <p:cNvPr id="20" name="Card 4 number"/>
          <p:cNvSpPr txBox="1"/>
          <p:nvPr/>
        </p:nvSpPr>
        <p:spPr>
          <a:xfrm>
            <a:off x="777240" y="4206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1" name="Card 4 heading"/>
          <p:cNvSpPr txBox="1"/>
          <p:nvPr/>
        </p:nvSpPr>
        <p:spPr>
          <a:xfrm>
            <a:off x="1463040" y="4160520"/>
            <a:ext cx="2286000" cy="594360"/>
          </a:xfrm>
          <a:prstGeom prst="rect">
            <a:avLst/>
          </a:prstGeom>
          <a:noFill/>
          <a:ln/>
        </p:spPr>
        <p:txBody>
          <a:bodyPr wrap="square" lIns="0" tIns="0" rIns="0" bIns="0" rtlCol="0" anchor="ctr"/>
          <a:lstStyle/>
          <a:p>
            <a:pPr indent="0" marL="0">
              <a:buNone/>
            </a:pPr>
            <a:r>
              <a:rPr lang="en-US" sz="1900" b="1" dirty="0">
                <a:solidFill>
                  <a:schemeClr val="tx2"/>
                </a:solidFill>
              </a:rPr>
              <a:t>Track it</a:t>
            </a:r>
            <a:endParaRPr lang="en-US" sz="1900" dirty="0"/>
          </a:p>
        </p:txBody>
      </p:sp>
      <p:sp>
        <p:nvSpPr>
          <p:cNvPr id="22" name="Card 4 text"/>
          <p:cNvSpPr txBox="1"/>
          <p:nvPr/>
        </p:nvSpPr>
        <p:spPr>
          <a:xfrm>
            <a:off x="1463040" y="4800600"/>
            <a:ext cx="2286000" cy="1188720"/>
          </a:xfrm>
          <a:prstGeom prst="rect">
            <a:avLst/>
          </a:prstGeom>
          <a:noFill/>
          <a:ln/>
        </p:spPr>
        <p:txBody>
          <a:bodyPr wrap="square" lIns="0" tIns="0" rIns="0" bIns="0" rtlCol="0" anchor="t"/>
          <a:lstStyle/>
          <a:p>
            <a:pPr indent="0" marL="0">
              <a:buNone/>
            </a:pPr>
            <a:r>
              <a:rPr lang="en-US" sz="1500" dirty="0">
                <a:solidFill>
                  <a:schemeClr val="tx1"/>
                </a:solidFill>
              </a:rPr>
              <a:t>Follow applications, quotes and claims, and bind accepted quotes.</a:t>
            </a:r>
            <a:endParaRPr lang="en-US" sz="1500" dirty="0"/>
          </a:p>
        </p:txBody>
      </p:sp>
      <p:sp>
        <p:nvSpPr>
          <p:cNvPr id="23" name="Card 5"/>
          <p:cNvSpPr/>
          <p:nvPr/>
        </p:nvSpPr>
        <p:spPr>
          <a:xfrm>
            <a:off x="4297680" y="3886200"/>
            <a:ext cx="3566160" cy="2331720"/>
          </a:xfrm>
          <a:prstGeom prst="roundRect">
            <a:avLst>
              <a:gd name="adj" fmla="val 3137"/>
            </a:avLst>
          </a:prstGeom>
          <a:solidFill>
            <a:schemeClr val="bg1"/>
          </a:solidFill>
          <a:ln w="12700">
            <a:solidFill>
              <a:srgbClr val="DDE7E5"/>
            </a:solidFill>
            <a:prstDash val="solid"/>
          </a:ln>
        </p:spPr>
      </p:sp>
      <p:sp>
        <p:nvSpPr>
          <p:cNvPr id="24" name="Card 5 marker"/>
          <p:cNvSpPr/>
          <p:nvPr/>
        </p:nvSpPr>
        <p:spPr>
          <a:xfrm>
            <a:off x="4617720" y="4206240"/>
            <a:ext cx="502920" cy="502920"/>
          </a:xfrm>
          <a:prstGeom prst="ellipse">
            <a:avLst/>
          </a:prstGeom>
          <a:solidFill>
            <a:schemeClr val="accent1"/>
          </a:solidFill>
          <a:ln w="12700">
            <a:solidFill>
              <a:schemeClr val="accent1"/>
            </a:solidFill>
            <a:prstDash val="solid"/>
          </a:ln>
        </p:spPr>
      </p:sp>
      <p:sp>
        <p:nvSpPr>
          <p:cNvPr id="25" name="Card 5 number"/>
          <p:cNvSpPr txBox="1"/>
          <p:nvPr/>
        </p:nvSpPr>
        <p:spPr>
          <a:xfrm>
            <a:off x="4617720" y="4206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6" name="Card 5 heading"/>
          <p:cNvSpPr txBox="1"/>
          <p:nvPr/>
        </p:nvSpPr>
        <p:spPr>
          <a:xfrm>
            <a:off x="5303520" y="4160520"/>
            <a:ext cx="2286000" cy="594360"/>
          </a:xfrm>
          <a:prstGeom prst="rect">
            <a:avLst/>
          </a:prstGeom>
          <a:noFill/>
          <a:ln/>
        </p:spPr>
        <p:txBody>
          <a:bodyPr wrap="square" lIns="0" tIns="0" rIns="0" bIns="0" rtlCol="0" anchor="ctr"/>
          <a:lstStyle/>
          <a:p>
            <a:pPr indent="0" marL="0">
              <a:buNone/>
            </a:pPr>
            <a:r>
              <a:rPr lang="en-US" sz="1900" b="1" dirty="0">
                <a:solidFill>
                  <a:schemeClr val="tx2"/>
                </a:solidFill>
              </a:rPr>
              <a:t>Ask us anything</a:t>
            </a:r>
            <a:endParaRPr lang="en-US" sz="1900" dirty="0"/>
          </a:p>
        </p:txBody>
      </p:sp>
      <p:sp>
        <p:nvSpPr>
          <p:cNvPr id="27" name="Card 5 text"/>
          <p:cNvSpPr txBox="1"/>
          <p:nvPr/>
        </p:nvSpPr>
        <p:spPr>
          <a:xfrm>
            <a:off x="5303520" y="4800600"/>
            <a:ext cx="2286000" cy="1188720"/>
          </a:xfrm>
          <a:prstGeom prst="rect">
            <a:avLst/>
          </a:prstGeom>
          <a:noFill/>
          <a:ln/>
        </p:spPr>
        <p:txBody>
          <a:bodyPr wrap="square" lIns="0" tIns="0" rIns="0" bIns="0" rtlCol="0" anchor="t"/>
          <a:lstStyle/>
          <a:p>
            <a:pPr indent="0" marL="0">
              <a:buNone/>
            </a:pPr>
            <a:r>
              <a:rPr lang="en-US" sz="1500" dirty="0">
                <a:solidFill>
                  <a:schemeClr val="tx1"/>
                </a:solidFill>
              </a:rPr>
              <a:t>Help &amp; contact puts you straight through to the underwriters.</a:t>
            </a:r>
            <a:endParaRPr lang="en-US" sz="150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number"/>
          <p:cNvSpPr txBox="1"/>
          <p:nvPr/>
        </p:nvSpPr>
        <p:spPr>
          <a:xfrm>
            <a:off x="731520" y="1463040"/>
            <a:ext cx="1828800" cy="1097280"/>
          </a:xfrm>
          <a:prstGeom prst="rect">
            <a:avLst/>
          </a:prstGeom>
          <a:noFill/>
          <a:ln/>
        </p:spPr>
        <p:txBody>
          <a:bodyPr wrap="square" lIns="0" tIns="0" rIns="0" bIns="0" rtlCol="0" anchor="ctr"/>
          <a:lstStyle/>
          <a:p>
            <a:pPr indent="0" marL="0">
              <a:buNone/>
            </a:pPr>
            <a:r>
              <a:rPr lang="en-US" sz="6600" b="1" dirty="0">
                <a:solidFill>
                  <a:schemeClr val="accent2"/>
                </a:solidFill>
              </a:rPr>
              <a:t>01</a:t>
            </a:r>
            <a:endParaRPr lang="en-US" sz="6600" dirty="0"/>
          </a:p>
        </p:txBody>
      </p:sp>
      <p:sp>
        <p:nvSpPr>
          <p:cNvPr id="3" name="Text 0"/>
          <p:cNvSpPr/>
          <p:nvPr>
            <p:ph idx="101" type="title" hasCustomPrompt="1"/>
          </p:nvPr>
        </p:nvSpPr>
        <p:spPr>
          <a:xfrm>
            <a:off x="731520" y="2743200"/>
            <a:ext cx="10058400" cy="1005840"/>
          </a:xfrm>
          <a:prstGeom prst="rect">
            <a:avLst/>
          </a:prstGeom>
          <a:noFill/>
          <a:ln/>
        </p:spPr>
        <p:txBody>
          <a:bodyPr wrap="square" lIns="0" tIns="0" rIns="0" bIns="0" rtlCol="0" anchor="t"/>
          <a:lstStyle/>
          <a:p>
            <a:pPr algn="l" indent="0" marL="0">
              <a:buNone/>
            </a:pPr>
            <a:r>
              <a:rPr lang="en-US" sz="4000" b="1" dirty="0">
                <a:solidFill>
                  <a:schemeClr val="bg1"/>
                </a:solidFill>
              </a:rPr>
              <a:t>Signing in</a:t>
            </a: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lIns="0" tIns="0" rIns="0" bIns="0" rtlCol="0" anchor="t"/>
          <a:lstStyle/>
          <a:p>
            <a:pPr algn="l" indent="0" marL="0">
              <a:buNone/>
            </a:pPr>
            <a:r>
              <a:rPr lang="en-US" sz="2000" dirty="0">
                <a:solidFill>
                  <a:schemeClr val="bg1"/>
                </a:solidFill>
              </a:rPr>
              <a:t>Your account is ready. Here's how to get in, now and next time.</a:t>
            </a:r>
            <a:endParaRPr lang="en-US" sz="2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Set your password</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Set your password: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Open the link in your welcome email.</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Choose and confirm a password.</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Select Set password. You're in.</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Signing in next time</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Signing in next time: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886968"/>
          </a:xfrm>
          <a:prstGeom prst="rect">
            <a:avLst/>
          </a:prstGeom>
          <a:noFill/>
          <a:ln/>
        </p:spPr>
        <p:txBody>
          <a:bodyPr wrap="square" lIns="0" tIns="0" rIns="0" bIns="0" rtlCol="0" anchor="t"/>
          <a:lstStyle/>
          <a:p>
            <a:pPr indent="0" marL="0">
              <a:buNone/>
            </a:pPr>
            <a:r>
              <a:rPr lang="en-US" sz="1200" dirty="0">
                <a:solidFill>
                  <a:schemeClr val="tx1"/>
                </a:solidFill>
              </a:rPr>
              <a:t>Your work email and password.</a:t>
            </a:r>
            <a:endParaRPr lang="en-US" sz="1200" dirty="0"/>
          </a:p>
        </p:txBody>
      </p:sp>
      <p:sp>
        <p:nvSpPr>
          <p:cNvPr id="8" name="Step 2 marker"/>
          <p:cNvSpPr/>
          <p:nvPr/>
        </p:nvSpPr>
        <p:spPr>
          <a:xfrm>
            <a:off x="8503920" y="21671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1671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148840"/>
            <a:ext cx="2770632" cy="886968"/>
          </a:xfrm>
          <a:prstGeom prst="rect">
            <a:avLst/>
          </a:prstGeom>
          <a:noFill/>
          <a:ln/>
        </p:spPr>
        <p:txBody>
          <a:bodyPr wrap="square" lIns="0" tIns="0" rIns="0" bIns="0" rtlCol="0" anchor="t"/>
          <a:lstStyle/>
          <a:p>
            <a:pPr indent="0" marL="0">
              <a:buNone/>
            </a:pPr>
            <a:r>
              <a:rPr lang="en-US" sz="1200" dirty="0">
                <a:solidFill>
                  <a:schemeClr val="tx1"/>
                </a:solidFill>
              </a:rPr>
              <a:t>Select Sign in.</a:t>
            </a:r>
            <a:endParaRPr lang="en-US" sz="1200" dirty="0"/>
          </a:p>
        </p:txBody>
      </p:sp>
      <p:sp>
        <p:nvSpPr>
          <p:cNvPr id="11" name="Step 3 marker"/>
          <p:cNvSpPr/>
          <p:nvPr/>
        </p:nvSpPr>
        <p:spPr>
          <a:xfrm>
            <a:off x="8503920" y="31272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1272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108960"/>
            <a:ext cx="2770632" cy="886968"/>
          </a:xfrm>
          <a:prstGeom prst="rect">
            <a:avLst/>
          </a:prstGeom>
          <a:noFill/>
          <a:ln/>
        </p:spPr>
        <p:txBody>
          <a:bodyPr wrap="square" lIns="0" tIns="0" rIns="0" bIns="0" rtlCol="0" anchor="t"/>
          <a:lstStyle/>
          <a:p>
            <a:pPr indent="0" marL="0">
              <a:buNone/>
            </a:pPr>
            <a:r>
              <a:rPr lang="en-US" sz="1200" dirty="0">
                <a:solidFill>
                  <a:schemeClr val="tx1"/>
                </a:solidFill>
              </a:rPr>
              <a:t>Or use your Microsoft or Google work account.</a:t>
            </a:r>
            <a:endParaRPr lang="en-US" sz="1200" dirty="0"/>
          </a:p>
        </p:txBody>
      </p:sp>
      <p:sp>
        <p:nvSpPr>
          <p:cNvPr id="14" name="Step 4 marker"/>
          <p:cNvSpPr/>
          <p:nvPr/>
        </p:nvSpPr>
        <p:spPr>
          <a:xfrm>
            <a:off x="8503920" y="4087368"/>
            <a:ext cx="347472" cy="347472"/>
          </a:xfrm>
          <a:prstGeom prst="ellipse">
            <a:avLst/>
          </a:prstGeom>
          <a:solidFill>
            <a:schemeClr val="accent3"/>
          </a:solidFill>
          <a:ln w="12700">
            <a:solidFill>
              <a:schemeClr val="accent3"/>
            </a:solidFill>
            <a:prstDash val="solid"/>
          </a:ln>
        </p:spPr>
      </p:sp>
      <p:sp>
        <p:nvSpPr>
          <p:cNvPr id="15" name="Step 4 number"/>
          <p:cNvSpPr txBox="1"/>
          <p:nvPr/>
        </p:nvSpPr>
        <p:spPr>
          <a:xfrm>
            <a:off x="8503920" y="408736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Step 4 text"/>
          <p:cNvSpPr txBox="1"/>
          <p:nvPr/>
        </p:nvSpPr>
        <p:spPr>
          <a:xfrm>
            <a:off x="8979408" y="4069080"/>
            <a:ext cx="2770632" cy="886968"/>
          </a:xfrm>
          <a:prstGeom prst="rect">
            <a:avLst/>
          </a:prstGeom>
          <a:noFill/>
          <a:ln/>
        </p:spPr>
        <p:txBody>
          <a:bodyPr wrap="square" lIns="0" tIns="0" rIns="0" bIns="0" rtlCol="0" anchor="t"/>
          <a:lstStyle/>
          <a:p>
            <a:pPr indent="0" marL="0">
              <a:buNone/>
            </a:pPr>
            <a:r>
              <a:rPr lang="en-US" sz="1200" dirty="0">
                <a:solidFill>
                  <a:schemeClr val="tx1"/>
                </a:solidFill>
              </a:rPr>
              <a:t>Forgotten your password? Email yourself a sign-in link.</a:t>
            </a:r>
            <a:endParaRPr lang="en-US" sz="1200" dirty="0"/>
          </a:p>
        </p:txBody>
      </p:sp>
      <p:sp>
        <p:nvSpPr>
          <p:cNvPr id="17" name="Step 5 marker"/>
          <p:cNvSpPr/>
          <p:nvPr/>
        </p:nvSpPr>
        <p:spPr>
          <a:xfrm>
            <a:off x="8503920" y="5047488"/>
            <a:ext cx="347472" cy="347472"/>
          </a:xfrm>
          <a:prstGeom prst="ellipse">
            <a:avLst/>
          </a:prstGeom>
          <a:solidFill>
            <a:schemeClr val="accent3"/>
          </a:solidFill>
          <a:ln w="12700">
            <a:solidFill>
              <a:schemeClr val="accent3"/>
            </a:solidFill>
            <a:prstDash val="solid"/>
          </a:ln>
        </p:spPr>
      </p:sp>
      <p:sp>
        <p:nvSpPr>
          <p:cNvPr id="18" name="Step 5 number"/>
          <p:cNvSpPr txBox="1"/>
          <p:nvPr/>
        </p:nvSpPr>
        <p:spPr>
          <a:xfrm>
            <a:off x="8503920" y="504748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9" name="Step 5 text"/>
          <p:cNvSpPr txBox="1"/>
          <p:nvPr/>
        </p:nvSpPr>
        <p:spPr>
          <a:xfrm>
            <a:off x="8979408" y="5029200"/>
            <a:ext cx="2770632" cy="886968"/>
          </a:xfrm>
          <a:prstGeom prst="rect">
            <a:avLst/>
          </a:prstGeom>
          <a:noFill/>
          <a:ln/>
        </p:spPr>
        <p:txBody>
          <a:bodyPr wrap="square" lIns="0" tIns="0" rIns="0" bIns="0" rtlCol="0" anchor="t"/>
          <a:lstStyle/>
          <a:p>
            <a:pPr indent="0" marL="0">
              <a:buNone/>
            </a:pPr>
            <a:r>
              <a:rPr lang="en-US" sz="1200" dirty="0">
                <a:solidFill>
                  <a:schemeClr val="tx1"/>
                </a:solidFill>
              </a:rPr>
              <a:t>Colleagues can request their own access here.</a:t>
            </a:r>
            <a:endParaRPr lang="en-US" sz="120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number"/>
          <p:cNvSpPr txBox="1"/>
          <p:nvPr/>
        </p:nvSpPr>
        <p:spPr>
          <a:xfrm>
            <a:off x="731520" y="1463040"/>
            <a:ext cx="1828800" cy="1097280"/>
          </a:xfrm>
          <a:prstGeom prst="rect">
            <a:avLst/>
          </a:prstGeom>
          <a:noFill/>
          <a:ln/>
        </p:spPr>
        <p:txBody>
          <a:bodyPr wrap="square" lIns="0" tIns="0" rIns="0" bIns="0" rtlCol="0" anchor="ctr"/>
          <a:lstStyle/>
          <a:p>
            <a:pPr indent="0" marL="0">
              <a:buNone/>
            </a:pPr>
            <a:r>
              <a:rPr lang="en-US" sz="6600" b="1" dirty="0">
                <a:solidFill>
                  <a:schemeClr val="accent2"/>
                </a:solidFill>
              </a:rPr>
              <a:t>02</a:t>
            </a:r>
            <a:endParaRPr lang="en-US" sz="6600" dirty="0"/>
          </a:p>
        </p:txBody>
      </p:sp>
      <p:sp>
        <p:nvSpPr>
          <p:cNvPr id="3" name="Text 0"/>
          <p:cNvSpPr/>
          <p:nvPr>
            <p:ph idx="101" type="title" hasCustomPrompt="1"/>
          </p:nvPr>
        </p:nvSpPr>
        <p:spPr>
          <a:xfrm>
            <a:off x="731520" y="2743200"/>
            <a:ext cx="10058400" cy="1005840"/>
          </a:xfrm>
          <a:prstGeom prst="rect">
            <a:avLst/>
          </a:prstGeom>
          <a:noFill/>
          <a:ln/>
        </p:spPr>
        <p:txBody>
          <a:bodyPr wrap="square" lIns="0" tIns="0" rIns="0" bIns="0" rtlCol="0" anchor="t"/>
          <a:lstStyle/>
          <a:p>
            <a:pPr algn="l" indent="0" marL="0">
              <a:buNone/>
            </a:pPr>
            <a:r>
              <a:rPr lang="en-US" sz="4000" b="1" dirty="0">
                <a:solidFill>
                  <a:schemeClr val="bg1"/>
                </a:solidFill>
              </a:rPr>
              <a:t>Your dashboard</a:t>
            </a: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lIns="0" tIns="0" rIns="0" bIns="0" rtlCol="0" anchor="t"/>
          <a:lstStyle/>
          <a:p>
            <a:pPr algn="l" indent="0" marL="0">
              <a:buNone/>
            </a:pPr>
            <a:r>
              <a:rPr lang="en-US" sz="2000" dirty="0">
                <a:solidFill>
                  <a:schemeClr val="bg1"/>
                </a:solidFill>
              </a:rPr>
              <a:t>Everything you have with Otta, on one page.</a:t>
            </a:r>
            <a:endParaRPr lang="en-US" sz="2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Your dashboard</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Your dashboard: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The menu takes you to every part of the portal.</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Your active book: the annual premium of your clients' active policies with Otta.</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Your open quote requests, active policies and renewals due.</a:t>
            </a:r>
            <a:endParaRPr lang="en-US" sz="1350" dirty="0"/>
          </a:p>
        </p:txBody>
      </p:sp>
      <p:sp>
        <p:nvSpPr>
          <p:cNvPr id="14" name="Step 4 marker"/>
          <p:cNvSpPr/>
          <p:nvPr/>
        </p:nvSpPr>
        <p:spPr>
          <a:xfrm>
            <a:off x="8503920" y="4773168"/>
            <a:ext cx="347472" cy="347472"/>
          </a:xfrm>
          <a:prstGeom prst="ellipse">
            <a:avLst/>
          </a:prstGeom>
          <a:solidFill>
            <a:schemeClr val="accent3"/>
          </a:solidFill>
          <a:ln w="12700">
            <a:solidFill>
              <a:schemeClr val="accent3"/>
            </a:solidFill>
            <a:prstDash val="solid"/>
          </a:ln>
        </p:spPr>
      </p:sp>
      <p:sp>
        <p:nvSpPr>
          <p:cNvPr id="15" name="Step 4 number"/>
          <p:cNvSpPr txBox="1"/>
          <p:nvPr/>
        </p:nvSpPr>
        <p:spPr>
          <a:xfrm>
            <a:off x="8503920" y="477316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Step 4 text"/>
          <p:cNvSpPr txBox="1"/>
          <p:nvPr/>
        </p:nvSpPr>
        <p:spPr>
          <a:xfrm>
            <a:off x="8979408" y="4754880"/>
            <a:ext cx="2770632" cy="1115568"/>
          </a:xfrm>
          <a:prstGeom prst="rect">
            <a:avLst/>
          </a:prstGeom>
          <a:noFill/>
          <a:ln/>
        </p:spPr>
        <p:txBody>
          <a:bodyPr wrap="square" lIns="0" tIns="0" rIns="0" bIns="0" rtlCol="0" anchor="t"/>
          <a:lstStyle/>
          <a:p>
            <a:pPr indent="0" marL="0">
              <a:buNone/>
            </a:pPr>
            <a:r>
              <a:rPr lang="en-US" sz="1350" dirty="0">
                <a:solidFill>
                  <a:schemeClr val="tx1"/>
                </a:solidFill>
              </a:rPr>
              <a:t>Shortcuts to proposal forms, renewal declarations, claim forms and general forms.</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number"/>
          <p:cNvSpPr txBox="1"/>
          <p:nvPr/>
        </p:nvSpPr>
        <p:spPr>
          <a:xfrm>
            <a:off x="731520" y="1463040"/>
            <a:ext cx="1828800" cy="1097280"/>
          </a:xfrm>
          <a:prstGeom prst="rect">
            <a:avLst/>
          </a:prstGeom>
          <a:noFill/>
          <a:ln/>
        </p:spPr>
        <p:txBody>
          <a:bodyPr wrap="square" lIns="0" tIns="0" rIns="0" bIns="0" rtlCol="0" anchor="ctr"/>
          <a:lstStyle/>
          <a:p>
            <a:pPr indent="0" marL="0">
              <a:buNone/>
            </a:pPr>
            <a:r>
              <a:rPr lang="en-US" sz="6600" b="1" dirty="0">
                <a:solidFill>
                  <a:schemeClr val="accent2"/>
                </a:solidFill>
              </a:rPr>
              <a:t>03</a:t>
            </a:r>
            <a:endParaRPr lang="en-US" sz="6600" dirty="0"/>
          </a:p>
        </p:txBody>
      </p:sp>
      <p:sp>
        <p:nvSpPr>
          <p:cNvPr id="3" name="Text 0"/>
          <p:cNvSpPr/>
          <p:nvPr>
            <p:ph idx="101" type="title" hasCustomPrompt="1"/>
          </p:nvPr>
        </p:nvSpPr>
        <p:spPr>
          <a:xfrm>
            <a:off x="731520" y="2743200"/>
            <a:ext cx="10058400" cy="1005840"/>
          </a:xfrm>
          <a:prstGeom prst="rect">
            <a:avLst/>
          </a:prstGeom>
          <a:noFill/>
          <a:ln/>
        </p:spPr>
        <p:txBody>
          <a:bodyPr wrap="square" lIns="0" tIns="0" rIns="0" bIns="0" rtlCol="0" anchor="t"/>
          <a:lstStyle/>
          <a:p>
            <a:pPr algn="l" indent="0" marL="0">
              <a:buNone/>
            </a:pPr>
            <a:r>
              <a:rPr lang="en-US" sz="4000" b="1" dirty="0">
                <a:solidFill>
                  <a:schemeClr val="bg1"/>
                </a:solidFill>
              </a:rPr>
              <a:t>Applying for cover</a:t>
            </a: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lIns="0" tIns="0" rIns="0" bIns="0" rtlCol="0" anchor="t"/>
          <a:lstStyle/>
          <a:p>
            <a:pPr algn="l" indent="0" marL="0">
              <a:buNone/>
            </a:pPr>
            <a:r>
              <a:rPr lang="en-US" sz="2000" dirty="0">
                <a:solidFill>
                  <a:schemeClr val="bg1"/>
                </a:solidFill>
              </a:rPr>
              <a:t>Complete a form yourself, or send it to your client to fill in.</a:t>
            </a:r>
            <a:endParaRPr lang="en-US" sz="2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Finding the right form</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Finding the right form: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886968"/>
          </a:xfrm>
          <a:prstGeom prst="rect">
            <a:avLst/>
          </a:prstGeom>
          <a:noFill/>
          <a:ln/>
        </p:spPr>
        <p:txBody>
          <a:bodyPr wrap="square" lIns="0" tIns="0" rIns="0" bIns="0" rtlCol="0" anchor="t"/>
          <a:lstStyle/>
          <a:p>
            <a:pPr indent="0" marL="0">
              <a:buNone/>
            </a:pPr>
            <a:r>
              <a:rPr lang="en-US" sz="1200" dirty="0">
                <a:solidFill>
                  <a:schemeClr val="tx1"/>
                </a:solidFill>
              </a:rPr>
              <a:t>Choose proposal forms, renewal declarations, claim forms or general forms.</a:t>
            </a:r>
            <a:endParaRPr lang="en-US" sz="1200" dirty="0"/>
          </a:p>
        </p:txBody>
      </p:sp>
      <p:sp>
        <p:nvSpPr>
          <p:cNvPr id="8" name="Step 2 marker"/>
          <p:cNvSpPr/>
          <p:nvPr/>
        </p:nvSpPr>
        <p:spPr>
          <a:xfrm>
            <a:off x="8503920" y="21671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1671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148840"/>
            <a:ext cx="2770632" cy="886968"/>
          </a:xfrm>
          <a:prstGeom prst="rect">
            <a:avLst/>
          </a:prstGeom>
          <a:noFill/>
          <a:ln/>
        </p:spPr>
        <p:txBody>
          <a:bodyPr wrap="square" lIns="0" tIns="0" rIns="0" bIns="0" rtlCol="0" anchor="t"/>
          <a:lstStyle/>
          <a:p>
            <a:pPr indent="0" marL="0">
              <a:buNone/>
            </a:pPr>
            <a:r>
              <a:rPr lang="en-US" sz="1200" dirty="0">
                <a:solidFill>
                  <a:schemeClr val="tx1"/>
                </a:solidFill>
              </a:rPr>
              <a:t>Search, or filter by product.</a:t>
            </a:r>
            <a:endParaRPr lang="en-US" sz="1200" dirty="0"/>
          </a:p>
        </p:txBody>
      </p:sp>
      <p:sp>
        <p:nvSpPr>
          <p:cNvPr id="11" name="Step 3 marker"/>
          <p:cNvSpPr/>
          <p:nvPr/>
        </p:nvSpPr>
        <p:spPr>
          <a:xfrm>
            <a:off x="8503920" y="31272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1272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108960"/>
            <a:ext cx="2770632" cy="886968"/>
          </a:xfrm>
          <a:prstGeom prst="rect">
            <a:avLst/>
          </a:prstGeom>
          <a:noFill/>
          <a:ln/>
        </p:spPr>
        <p:txBody>
          <a:bodyPr wrap="square" lIns="0" tIns="0" rIns="0" bIns="0" rtlCol="0" anchor="t"/>
          <a:lstStyle/>
          <a:p>
            <a:pPr indent="0" marL="0">
              <a:buNone/>
            </a:pPr>
            <a:r>
              <a:rPr lang="en-US" sz="1200" dirty="0">
                <a:solidFill>
                  <a:schemeClr val="tx1"/>
                </a:solidFill>
              </a:rPr>
              <a:t>Forms are grouped by product.</a:t>
            </a:r>
            <a:endParaRPr lang="en-US" sz="1200" dirty="0"/>
          </a:p>
        </p:txBody>
      </p:sp>
      <p:sp>
        <p:nvSpPr>
          <p:cNvPr id="14" name="Step 4 marker"/>
          <p:cNvSpPr/>
          <p:nvPr/>
        </p:nvSpPr>
        <p:spPr>
          <a:xfrm>
            <a:off x="8503920" y="4087368"/>
            <a:ext cx="347472" cy="347472"/>
          </a:xfrm>
          <a:prstGeom prst="ellipse">
            <a:avLst/>
          </a:prstGeom>
          <a:solidFill>
            <a:schemeClr val="accent3"/>
          </a:solidFill>
          <a:ln w="12700">
            <a:solidFill>
              <a:schemeClr val="accent3"/>
            </a:solidFill>
            <a:prstDash val="solid"/>
          </a:ln>
        </p:spPr>
      </p:sp>
      <p:sp>
        <p:nvSpPr>
          <p:cNvPr id="15" name="Step 4 number"/>
          <p:cNvSpPr txBox="1"/>
          <p:nvPr/>
        </p:nvSpPr>
        <p:spPr>
          <a:xfrm>
            <a:off x="8503920" y="408736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Step 4 text"/>
          <p:cNvSpPr txBox="1"/>
          <p:nvPr/>
        </p:nvSpPr>
        <p:spPr>
          <a:xfrm>
            <a:off x="8979408" y="4069080"/>
            <a:ext cx="2770632" cy="886968"/>
          </a:xfrm>
          <a:prstGeom prst="rect">
            <a:avLst/>
          </a:prstGeom>
          <a:noFill/>
          <a:ln/>
        </p:spPr>
        <p:txBody>
          <a:bodyPr wrap="square" lIns="0" tIns="0" rIns="0" bIns="0" rtlCol="0" anchor="t"/>
          <a:lstStyle/>
          <a:p>
            <a:pPr indent="0" marL="0">
              <a:buNone/>
            </a:pPr>
            <a:r>
              <a:rPr lang="en-US" sz="1200" dirty="0">
                <a:solidFill>
                  <a:schemeClr val="tx1"/>
                </a:solidFill>
              </a:rPr>
              <a:t>Select a form to complete it online.</a:t>
            </a:r>
            <a:endParaRPr lang="en-US" sz="1200" dirty="0"/>
          </a:p>
        </p:txBody>
      </p:sp>
      <p:sp>
        <p:nvSpPr>
          <p:cNvPr id="17" name="Step 5 marker"/>
          <p:cNvSpPr/>
          <p:nvPr/>
        </p:nvSpPr>
        <p:spPr>
          <a:xfrm>
            <a:off x="8503920" y="5047488"/>
            <a:ext cx="347472" cy="347472"/>
          </a:xfrm>
          <a:prstGeom prst="ellipse">
            <a:avLst/>
          </a:prstGeom>
          <a:solidFill>
            <a:schemeClr val="accent3"/>
          </a:solidFill>
          <a:ln w="12700">
            <a:solidFill>
              <a:schemeClr val="accent3"/>
            </a:solidFill>
            <a:prstDash val="solid"/>
          </a:ln>
        </p:spPr>
      </p:sp>
      <p:sp>
        <p:nvSpPr>
          <p:cNvPr id="18" name="Step 5 number"/>
          <p:cNvSpPr txBox="1"/>
          <p:nvPr/>
        </p:nvSpPr>
        <p:spPr>
          <a:xfrm>
            <a:off x="8503920" y="504748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9" name="Step 5 text"/>
          <p:cNvSpPr txBox="1"/>
          <p:nvPr/>
        </p:nvSpPr>
        <p:spPr>
          <a:xfrm>
            <a:off x="8979408" y="5029200"/>
            <a:ext cx="2770632" cy="886968"/>
          </a:xfrm>
          <a:prstGeom prst="rect">
            <a:avLst/>
          </a:prstGeom>
          <a:noFill/>
          <a:ln/>
        </p:spPr>
        <p:txBody>
          <a:bodyPr wrap="square" lIns="0" tIns="0" rIns="0" bIns="0" rtlCol="0" anchor="t"/>
          <a:lstStyle/>
          <a:p>
            <a:pPr indent="0" marL="0">
              <a:buNone/>
            </a:pPr>
            <a:r>
              <a:rPr lang="en-US" sz="1200" dirty="0">
                <a:solidFill>
                  <a:schemeClr val="tx1"/>
                </a:solidFill>
              </a:rPr>
              <a:t>Or create a secure link to send to your client.</a:t>
            </a:r>
            <a:endParaRPr lang="en-US" sz="120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Completing a form online</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Completing a form online: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886968"/>
          </a:xfrm>
          <a:prstGeom prst="rect">
            <a:avLst/>
          </a:prstGeom>
          <a:noFill/>
          <a:ln/>
        </p:spPr>
        <p:txBody>
          <a:bodyPr wrap="square" lIns="0" tIns="0" rIns="0" bIns="0" rtlCol="0" anchor="t"/>
          <a:lstStyle/>
          <a:p>
            <a:pPr indent="0" marL="0">
              <a:buNone/>
            </a:pPr>
            <a:r>
              <a:rPr lang="en-US" sz="1200" dirty="0">
                <a:solidFill>
                  <a:schemeClr val="tx1"/>
                </a:solidFill>
              </a:rPr>
              <a:t>Jump to any section.</a:t>
            </a:r>
            <a:endParaRPr lang="en-US" sz="1200" dirty="0"/>
          </a:p>
        </p:txBody>
      </p:sp>
      <p:sp>
        <p:nvSpPr>
          <p:cNvPr id="8" name="Step 2 marker"/>
          <p:cNvSpPr/>
          <p:nvPr/>
        </p:nvSpPr>
        <p:spPr>
          <a:xfrm>
            <a:off x="8503920" y="21671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1671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148840"/>
            <a:ext cx="2770632" cy="886968"/>
          </a:xfrm>
          <a:prstGeom prst="rect">
            <a:avLst/>
          </a:prstGeom>
          <a:noFill/>
          <a:ln/>
        </p:spPr>
        <p:txBody>
          <a:bodyPr wrap="square" lIns="0" tIns="0" rIns="0" bIns="0" rtlCol="0" anchor="t"/>
          <a:lstStyle/>
          <a:p>
            <a:pPr indent="0" marL="0">
              <a:buNone/>
            </a:pPr>
            <a:r>
              <a:rPr lang="en-US" sz="1200" dirty="0">
                <a:solidFill>
                  <a:schemeClr val="tx1"/>
                </a:solidFill>
              </a:rPr>
              <a:t>Each section is clearly headed.</a:t>
            </a:r>
            <a:endParaRPr lang="en-US" sz="1200" dirty="0"/>
          </a:p>
        </p:txBody>
      </p:sp>
      <p:sp>
        <p:nvSpPr>
          <p:cNvPr id="11" name="Step 3 marker"/>
          <p:cNvSpPr/>
          <p:nvPr/>
        </p:nvSpPr>
        <p:spPr>
          <a:xfrm>
            <a:off x="8503920" y="31272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1272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108960"/>
            <a:ext cx="2770632" cy="886968"/>
          </a:xfrm>
          <a:prstGeom prst="rect">
            <a:avLst/>
          </a:prstGeom>
          <a:noFill/>
          <a:ln/>
        </p:spPr>
        <p:txBody>
          <a:bodyPr wrap="square" lIns="0" tIns="0" rIns="0" bIns="0" rtlCol="0" anchor="t"/>
          <a:lstStyle/>
          <a:p>
            <a:pPr indent="0" marL="0">
              <a:buNone/>
            </a:pPr>
            <a:r>
              <a:rPr lang="en-US" sz="1200" dirty="0">
                <a:solidFill>
                  <a:schemeClr val="tx1"/>
                </a:solidFill>
              </a:rPr>
              <a:t>Fill in the answers.</a:t>
            </a:r>
            <a:endParaRPr lang="en-US" sz="1200" dirty="0"/>
          </a:p>
        </p:txBody>
      </p:sp>
      <p:sp>
        <p:nvSpPr>
          <p:cNvPr id="14" name="Step 4 marker"/>
          <p:cNvSpPr/>
          <p:nvPr/>
        </p:nvSpPr>
        <p:spPr>
          <a:xfrm>
            <a:off x="8503920" y="4087368"/>
            <a:ext cx="347472" cy="347472"/>
          </a:xfrm>
          <a:prstGeom prst="ellipse">
            <a:avLst/>
          </a:prstGeom>
          <a:solidFill>
            <a:schemeClr val="accent3"/>
          </a:solidFill>
          <a:ln w="12700">
            <a:solidFill>
              <a:schemeClr val="accent3"/>
            </a:solidFill>
            <a:prstDash val="solid"/>
          </a:ln>
        </p:spPr>
      </p:sp>
      <p:sp>
        <p:nvSpPr>
          <p:cNvPr id="15" name="Step 4 number"/>
          <p:cNvSpPr txBox="1"/>
          <p:nvPr/>
        </p:nvSpPr>
        <p:spPr>
          <a:xfrm>
            <a:off x="8503920" y="408736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Step 4 text"/>
          <p:cNvSpPr txBox="1"/>
          <p:nvPr/>
        </p:nvSpPr>
        <p:spPr>
          <a:xfrm>
            <a:off x="8979408" y="4069080"/>
            <a:ext cx="2770632" cy="886968"/>
          </a:xfrm>
          <a:prstGeom prst="rect">
            <a:avLst/>
          </a:prstGeom>
          <a:noFill/>
          <a:ln/>
        </p:spPr>
        <p:txBody>
          <a:bodyPr wrap="square" lIns="0" tIns="0" rIns="0" bIns="0" rtlCol="0" anchor="t"/>
          <a:lstStyle/>
          <a:p>
            <a:pPr indent="0" marL="0">
              <a:buNone/>
            </a:pPr>
            <a:r>
              <a:rPr lang="en-US" sz="1200" dirty="0">
                <a:solidFill>
                  <a:schemeClr val="tx1"/>
                </a:solidFill>
              </a:rPr>
              <a:t>Download a PDF copy at any time.</a:t>
            </a:r>
            <a:endParaRPr lang="en-US" sz="1200" dirty="0"/>
          </a:p>
        </p:txBody>
      </p:sp>
      <p:sp>
        <p:nvSpPr>
          <p:cNvPr id="17" name="Step 5 marker"/>
          <p:cNvSpPr/>
          <p:nvPr/>
        </p:nvSpPr>
        <p:spPr>
          <a:xfrm>
            <a:off x="8503920" y="5047488"/>
            <a:ext cx="347472" cy="347472"/>
          </a:xfrm>
          <a:prstGeom prst="ellipse">
            <a:avLst/>
          </a:prstGeom>
          <a:solidFill>
            <a:schemeClr val="accent3"/>
          </a:solidFill>
          <a:ln w="12700">
            <a:solidFill>
              <a:schemeClr val="accent3"/>
            </a:solidFill>
            <a:prstDash val="solid"/>
          </a:ln>
        </p:spPr>
      </p:sp>
      <p:sp>
        <p:nvSpPr>
          <p:cNvPr id="18" name="Step 5 number"/>
          <p:cNvSpPr txBox="1"/>
          <p:nvPr/>
        </p:nvSpPr>
        <p:spPr>
          <a:xfrm>
            <a:off x="8503920" y="504748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9" name="Step 5 text"/>
          <p:cNvSpPr txBox="1"/>
          <p:nvPr/>
        </p:nvSpPr>
        <p:spPr>
          <a:xfrm>
            <a:off x="8979408" y="5029200"/>
            <a:ext cx="2770632" cy="886968"/>
          </a:xfrm>
          <a:prstGeom prst="rect">
            <a:avLst/>
          </a:prstGeom>
          <a:noFill/>
          <a:ln/>
        </p:spPr>
        <p:txBody>
          <a:bodyPr wrap="square" lIns="0" tIns="0" rIns="0" bIns="0" rtlCol="0" anchor="t"/>
          <a:lstStyle/>
          <a:p>
            <a:pPr indent="0" marL="0">
              <a:buNone/>
            </a:pPr>
            <a:r>
              <a:rPr lang="en-US" sz="1200" dirty="0">
                <a:solidFill>
                  <a:schemeClr val="tx1"/>
                </a:solidFill>
              </a:rPr>
              <a:t>Submit. It goes straight to the right Otta team.</a:t>
            </a:r>
            <a:endParaRPr lang="en-US" sz="120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Not sure which cover?</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Not sure which cover?: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Select the question mark beside an option.</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A short explanation of the cover.</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A link to the policy wording.</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Sending a form to your client</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Sending a form to your client: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Choose the form, then enter your client's name.</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Create link, then copy it and send it to your client yourself.</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Tracking applications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Tracking application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Everything sent to Otta, by you or your clients.</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Links you've created for clients, and whether they're done.</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Create another client link, or fill in a form online.</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ection number"/>
          <p:cNvSpPr txBox="1"/>
          <p:nvPr/>
        </p:nvSpPr>
        <p:spPr>
          <a:xfrm>
            <a:off x="731520" y="1463040"/>
            <a:ext cx="1828800" cy="1097280"/>
          </a:xfrm>
          <a:prstGeom prst="rect">
            <a:avLst/>
          </a:prstGeom>
          <a:noFill/>
          <a:ln/>
        </p:spPr>
        <p:txBody>
          <a:bodyPr wrap="square" lIns="0" tIns="0" rIns="0" bIns="0" rtlCol="0" anchor="ctr"/>
          <a:lstStyle/>
          <a:p>
            <a:pPr indent="0" marL="0">
              <a:buNone/>
            </a:pPr>
            <a:r>
              <a:rPr lang="en-US" sz="6600" b="1" dirty="0">
                <a:solidFill>
                  <a:schemeClr val="accent2"/>
                </a:solidFill>
              </a:rPr>
              <a:t>04</a:t>
            </a:r>
            <a:endParaRPr lang="en-US" sz="6600" dirty="0"/>
          </a:p>
        </p:txBody>
      </p:sp>
      <p:sp>
        <p:nvSpPr>
          <p:cNvPr id="3" name="Text 0"/>
          <p:cNvSpPr/>
          <p:nvPr>
            <p:ph idx="101" type="title" hasCustomPrompt="1"/>
          </p:nvPr>
        </p:nvSpPr>
        <p:spPr>
          <a:xfrm>
            <a:off x="731520" y="2743200"/>
            <a:ext cx="10058400" cy="1005840"/>
          </a:xfrm>
          <a:prstGeom prst="rect">
            <a:avLst/>
          </a:prstGeom>
          <a:noFill/>
          <a:ln/>
        </p:spPr>
        <p:txBody>
          <a:bodyPr wrap="square" lIns="0" tIns="0" rIns="0" bIns="0" rtlCol="0" anchor="t"/>
          <a:lstStyle/>
          <a:p>
            <a:pPr algn="l" indent="0" marL="0">
              <a:buNone/>
            </a:pPr>
            <a:r>
              <a:rPr lang="en-US" sz="4000" b="1" dirty="0">
                <a:solidFill>
                  <a:schemeClr val="bg1"/>
                </a:solidFill>
              </a:rPr>
              <a:t>Quotes, policies and claims</a:t>
            </a: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lIns="0" tIns="0" rIns="0" bIns="0" rtlCol="0" anchor="t"/>
          <a:lstStyle/>
          <a:p>
            <a:pPr algn="l" indent="0" marL="0">
              <a:buNone/>
            </a:pPr>
            <a:r>
              <a:rPr lang="en-US" sz="2000" dirty="0">
                <a:solidFill>
                  <a:schemeClr val="bg1"/>
                </a:solidFill>
              </a:rPr>
              <a:t>From quote to bound policy, and following your clients' claims.</a:t>
            </a:r>
            <a:endParaRPr lang="en-US" sz="2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Binding a quote</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Binding a quote: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886968"/>
          </a:xfrm>
          <a:prstGeom prst="rect">
            <a:avLst/>
          </a:prstGeom>
          <a:noFill/>
          <a:ln/>
        </p:spPr>
        <p:txBody>
          <a:bodyPr wrap="square" lIns="0" tIns="0" rIns="0" bIns="0" rtlCol="0" anchor="t"/>
          <a:lstStyle/>
          <a:p>
            <a:pPr indent="0" marL="0">
              <a:buNone/>
            </a:pPr>
            <a:r>
              <a:rPr lang="en-US" sz="1200" dirty="0">
                <a:solidFill>
                  <a:schemeClr val="tx1"/>
                </a:solidFill>
              </a:rPr>
              <a:t>Open the quote.</a:t>
            </a:r>
            <a:endParaRPr lang="en-US" sz="1200" dirty="0"/>
          </a:p>
        </p:txBody>
      </p:sp>
      <p:sp>
        <p:nvSpPr>
          <p:cNvPr id="8" name="Step 2 marker"/>
          <p:cNvSpPr/>
          <p:nvPr/>
        </p:nvSpPr>
        <p:spPr>
          <a:xfrm>
            <a:off x="8503920" y="21671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1671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148840"/>
            <a:ext cx="2770632" cy="886968"/>
          </a:xfrm>
          <a:prstGeom prst="rect">
            <a:avLst/>
          </a:prstGeom>
          <a:noFill/>
          <a:ln/>
        </p:spPr>
        <p:txBody>
          <a:bodyPr wrap="square" lIns="0" tIns="0" rIns="0" bIns="0" rtlCol="0" anchor="t"/>
          <a:lstStyle/>
          <a:p>
            <a:pPr indent="0" marL="0">
              <a:buNone/>
            </a:pPr>
            <a:r>
              <a:rPr lang="en-US" sz="1200" dirty="0">
                <a:solidFill>
                  <a:schemeClr val="tx1"/>
                </a:solidFill>
              </a:rPr>
              <a:t>Bind this quote, once your client accepts.</a:t>
            </a:r>
            <a:endParaRPr lang="en-US" sz="1200" dirty="0"/>
          </a:p>
        </p:txBody>
      </p:sp>
      <p:sp>
        <p:nvSpPr>
          <p:cNvPr id="11" name="Step 3 marker"/>
          <p:cNvSpPr/>
          <p:nvPr/>
        </p:nvSpPr>
        <p:spPr>
          <a:xfrm>
            <a:off x="8503920" y="31272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1272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108960"/>
            <a:ext cx="2770632" cy="886968"/>
          </a:xfrm>
          <a:prstGeom prst="rect">
            <a:avLst/>
          </a:prstGeom>
          <a:noFill/>
          <a:ln/>
        </p:spPr>
        <p:txBody>
          <a:bodyPr wrap="square" lIns="0" tIns="0" rIns="0" bIns="0" rtlCol="0" anchor="t"/>
          <a:lstStyle/>
          <a:p>
            <a:pPr indent="0" marL="0">
              <a:buNone/>
            </a:pPr>
            <a:r>
              <a:rPr lang="en-US" sz="1200" dirty="0">
                <a:solidFill>
                  <a:schemeClr val="tx1"/>
                </a:solidFill>
              </a:rPr>
              <a:t>Choose the inception date.</a:t>
            </a:r>
            <a:endParaRPr lang="en-US" sz="1200" dirty="0"/>
          </a:p>
        </p:txBody>
      </p:sp>
      <p:sp>
        <p:nvSpPr>
          <p:cNvPr id="14" name="Step 4 marker"/>
          <p:cNvSpPr/>
          <p:nvPr/>
        </p:nvSpPr>
        <p:spPr>
          <a:xfrm>
            <a:off x="8503920" y="4087368"/>
            <a:ext cx="347472" cy="347472"/>
          </a:xfrm>
          <a:prstGeom prst="ellipse">
            <a:avLst/>
          </a:prstGeom>
          <a:solidFill>
            <a:schemeClr val="accent3"/>
          </a:solidFill>
          <a:ln w="12700">
            <a:solidFill>
              <a:schemeClr val="accent3"/>
            </a:solidFill>
            <a:prstDash val="solid"/>
          </a:ln>
        </p:spPr>
      </p:sp>
      <p:sp>
        <p:nvSpPr>
          <p:cNvPr id="15" name="Step 4 number"/>
          <p:cNvSpPr txBox="1"/>
          <p:nvPr/>
        </p:nvSpPr>
        <p:spPr>
          <a:xfrm>
            <a:off x="8503920" y="408736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Step 4 text"/>
          <p:cNvSpPr txBox="1"/>
          <p:nvPr/>
        </p:nvSpPr>
        <p:spPr>
          <a:xfrm>
            <a:off x="8979408" y="4069080"/>
            <a:ext cx="2770632" cy="886968"/>
          </a:xfrm>
          <a:prstGeom prst="rect">
            <a:avLst/>
          </a:prstGeom>
          <a:noFill/>
          <a:ln/>
        </p:spPr>
        <p:txBody>
          <a:bodyPr wrap="square" lIns="0" tIns="0" rIns="0" bIns="0" rtlCol="0" anchor="t"/>
          <a:lstStyle/>
          <a:p>
            <a:pPr indent="0" marL="0">
              <a:buNone/>
            </a:pPr>
            <a:r>
              <a:rPr lang="en-US" sz="1200" dirty="0">
                <a:solidFill>
                  <a:schemeClr val="tx1"/>
                </a:solidFill>
              </a:rPr>
              <a:t>Confirm your client has accepted the quote and terms.</a:t>
            </a:r>
            <a:endParaRPr lang="en-US" sz="1200" dirty="0"/>
          </a:p>
        </p:txBody>
      </p:sp>
      <p:sp>
        <p:nvSpPr>
          <p:cNvPr id="17" name="Step 5 marker"/>
          <p:cNvSpPr/>
          <p:nvPr/>
        </p:nvSpPr>
        <p:spPr>
          <a:xfrm>
            <a:off x="8503920" y="5047488"/>
            <a:ext cx="347472" cy="347472"/>
          </a:xfrm>
          <a:prstGeom prst="ellipse">
            <a:avLst/>
          </a:prstGeom>
          <a:solidFill>
            <a:schemeClr val="accent3"/>
          </a:solidFill>
          <a:ln w="12700">
            <a:solidFill>
              <a:schemeClr val="accent3"/>
            </a:solidFill>
            <a:prstDash val="solid"/>
          </a:ln>
        </p:spPr>
      </p:sp>
      <p:sp>
        <p:nvSpPr>
          <p:cNvPr id="18" name="Step 5 number"/>
          <p:cNvSpPr txBox="1"/>
          <p:nvPr/>
        </p:nvSpPr>
        <p:spPr>
          <a:xfrm>
            <a:off x="8503920" y="504748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9" name="Step 5 text"/>
          <p:cNvSpPr txBox="1"/>
          <p:nvPr/>
        </p:nvSpPr>
        <p:spPr>
          <a:xfrm>
            <a:off x="8979408" y="5029200"/>
            <a:ext cx="2770632" cy="886968"/>
          </a:xfrm>
          <a:prstGeom prst="rect">
            <a:avLst/>
          </a:prstGeom>
          <a:noFill/>
          <a:ln/>
        </p:spPr>
        <p:txBody>
          <a:bodyPr wrap="square" lIns="0" tIns="0" rIns="0" bIns="0" rtlCol="0" anchor="t"/>
          <a:lstStyle/>
          <a:p>
            <a:pPr indent="0" marL="0">
              <a:buNone/>
            </a:pPr>
            <a:r>
              <a:rPr lang="en-US" sz="1200" dirty="0">
                <a:solidFill>
                  <a:schemeClr val="tx1"/>
                </a:solidFill>
              </a:rPr>
              <a:t>Instruct Otta to bind. We're told straight away.</a:t>
            </a:r>
            <a:endParaRPr lang="en-US" sz="120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Your policies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Your policie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Search your policies.</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Open a policy for its details and documents.</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Following your clients' claims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Following your clients' claim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Open claims, claims this year and what has been paid.</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Each claim and where it's up to. Select one to see its progress.</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Lodge a claim with the right claim form.</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ection number"/>
          <p:cNvSpPr txBox="1"/>
          <p:nvPr/>
        </p:nvSpPr>
        <p:spPr>
          <a:xfrm>
            <a:off x="731520" y="1463040"/>
            <a:ext cx="1828800" cy="1097280"/>
          </a:xfrm>
          <a:prstGeom prst="rect">
            <a:avLst/>
          </a:prstGeom>
          <a:noFill/>
          <a:ln/>
        </p:spPr>
        <p:txBody>
          <a:bodyPr wrap="square" lIns="0" tIns="0" rIns="0" bIns="0" rtlCol="0" anchor="ctr"/>
          <a:lstStyle/>
          <a:p>
            <a:pPr indent="0" marL="0">
              <a:buNone/>
            </a:pPr>
            <a:r>
              <a:rPr lang="en-US" sz="6600" b="1" dirty="0">
                <a:solidFill>
                  <a:schemeClr val="accent2"/>
                </a:solidFill>
              </a:rPr>
              <a:t>05</a:t>
            </a:r>
            <a:endParaRPr lang="en-US" sz="6600" dirty="0"/>
          </a:p>
        </p:txBody>
      </p:sp>
      <p:sp>
        <p:nvSpPr>
          <p:cNvPr id="3" name="Text 0"/>
          <p:cNvSpPr/>
          <p:nvPr>
            <p:ph idx="101" type="title" hasCustomPrompt="1"/>
          </p:nvPr>
        </p:nvSpPr>
        <p:spPr>
          <a:xfrm>
            <a:off x="731520" y="2743200"/>
            <a:ext cx="10058400" cy="1005840"/>
          </a:xfrm>
          <a:prstGeom prst="rect">
            <a:avLst/>
          </a:prstGeom>
          <a:noFill/>
          <a:ln/>
        </p:spPr>
        <p:txBody>
          <a:bodyPr wrap="square" lIns="0" tIns="0" rIns="0" bIns="0" rtlCol="0" anchor="t"/>
          <a:lstStyle/>
          <a:p>
            <a:pPr algn="l" indent="0" marL="0">
              <a:buNone/>
            </a:pPr>
            <a:r>
              <a:rPr lang="en-US" sz="4000" b="1" dirty="0">
                <a:solidFill>
                  <a:schemeClr val="bg1"/>
                </a:solidFill>
              </a:rPr>
              <a:t>Wordings, training and help</a:t>
            </a:r>
            <a:endParaRPr lang="en-US" sz="4000" dirty="0"/>
          </a:p>
        </p:txBody>
      </p:sp>
      <p:sp>
        <p:nvSpPr>
          <p:cNvPr id="4" name="Text 0"/>
          <p:cNvSpPr/>
          <p:nvPr>
            <p:ph idx="102" type="body" hasCustomPrompt="1"/>
          </p:nvPr>
        </p:nvSpPr>
        <p:spPr>
          <a:xfrm>
            <a:off x="731520" y="3794760"/>
            <a:ext cx="8686800" cy="1097280"/>
          </a:xfrm>
          <a:prstGeom prst="rect">
            <a:avLst/>
          </a:prstGeom>
          <a:noFill/>
          <a:ln/>
        </p:spPr>
        <p:txBody>
          <a:bodyPr wrap="square" lIns="0" tIns="0" rIns="0" bIns="0" rtlCol="0" anchor="t"/>
          <a:lstStyle/>
          <a:p>
            <a:pPr algn="l" indent="0" marL="0">
              <a:buNone/>
            </a:pPr>
            <a:r>
              <a:rPr lang="en-US" sz="2000" dirty="0">
                <a:solidFill>
                  <a:schemeClr val="bg1"/>
                </a:solidFill>
              </a:rPr>
              <a:t>Check cover, brush up on the portal, and talk directly to the underwriters who make the decisions.</a:t>
            </a:r>
            <a:endParaRPr lang="en-US" sz="2000" dirty="0"/>
          </a:p>
        </p:txBody>
      </p:sp>
      <p:sp>
        <p:nvSpPr>
          <p:cNvPr id="25" name="Slide Number Placeholder 0"/>
          <p:cNvSpPr>
            <a:spLocks noGrp="1"/>
          </p:cNvSpPr>
          <p:nvPr>
            <p:ph type="sldNum" sz="quarter" idx="4294967295"/>
          </p:nvPr>
        </p:nvSpPr>
        <p:spPr>
          <a:xfrm>
            <a:off x="11155680" y="62636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Policy wordings</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Policy wordings: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Wordings grouped by product.</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Where a wording covers more than one product, it says which.</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View or download the wording.</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Training</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Training: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Download this guide as a PDF.</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Getting started in five steps.</a:t>
            </a:r>
            <a:endParaRPr lang="en-US" sz="1350" dirty="0"/>
          </a:p>
        </p:txBody>
      </p:sp>
      <p:sp>
        <p:nvSpPr>
          <p:cNvPr id="11" name="Step 3 marker"/>
          <p:cNvSpPr/>
          <p:nvPr/>
        </p:nvSpPr>
        <p:spPr>
          <a:xfrm>
            <a:off x="8503920" y="3584448"/>
            <a:ext cx="347472" cy="347472"/>
          </a:xfrm>
          <a:prstGeom prst="ellipse">
            <a:avLst/>
          </a:prstGeom>
          <a:solidFill>
            <a:schemeClr val="accent3"/>
          </a:solidFill>
          <a:ln w="12700">
            <a:solidFill>
              <a:schemeClr val="accent3"/>
            </a:solidFill>
            <a:prstDash val="solid"/>
          </a:ln>
        </p:spPr>
      </p:sp>
      <p:sp>
        <p:nvSpPr>
          <p:cNvPr id="12" name="Step 3 number"/>
          <p:cNvSpPr txBox="1"/>
          <p:nvPr/>
        </p:nvSpPr>
        <p:spPr>
          <a:xfrm>
            <a:off x="8503920" y="358444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Step 3 text"/>
          <p:cNvSpPr txBox="1"/>
          <p:nvPr/>
        </p:nvSpPr>
        <p:spPr>
          <a:xfrm>
            <a:off x="8979408" y="3566160"/>
            <a:ext cx="2770632" cy="1115568"/>
          </a:xfrm>
          <a:prstGeom prst="rect">
            <a:avLst/>
          </a:prstGeom>
          <a:noFill/>
          <a:ln/>
        </p:spPr>
        <p:txBody>
          <a:bodyPr wrap="square" lIns="0" tIns="0" rIns="0" bIns="0" rtlCol="0" anchor="t"/>
          <a:lstStyle/>
          <a:p>
            <a:pPr indent="0" marL="0">
              <a:buNone/>
            </a:pPr>
            <a:r>
              <a:rPr lang="en-US" sz="1350" dirty="0">
                <a:solidFill>
                  <a:schemeClr val="tx1"/>
                </a:solidFill>
              </a:rPr>
              <a:t>A walkthrough of the portal, with screenshots.</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Help and contact</a:t>
            </a:r>
            <a:endParaRPr lang="en-US" sz="2800" dirty="0"/>
          </a:p>
        </p:txBody>
      </p:sp>
      <p:sp>
        <p:nvSpPr>
          <p:cNvPr id="3" name="Screenshot frame"/>
          <p:cNvSpPr/>
          <p:nvPr/>
        </p:nvSpPr>
        <p:spPr>
          <a:xfrm>
            <a:off x="402336" y="1133856"/>
            <a:ext cx="7790688" cy="4910328"/>
          </a:xfrm>
          <a:prstGeom prst="rect">
            <a:avLst/>
          </a:prstGeom>
          <a:solidFill>
            <a:schemeClr val="bg1"/>
          </a:solidFill>
          <a:ln w="12700">
            <a:solidFill>
              <a:srgbClr val="D5DFDD"/>
            </a:solidFill>
            <a:prstDash val="solid"/>
          </a:ln>
          <a:effectLst>
            <a:outerShdw sx="100000" sy="100000" kx="0" ky="0" algn="bl" rotWithShape="0" blurRad="76200" dist="25400" dir="5400000">
              <a:srgbClr val="000000">
                <a:alpha val="12000"/>
              </a:srgbClr>
            </a:outerShdw>
          </a:effectLst>
        </p:spPr>
      </p:sp>
      <p:pic>
        <p:nvPicPr>
          <p:cNvPr id="4" name="Screenshot" descr="Help and contact: screenshot with numbered callouts">    </p:cNvPr>
          <p:cNvPicPr>
            <a:picLocks noChangeAspect="1"/>
          </p:cNvPicPr>
          <p:nvPr/>
        </p:nvPicPr>
        <p:blipFill>
          <a:blip r:embed="rId1"/>
          <a:stretch>
            <a:fillRect/>
          </a:stretch>
        </p:blipFill>
        <p:spPr>
          <a:xfrm>
            <a:off x="457200" y="1188720"/>
            <a:ext cx="7680960" cy="4800600"/>
          </a:xfrm>
          <a:prstGeom prst="rect">
            <a:avLst/>
          </a:prstGeom>
        </p:spPr>
      </p:pic>
      <p:sp>
        <p:nvSpPr>
          <p:cNvPr id="5" name="Step 1 marker"/>
          <p:cNvSpPr/>
          <p:nvPr/>
        </p:nvSpPr>
        <p:spPr>
          <a:xfrm>
            <a:off x="8503920" y="1207008"/>
            <a:ext cx="347472" cy="347472"/>
          </a:xfrm>
          <a:prstGeom prst="ellipse">
            <a:avLst/>
          </a:prstGeom>
          <a:solidFill>
            <a:schemeClr val="accent3"/>
          </a:solidFill>
          <a:ln w="12700">
            <a:solidFill>
              <a:schemeClr val="accent3"/>
            </a:solidFill>
            <a:prstDash val="solid"/>
          </a:ln>
        </p:spPr>
      </p:sp>
      <p:sp>
        <p:nvSpPr>
          <p:cNvPr id="6" name="Step 1 number"/>
          <p:cNvSpPr txBox="1"/>
          <p:nvPr/>
        </p:nvSpPr>
        <p:spPr>
          <a:xfrm>
            <a:off x="8503920" y="120700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Step 1 text"/>
          <p:cNvSpPr txBox="1"/>
          <p:nvPr/>
        </p:nvSpPr>
        <p:spPr>
          <a:xfrm>
            <a:off x="8979408" y="1188720"/>
            <a:ext cx="2770632" cy="1115568"/>
          </a:xfrm>
          <a:prstGeom prst="rect">
            <a:avLst/>
          </a:prstGeom>
          <a:noFill/>
          <a:ln/>
        </p:spPr>
        <p:txBody>
          <a:bodyPr wrap="square" lIns="0" tIns="0" rIns="0" bIns="0" rtlCol="0" anchor="t"/>
          <a:lstStyle/>
          <a:p>
            <a:pPr indent="0" marL="0">
              <a:buNone/>
            </a:pPr>
            <a:r>
              <a:rPr lang="en-US" sz="1350" dirty="0">
                <a:solidFill>
                  <a:schemeClr val="tx1"/>
                </a:solidFill>
              </a:rPr>
              <a:t>Email the right team directly.</a:t>
            </a:r>
            <a:endParaRPr lang="en-US" sz="1350" dirty="0"/>
          </a:p>
        </p:txBody>
      </p:sp>
      <p:sp>
        <p:nvSpPr>
          <p:cNvPr id="8" name="Step 2 marker"/>
          <p:cNvSpPr/>
          <p:nvPr/>
        </p:nvSpPr>
        <p:spPr>
          <a:xfrm>
            <a:off x="8503920" y="2395728"/>
            <a:ext cx="347472" cy="347472"/>
          </a:xfrm>
          <a:prstGeom prst="ellipse">
            <a:avLst/>
          </a:prstGeom>
          <a:solidFill>
            <a:schemeClr val="accent3"/>
          </a:solidFill>
          <a:ln w="12700">
            <a:solidFill>
              <a:schemeClr val="accent3"/>
            </a:solidFill>
            <a:prstDash val="solid"/>
          </a:ln>
        </p:spPr>
      </p:sp>
      <p:sp>
        <p:nvSpPr>
          <p:cNvPr id="9" name="Step 2 number"/>
          <p:cNvSpPr txBox="1"/>
          <p:nvPr/>
        </p:nvSpPr>
        <p:spPr>
          <a:xfrm>
            <a:off x="8503920" y="239572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Step 2 text"/>
          <p:cNvSpPr txBox="1"/>
          <p:nvPr/>
        </p:nvSpPr>
        <p:spPr>
          <a:xfrm>
            <a:off x="8979408" y="2377440"/>
            <a:ext cx="2770632" cy="1115568"/>
          </a:xfrm>
          <a:prstGeom prst="rect">
            <a:avLst/>
          </a:prstGeom>
          <a:noFill/>
          <a:ln/>
        </p:spPr>
        <p:txBody>
          <a:bodyPr wrap="square" lIns="0" tIns="0" rIns="0" bIns="0" rtlCol="0" anchor="t"/>
          <a:lstStyle/>
          <a:p>
            <a:pPr indent="0" marL="0">
              <a:buNone/>
            </a:pPr>
            <a:r>
              <a:rPr lang="en-US" sz="1350" dirty="0">
                <a:solidFill>
                  <a:schemeClr val="tx1"/>
                </a:solidFill>
              </a:rPr>
              <a:t>Access for colleagues and password help.</a:t>
            </a:r>
            <a:endParaRPr lang="en-US" sz="135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457200" y="274320"/>
            <a:ext cx="10058400" cy="685800"/>
          </a:xfrm>
          <a:prstGeom prst="rect">
            <a:avLst/>
          </a:prstGeom>
          <a:noFill/>
          <a:ln/>
        </p:spPr>
        <p:txBody>
          <a:bodyPr wrap="square" lIns="0" tIns="0" rIns="0" bIns="0" rtlCol="0" anchor="ctr"/>
          <a:lstStyle/>
          <a:p>
            <a:pPr algn="l" indent="0" marL="0">
              <a:buNone/>
            </a:pPr>
            <a:r>
              <a:rPr lang="en-US" sz="2800" b="1" dirty="0">
                <a:solidFill>
                  <a:schemeClr val="tx2"/>
                </a:solidFill>
              </a:rPr>
              <a:t>We're here to help</a:t>
            </a:r>
            <a:endParaRPr lang="en-US" sz="2800" dirty="0"/>
          </a:p>
        </p:txBody>
      </p:sp>
      <p:sp>
        <p:nvSpPr>
          <p:cNvPr id="3" name="Point 1"/>
          <p:cNvSpPr/>
          <p:nvPr/>
        </p:nvSpPr>
        <p:spPr>
          <a:xfrm>
            <a:off x="457200" y="1417320"/>
            <a:ext cx="11247120" cy="960120"/>
          </a:xfrm>
          <a:prstGeom prst="roundRect">
            <a:avLst>
              <a:gd name="adj" fmla="val 7619"/>
            </a:avLst>
          </a:prstGeom>
          <a:solidFill>
            <a:schemeClr val="bg1"/>
          </a:solidFill>
          <a:ln w="12700">
            <a:solidFill>
              <a:srgbClr val="DDE7E5"/>
            </a:solidFill>
            <a:prstDash val="solid"/>
          </a:ln>
        </p:spPr>
      </p:sp>
      <p:sp>
        <p:nvSpPr>
          <p:cNvPr id="4" name="Point 1 marker"/>
          <p:cNvSpPr/>
          <p:nvPr/>
        </p:nvSpPr>
        <p:spPr>
          <a:xfrm>
            <a:off x="731520" y="1668780"/>
            <a:ext cx="457200" cy="457200"/>
          </a:xfrm>
          <a:prstGeom prst="ellipse">
            <a:avLst/>
          </a:prstGeom>
          <a:solidFill>
            <a:schemeClr val="accent2"/>
          </a:solidFill>
          <a:ln w="12700">
            <a:solidFill>
              <a:schemeClr val="accent2"/>
            </a:solidFill>
            <a:prstDash val="solid"/>
          </a:ln>
        </p:spPr>
      </p:sp>
      <p:sp>
        <p:nvSpPr>
          <p:cNvPr id="5" name="Point 1 tick"/>
          <p:cNvSpPr txBox="1"/>
          <p:nvPr/>
        </p:nvSpPr>
        <p:spPr>
          <a:xfrm>
            <a:off x="731520" y="16687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6" name="Point 1 text"/>
          <p:cNvSpPr txBox="1"/>
          <p:nvPr/>
        </p:nvSpPr>
        <p:spPr>
          <a:xfrm>
            <a:off x="1463040" y="1417320"/>
            <a:ext cx="9966960" cy="960120"/>
          </a:xfrm>
          <a:prstGeom prst="rect">
            <a:avLst/>
          </a:prstGeom>
          <a:noFill/>
          <a:ln/>
        </p:spPr>
        <p:txBody>
          <a:bodyPr wrap="square" lIns="0" tIns="0" rIns="0" bIns="0" rtlCol="0" anchor="ctr"/>
          <a:lstStyle/>
          <a:p>
            <a:pPr indent="0" marL="0">
              <a:buNone/>
            </a:pPr>
            <a:r>
              <a:rPr lang="en-US" sz="1800" dirty="0">
                <a:solidFill>
                  <a:schemeClr val="tx1"/>
                </a:solidFill>
              </a:rPr>
              <a:t>Call us on 0800 003 545.</a:t>
            </a:r>
            <a:endParaRPr lang="en-US" sz="1800" dirty="0"/>
          </a:p>
        </p:txBody>
      </p:sp>
      <p:sp>
        <p:nvSpPr>
          <p:cNvPr id="7" name="Point 2"/>
          <p:cNvSpPr/>
          <p:nvPr/>
        </p:nvSpPr>
        <p:spPr>
          <a:xfrm>
            <a:off x="457200" y="2560320"/>
            <a:ext cx="11247120" cy="960120"/>
          </a:xfrm>
          <a:prstGeom prst="roundRect">
            <a:avLst>
              <a:gd name="adj" fmla="val 7619"/>
            </a:avLst>
          </a:prstGeom>
          <a:solidFill>
            <a:schemeClr val="bg1"/>
          </a:solidFill>
          <a:ln w="12700">
            <a:solidFill>
              <a:srgbClr val="DDE7E5"/>
            </a:solidFill>
            <a:prstDash val="solid"/>
          </a:ln>
        </p:spPr>
      </p:sp>
      <p:sp>
        <p:nvSpPr>
          <p:cNvPr id="8" name="Point 2 marker"/>
          <p:cNvSpPr/>
          <p:nvPr/>
        </p:nvSpPr>
        <p:spPr>
          <a:xfrm>
            <a:off x="731520" y="2811780"/>
            <a:ext cx="457200" cy="457200"/>
          </a:xfrm>
          <a:prstGeom prst="ellipse">
            <a:avLst/>
          </a:prstGeom>
          <a:solidFill>
            <a:schemeClr val="accent2"/>
          </a:solidFill>
          <a:ln w="12700">
            <a:solidFill>
              <a:schemeClr val="accent2"/>
            </a:solidFill>
            <a:prstDash val="solid"/>
          </a:ln>
        </p:spPr>
      </p:sp>
      <p:sp>
        <p:nvSpPr>
          <p:cNvPr id="9" name="Point 2 tick"/>
          <p:cNvSpPr txBox="1"/>
          <p:nvPr/>
        </p:nvSpPr>
        <p:spPr>
          <a:xfrm>
            <a:off x="731520" y="28117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0" name="Point 2 text"/>
          <p:cNvSpPr txBox="1"/>
          <p:nvPr/>
        </p:nvSpPr>
        <p:spPr>
          <a:xfrm>
            <a:off x="1463040" y="2560320"/>
            <a:ext cx="9966960" cy="960120"/>
          </a:xfrm>
          <a:prstGeom prst="rect">
            <a:avLst/>
          </a:prstGeom>
          <a:noFill/>
          <a:ln/>
        </p:spPr>
        <p:txBody>
          <a:bodyPr wrap="square" lIns="0" tIns="0" rIns="0" bIns="0" rtlCol="0" anchor="ctr"/>
          <a:lstStyle/>
          <a:p>
            <a:pPr indent="0" marL="0">
              <a:buNone/>
            </a:pPr>
            <a:r>
              <a:rPr lang="en-US" sz="1800" dirty="0">
                <a:solidFill>
                  <a:schemeClr val="tx1"/>
                </a:solidFill>
              </a:rPr>
              <a:t>Email hello@ottainsurance.co.nz, or the team listed under Help &amp; contact.</a:t>
            </a:r>
            <a:endParaRPr lang="en-US" sz="1800" dirty="0"/>
          </a:p>
        </p:txBody>
      </p:sp>
      <p:sp>
        <p:nvSpPr>
          <p:cNvPr id="11" name="Point 3"/>
          <p:cNvSpPr/>
          <p:nvPr/>
        </p:nvSpPr>
        <p:spPr>
          <a:xfrm>
            <a:off x="457200" y="3703320"/>
            <a:ext cx="11247120" cy="960120"/>
          </a:xfrm>
          <a:prstGeom prst="roundRect">
            <a:avLst>
              <a:gd name="adj" fmla="val 7619"/>
            </a:avLst>
          </a:prstGeom>
          <a:solidFill>
            <a:schemeClr val="bg1"/>
          </a:solidFill>
          <a:ln w="12700">
            <a:solidFill>
              <a:srgbClr val="DDE7E5"/>
            </a:solidFill>
            <a:prstDash val="solid"/>
          </a:ln>
        </p:spPr>
      </p:sp>
      <p:sp>
        <p:nvSpPr>
          <p:cNvPr id="12" name="Point 3 marker"/>
          <p:cNvSpPr/>
          <p:nvPr/>
        </p:nvSpPr>
        <p:spPr>
          <a:xfrm>
            <a:off x="731520" y="3954780"/>
            <a:ext cx="457200" cy="457200"/>
          </a:xfrm>
          <a:prstGeom prst="ellipse">
            <a:avLst/>
          </a:prstGeom>
          <a:solidFill>
            <a:schemeClr val="accent2"/>
          </a:solidFill>
          <a:ln w="12700">
            <a:solidFill>
              <a:schemeClr val="accent2"/>
            </a:solidFill>
            <a:prstDash val="solid"/>
          </a:ln>
        </p:spPr>
      </p:sp>
      <p:sp>
        <p:nvSpPr>
          <p:cNvPr id="13" name="Point 3 tick"/>
          <p:cNvSpPr txBox="1"/>
          <p:nvPr/>
        </p:nvSpPr>
        <p:spPr>
          <a:xfrm>
            <a:off x="731520" y="39547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4" name="Point 3 text"/>
          <p:cNvSpPr txBox="1"/>
          <p:nvPr/>
        </p:nvSpPr>
        <p:spPr>
          <a:xfrm>
            <a:off x="1463040" y="3703320"/>
            <a:ext cx="9966960" cy="960120"/>
          </a:xfrm>
          <a:prstGeom prst="rect">
            <a:avLst/>
          </a:prstGeom>
          <a:noFill/>
          <a:ln/>
        </p:spPr>
        <p:txBody>
          <a:bodyPr wrap="square" lIns="0" tIns="0" rIns="0" bIns="0" rtlCol="0" anchor="ctr"/>
          <a:lstStyle/>
          <a:p>
            <a:pPr indent="0" marL="0">
              <a:buNone/>
            </a:pPr>
            <a:r>
              <a:rPr lang="en-US" sz="1800" dirty="0">
                <a:solidFill>
                  <a:schemeClr val="tx1"/>
                </a:solidFill>
              </a:rPr>
              <a:t>Claims: claims@ottainsurance.co.nz.</a:t>
            </a:r>
            <a:endParaRPr lang="en-US" sz="1800" dirty="0"/>
          </a:p>
        </p:txBody>
      </p:sp>
      <p:sp>
        <p:nvSpPr>
          <p:cNvPr id="15" name="Point 4"/>
          <p:cNvSpPr/>
          <p:nvPr/>
        </p:nvSpPr>
        <p:spPr>
          <a:xfrm>
            <a:off x="457200" y="4846320"/>
            <a:ext cx="11247120" cy="960120"/>
          </a:xfrm>
          <a:prstGeom prst="roundRect">
            <a:avLst>
              <a:gd name="adj" fmla="val 7619"/>
            </a:avLst>
          </a:prstGeom>
          <a:solidFill>
            <a:schemeClr val="bg1"/>
          </a:solidFill>
          <a:ln w="12700">
            <a:solidFill>
              <a:srgbClr val="DDE7E5"/>
            </a:solidFill>
            <a:prstDash val="solid"/>
          </a:ln>
        </p:spPr>
      </p:sp>
      <p:sp>
        <p:nvSpPr>
          <p:cNvPr id="16" name="Point 4 marker"/>
          <p:cNvSpPr/>
          <p:nvPr/>
        </p:nvSpPr>
        <p:spPr>
          <a:xfrm>
            <a:off x="731520" y="5097780"/>
            <a:ext cx="457200" cy="457200"/>
          </a:xfrm>
          <a:prstGeom prst="ellipse">
            <a:avLst/>
          </a:prstGeom>
          <a:solidFill>
            <a:schemeClr val="accent2"/>
          </a:solidFill>
          <a:ln w="12700">
            <a:solidFill>
              <a:schemeClr val="accent2"/>
            </a:solidFill>
            <a:prstDash val="solid"/>
          </a:ln>
        </p:spPr>
      </p:sp>
      <p:sp>
        <p:nvSpPr>
          <p:cNvPr id="17" name="Point 4 tick"/>
          <p:cNvSpPr txBox="1"/>
          <p:nvPr/>
        </p:nvSpPr>
        <p:spPr>
          <a:xfrm>
            <a:off x="731520" y="50977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8" name="Point 4 text"/>
          <p:cNvSpPr txBox="1"/>
          <p:nvPr/>
        </p:nvSpPr>
        <p:spPr>
          <a:xfrm>
            <a:off x="1463040" y="4846320"/>
            <a:ext cx="9966960" cy="960120"/>
          </a:xfrm>
          <a:prstGeom prst="rect">
            <a:avLst/>
          </a:prstGeom>
          <a:noFill/>
          <a:ln/>
        </p:spPr>
        <p:txBody>
          <a:bodyPr wrap="square" lIns="0" tIns="0" rIns="0" bIns="0" rtlCol="0" anchor="ctr"/>
          <a:lstStyle/>
          <a:p>
            <a:pPr indent="0" marL="0">
              <a:buNone/>
            </a:pPr>
            <a:r>
              <a:rPr lang="en-US" sz="1800" dirty="0">
                <a:solidFill>
                  <a:schemeClr val="tx1"/>
                </a:solidFill>
              </a:rPr>
              <a:t>Thanks for choosing Otta. We look forward to working with you.</a:t>
            </a:r>
            <a:endParaRPr lang="en-US" sz="1800" dirty="0"/>
          </a:p>
        </p:txBody>
      </p:sp>
      <p:sp>
        <p:nvSpPr>
          <p:cNvPr id="25" name="Slide Number Placeholder 0"/>
          <p:cNvSpPr>
            <a:spLocks noGrp="1"/>
          </p:cNvSpPr>
          <p:nvPr>
            <p:ph type="sldNum" sz="quarter" idx="4294967295"/>
          </p:nvPr>
        </p:nvSpPr>
        <p:spPr>
          <a:xfrm>
            <a:off x="1120140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E72"/>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Otta">
  <a:themeElements>
    <a:clrScheme name="Otta">
      <a:dk1>
        <a:srgbClr val="303133"/>
      </a:dk1>
      <a:lt1>
        <a:srgbClr val="FFFFFF"/>
      </a:lt1>
      <a:dk2>
        <a:srgbClr val="014C69"/>
      </a:dk2>
      <a:lt2>
        <a:srgbClr val="F2F7F6"/>
      </a:lt2>
      <a:accent1>
        <a:srgbClr val="2E7D74"/>
      </a:accent1>
      <a:accent2>
        <a:srgbClr val="61B9AD"/>
      </a:accent2>
      <a:accent3>
        <a:srgbClr val="5E008D"/>
      </a:accent3>
      <a:accent4>
        <a:srgbClr val="014C69"/>
      </a:accent4>
      <a:accent5>
        <a:srgbClr val="E8F4F2"/>
      </a:accent5>
      <a:accent6>
        <a:srgbClr val="F1E6F7"/>
      </a:accent6>
      <a:hlink>
        <a:srgbClr val="2E7D74"/>
      </a:hlink>
      <a:folHlink>
        <a:srgbClr val="5E008D"/>
      </a:folHlink>
    </a:clrScheme>
    <a:fontScheme name="Ott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Otta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the Otta Broker Portal</dc:title>
  <dc:subject>PptxGenJS Presentation</dc:subject>
  <dc:creator>Otta</dc:creator>
  <cp:lastModifiedBy>Otta</cp:lastModifiedBy>
  <cp:revision>1</cp:revision>
  <dcterms:created xsi:type="dcterms:W3CDTF">2026-10-14T22:46:08Z</dcterms:created>
  <dcterms:modified xsi:type="dcterms:W3CDTF">2026-10-14T22:46:08Z</dcterms:modified>
</cp:coreProperties>
</file>