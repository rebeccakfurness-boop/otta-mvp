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cc3908c-6a18-dd06-0da5-75dc90e31ca0}">
          <p14:sldIdLst>
            <p14:sldId id="257"/>
            <p14:sldId id="258"/>
          </p14:sldIdLst>
        </p14:section>
        <p14:section name="The walkthrough" id="{6487f9b7-1913-4ed1-b98d-daa0f69b4053}">
          <p14:sldIdLst>
            <p14:sldId id="259"/>
            <p14:sldId id="260"/>
            <p14:sldId id="261"/>
            <p14:sldId id="262"/>
            <p14:sldId id="263"/>
            <p14:sldId id="264"/>
            <p14:sldId id="265"/>
            <p14:sldId id="266"/>
            <p14:sldId id="267"/>
            <p14:sldId id="268"/>
          </p14:sldIdLst>
        </p14:section>
        <p14:section name="New this week" id="{aeb4583f-3b56-50ca-c31d-f9eb2a6e57ed}">
          <p14:sldIdLst>
            <p14:sldId id="269"/>
            <p14:sldId id="270"/>
            <p14:sldId id="271"/>
            <p14:sldId id="272"/>
          </p14:sldIdLst>
        </p14:section>
        <p14:section name="What could we add?" id="{0a0f4c0e-752b-30ff-f6fa-570566eb8564}">
          <p14:sldIdLst>
            <p14:sldId id="273"/>
            <p14:sldId id="274"/>
          </p14:sldIdLst>
        </p14:section>
        <p14:section name="Copy still needed" id="{a1cc13ef-fe98-ee2e-ee59-1ea3d673da73}">
          <p14:sldIdLst>
            <p14:sldId id="275"/>
            <p14:sldId id="276"/>
          </p14:sldIdLst>
        </p14:section>
        <p14:section name="Getting Phase 1 live" id="{39bd7711-af09-fc8f-828e-9b3cd9153e1d}">
          <p14:sldIdLst>
            <p14:sldId id="277"/>
            <p14:sldId id="278"/>
            <p14:sldId id="279"/>
          </p14:sldIdLst>
        </p14:section>
        <p14:section name="Next steps" id="{893441cc-7044-396a-b558-d22c18dda24e}">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14C69"/>
                </a:solidFill>
                <a:latin typeface="+mn-lt"/>
              </a:defRPr>
            </a:pPr>
            <a:r>
              <a:rPr sz="1400" b="0" i="0" u="none" strike="noStrike">
                <a:solidFill>
                  <a:srgbClr val="014C69"/>
                </a:solidFill>
                <a:latin typeface="+mn-lt"/>
              </a:rPr>
              <a:t>Items still needed, by area</a:t>
            </a:r>
          </a:p>
        </c:rich>
      </c:tx>
      <c:layout/>
      <c:overlay val="0"/>
    </c:title>
    <c:autoTitleDeleted val="0"/>
    <c:plotArea>
      <c:layout/>
      <c:barChart>
        <c:barDir val="bar"/>
        <c:grouping val="clustered"/>
        <c:varyColors val="0"/>
        <c:ser>
          <c:idx val="0"/>
          <c:order val="0"/>
          <c:tx>
            <c:strRef>
              <c:f>Sheet1!$B$1</c:f>
              <c:strCache>
                <c:ptCount val="1"/>
                <c:pt idx="0">
                  <c:v>Items</c:v>
                </c:pt>
              </c:strCache>
            </c:strRef>
          </c:tx>
          <c:spPr>
            <a:solidFill>
              <a:srgbClr val="2E7D74"/>
            </a:solidFill>
            <a:effectLst/>
          </c:spPr>
          <c:invertIfNegative val="0"/>
          <c:dLbls>
            <c:numFmt formatCode="#,##0" sourceLinked="0"/>
            <c:txPr>
              <a:bodyPr/>
              <a:lstStyle/>
              <a:p>
                <a:pPr>
                  <a:defRPr b="0" i="0" strike="noStrike" sz="1200" u="none">
                    <a:solidFill>
                      <a:srgbClr val="303133"/>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Compliance wording</c:v>
                  </c:pt>
                  <c:pt idx="1">
                    <c:v>Website pages</c:v>
                  </c:pt>
                  <c:pt idx="2">
                    <c:v>Photos and video</c:v>
                  </c:pt>
                  <c:pt idx="3">
                    <c:v>Forms and documents</c:v>
                  </c:pt>
                  <c:pt idx="4">
                    <c:v>Emails and guide</c:v>
                  </c:pt>
                </c:lvl>
              </c:multiLvlStrCache>
            </c:multiLvlStrRef>
          </c:cat>
          <c:val>
            <c:numRef>
              <c:f>Sheet1!$B$2:$B$6</c:f>
              <c:numCache>
                <c:formatCode>General</c:formatCode>
                <c:ptCount val="5"/>
                <c:pt idx="0">
                  <c:v>7</c:v>
                </c:pt>
                <c:pt idx="1">
                  <c:v>10</c:v>
                </c:pt>
                <c:pt idx="2">
                  <c:v>4</c:v>
                </c:pt>
                <c:pt idx="3">
                  <c:v>14</c:v>
                </c:pt>
                <c:pt idx="4">
                  <c:v>3</c:v>
                </c:pt>
              </c:numCache>
            </c:numRef>
          </c:val>
        </c:ser>
        <c:dLbls>
          <c:numFmt formatCode="#,##0" sourceLinked="0"/>
          <c:txPr>
            <a:bodyPr/>
            <a:lstStyle/>
            <a:p>
              <a:pPr>
                <a:defRPr b="0" i="0" strike="noStrike" sz="1200" u="none">
                  <a:solidFill>
                    <a:srgbClr val="3031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031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we'll walk through the website, the broker portal and the admin portal working together, look at three features added this week, then use the second half to agree what's next: ideas, the copy we still need, and what it takes to launch the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walkthrough moving: about three minutes a stop. Hold questions about new features for the ideas section so we finish on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the broker portal and the admin portal are one system. Every enquiry, application and bind lands in one place, and the underwriting starts before anyone opens the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walkthrough. A visitor finds us, a broker applies, an underwriter decides, the broker binds, and the book reports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home page, open Rental Property, open the social housing fact sheet in a new tab, then search for airbnb. Every word on the site lives in one place so the team can change copy without hunting through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Brad: does rental property insurance cover meth contamination? Then let someone ask Steve anything. Whether Steve stays for launch is one of today's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to pause. Every enquiry, quote request, claim and bind instruction now lands here live, not in someone's inbox. Mark handled shows who has replied.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 in as Alex at Harbour Insurance Brokers. Otta never contacts a broker's clients: the broker owns that relationship and the portal respects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assistant gives a first read in seconds and cites the guide section for every suggestion. The underwriter makes every decision. No more rekeying into V13: copy, click the yellow cell, paste.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Bind quote Q-26-0146 as Alex. The instruction, date and confirmation are captured in one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Brokers follow their clients' claims themselves, find wordings without asking, and learn the portal from the Training page their welcome email links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 in as Beazley in a private window, then Steadfast. Nobody is told their level. Networks and coverholders are view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month the figures are sample history; they turn real once InsuredHQ is connected. Filter by Beazley's products to show the coverholder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this week. Three ideas from the board, already built: e-signatures, document uploads, and website analytics and SEO.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more printing, signing and scanning the declaration. The signature goes into the PDF with a note: signed electronically by the name, on the date and time, drawn or typed. For signatures with legal weight on high value policies we could add a verified service later; this covers the everyday declaration.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underwriter gets everything in one place on day one, instead of chasing attachments by email. There's a 4 MB limit per form today; larger files would move to file storage in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site stays hidden from Google while the Coming Soon page is on. On launch day we switch it off and Google can index the website, but never the portals. Analytics shows which products people look at, so marketing knows what's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could we add?. Open the demo day page on your phone and vote for the three you'd want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 sixteen are already built. Ask everyone to vote on the demo day page; the results feed the Phase 2 and 3 plan. The big one is InsuredHQ: it turns reporting, claims and the broker book into live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still needed. 38 pieces of wording before launch. Every one needs a name and a date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compliance wording comes first: the site can't go live without it. The full list, with space to write the copy, is in the Word tracker on OneDrive and on the demo day page, where owners and dates update for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Phase 1 live. Phase 1 is the public website. Leave with an owner and a date on every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portals are built and demo ready. They go live once real data and sign-in are connected; that's Phase 2. Phase 1 is only the website, so the list of what's left is short and mostly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line has a space for an owner and a date on the demo day page. Go through Decisions together; Content and Technical can be assigned and followed up after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decisions captured on the demo day page, copy the summary into the follow-up email, and press Celebrate.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tta title">
    <p:bg>
      <p:bgPr>
        <a:solidFill>
          <a:schemeClr val="tx2"/>
        </a:solidFill>
      </p:bgPr>
    </p:bg>
    <p:spTree>
      <p:nvGrpSpPr>
        <p:cNvPr id="1" name=""/>
        <p:cNvGrpSpPr/>
        <p:nvPr/>
      </p:nvGrpSpPr>
      <p:grpSpPr>
        <a:xfrm>
          <a:off x="0" y="0"/>
          <a:ext cx="0" cy="0"/>
          <a:chOff x="0" y="0"/>
          <a:chExt cx="0" cy="0"/>
        </a:xfrm>
      </p:grpSpPr>
      <p:pic>
        <p:nvPicPr>
          <p:cNvPr id="2" name="Image 0" descr="/home/user/otta-MVP/public/brand/otta-logo-white.png">    </p:cNvPr>
          <p:cNvPicPr>
            <a:picLocks noChangeAspect="1"/>
          </p:cNvPicPr>
          <p:nvPr/>
        </p:nvPicPr>
        <p:blipFill>
          <a:blip r:embed="rId1"/>
          <a:stretch>
            <a:fillRect/>
          </a:stretch>
        </p:blipFill>
        <p:spPr>
          <a:xfrm>
            <a:off x="731520" y="640080"/>
            <a:ext cx="1737360" cy="649224"/>
          </a:xfrm>
          <a:prstGeom prst="rect">
            <a:avLst/>
          </a:prstGeom>
        </p:spPr>
      </p:pic>
      <p:sp>
        <p:nvSpPr>
          <p:cNvPr id="3" name="Shape 0"/>
          <p:cNvSpPr/>
          <p:nvPr/>
        </p:nvSpPr>
        <p:spPr>
          <a:xfrm>
            <a:off x="731520" y="2788920"/>
            <a:ext cx="1097280" cy="73152"/>
          </a:xfrm>
          <a:prstGeom prst="rect">
            <a:avLst/>
          </a:prstGeom>
          <a:solidFill>
            <a:schemeClr val="accent2"/>
          </a:solidFill>
          <a:ln/>
        </p:spPr>
      </p:sp>
      <p:sp>
        <p:nvSpPr>
          <p:cNvPr id="4" name="Text 1"/>
          <p:cNvSpPr/>
          <p:nvPr>
            <p:ph idx="102" type="title" hasCustomPrompt="1"/>
          </p:nvPr>
        </p:nvSpPr>
        <p:spPr>
          <a:xfrm>
            <a:off x="731520" y="3017520"/>
            <a:ext cx="1051560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5" name="Text 1"/>
          <p:cNvSpPr/>
          <p:nvPr>
            <p:ph idx="103" type="body" hasCustomPrompt="1"/>
          </p:nvPr>
        </p:nvSpPr>
        <p:spPr>
          <a:xfrm>
            <a:off x="731520" y="4434840"/>
            <a:ext cx="10058400" cy="82296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tta section">
    <p:bg>
      <p:bgPr>
        <a:solidFill>
          <a:schemeClr val="accent1"/>
        </a:solidFill>
      </p:bgPr>
    </p:bg>
    <p:spTree>
      <p:nvGrpSpPr>
        <p:cNvPr id="1" name=""/>
        <p:cNvGrpSpPr/>
        <p:nvPr/>
      </p:nvGrpSpPr>
      <p:grpSpPr>
        <a:xfrm>
          <a:off x="0" y="0"/>
          <a:ext cx="0" cy="0"/>
          <a:chOff x="0" y="0"/>
          <a:chExt cx="0" cy="0"/>
        </a:xfrm>
      </p:grpSpPr>
      <p:pic>
        <p:nvPicPr>
          <p:cNvPr id="2" name="Image 0" descr="/home/user/otta-MVP/public/brand/otta-logo-white.png">    </p:cNvPr>
          <p:cNvPicPr>
            <a:picLocks noChangeAspect="1"/>
          </p:cNvPicPr>
          <p:nvPr/>
        </p:nvPicPr>
        <p:blipFill>
          <a:blip r:embed="rId1"/>
          <a:stretch>
            <a:fillRect/>
          </a:stretch>
        </p:blipFill>
        <p:spPr>
          <a:xfrm>
            <a:off x="10607040" y="411480"/>
            <a:ext cx="1143000" cy="429768"/>
          </a:xfrm>
          <a:prstGeom prst="rect">
            <a:avLst/>
          </a:prstGeom>
        </p:spPr>
      </p:pic>
      <p:sp>
        <p:nvSpPr>
          <p:cNvPr id="3" name="Text 0"/>
          <p:cNvSpPr/>
          <p:nvPr>
            <p:ph idx="101" type="title" hasCustomPrompt="1"/>
          </p:nvPr>
        </p:nvSpPr>
        <p:spPr>
          <a:xfrm>
            <a:off x="731520" y="2743200"/>
            <a:ext cx="1005840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794760"/>
            <a:ext cx="9144000" cy="109728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
        <p:nvSpPr>
          <p:cNvPr id="5" name="Text 0"/>
          <p:cNvSpPr/>
          <p:nvPr/>
        </p:nvSpPr>
        <p:spPr>
          <a:xfrm>
            <a:off x="731520" y="6263640"/>
            <a:ext cx="7315200" cy="274320"/>
          </a:xfrm>
          <a:prstGeom prst="rect">
            <a:avLst/>
          </a:prstGeom>
          <a:noFill/>
          <a:ln/>
        </p:spPr>
        <p:txBody>
          <a:bodyPr wrap="square" lIns="0" tIns="0" rIns="0" bIns="0" rtlCol="0" anchor="ctr"/>
          <a:lstStyle/>
          <a:p>
            <a:pPr indent="0" marL="0">
              <a:buNone/>
            </a:pPr>
            <a:r>
              <a:rPr lang="en-US" sz="1000" dirty="0">
                <a:solidFill>
                  <a:schemeClr val="bg1"/>
                </a:solidFill>
              </a:rPr>
              <a:t>Otta  |  Product demo, 16 October 2026</a:t>
            </a:r>
            <a:endParaRPr lang="en-US" sz="1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tta content">
    <p:bg>
      <p:bgPr>
        <a:solidFill>
          <a:schemeClr val="bg2"/>
        </a:solidFill>
      </p:bgPr>
    </p:bg>
    <p:spTree>
      <p:nvGrpSpPr>
        <p:cNvPr id="1" name=""/>
        <p:cNvGrpSpPr/>
        <p:nvPr/>
      </p:nvGrpSpPr>
      <p:grpSpPr>
        <a:xfrm>
          <a:off x="0" y="0"/>
          <a:ext cx="0" cy="0"/>
          <a:chOff x="0" y="0"/>
          <a:chExt cx="0" cy="0"/>
        </a:xfrm>
      </p:grpSpPr>
      <p:pic>
        <p:nvPicPr>
          <p:cNvPr id="2" name="Image 0" descr="/home/user/otta-MVP/public/brand/otta-logo.png">    </p:cNvPr>
          <p:cNvPicPr>
            <a:picLocks noChangeAspect="1"/>
          </p:cNvPicPr>
          <p:nvPr/>
        </p:nvPicPr>
        <p:blipFill>
          <a:blip r:embed="rId1"/>
          <a:stretch>
            <a:fillRect/>
          </a:stretch>
        </p:blipFill>
        <p:spPr>
          <a:xfrm>
            <a:off x="10835640" y="347472"/>
            <a:ext cx="914400" cy="338328"/>
          </a:xfrm>
          <a:prstGeom prst="rect">
            <a:avLst/>
          </a:prstGeom>
        </p:spPr>
      </p:pic>
      <p:sp>
        <p:nvSpPr>
          <p:cNvPr id="3" name="Text 0"/>
          <p:cNvSpPr/>
          <p:nvPr>
            <p:ph idx="101" type="title" hasCustomPrompt="1"/>
          </p:nvPr>
        </p:nvSpPr>
        <p:spPr>
          <a:xfrm>
            <a:off x="457200" y="274320"/>
            <a:ext cx="10058400" cy="6858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6E72"/>
                </a:solidFill>
              </a:rPr>
              <a:t>Otta  |  Product demo, 16 October 2026</a:t>
            </a:r>
            <a:endParaRPr lang="en-US" sz="10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731520" y="3017520"/>
            <a:ext cx="10515600" cy="1371600"/>
          </a:xfrm>
          <a:prstGeom prst="rect">
            <a:avLst/>
          </a:prstGeom>
          <a:noFill/>
          <a:ln/>
        </p:spPr>
        <p:txBody>
          <a:bodyPr wrap="square" lIns="0" tIns="0" rIns="0" bIns="0" rtlCol="0" anchor="t"/>
          <a:lstStyle/>
          <a:p>
            <a:pPr algn="l" indent="0" marL="0">
              <a:buNone/>
            </a:pPr>
            <a:r>
              <a:rPr lang="en-US" sz="4400" b="1" dirty="0">
                <a:solidFill>
                  <a:schemeClr val="bg1"/>
                </a:solidFill>
              </a:rPr>
              <a:t>One platform for how Otta works</a:t>
            </a:r>
            <a:endParaRPr lang="en-US" sz="4400" dirty="0"/>
          </a:p>
        </p:txBody>
      </p:sp>
      <p:sp>
        <p:nvSpPr>
          <p:cNvPr id="3" name="Text 1"/>
          <p:cNvSpPr/>
          <p:nvPr>
            <p:ph idx="103" type="body" hasCustomPrompt="1"/>
          </p:nvPr>
        </p:nvSpPr>
        <p:spPr>
          <a:xfrm>
            <a:off x="731520" y="4434840"/>
            <a:ext cx="10058400" cy="822960"/>
          </a:xfrm>
          <a:prstGeom prst="rect">
            <a:avLst/>
          </a:prstGeom>
          <a:noFill/>
          <a:ln/>
        </p:spPr>
        <p:txBody>
          <a:bodyPr wrap="square" lIns="0" tIns="0" rIns="0" bIns="0" rtlCol="0" anchor="t"/>
          <a:lstStyle/>
          <a:p>
            <a:pPr algn="l" indent="0" marL="0">
              <a:buNone/>
            </a:pPr>
            <a:r>
              <a:rPr lang="en-US" sz="2000" dirty="0">
                <a:solidFill>
                  <a:schemeClr val="bg1"/>
                </a:solidFill>
              </a:rPr>
              <a:t>Product demo, then ideas, copy and Phase 1 decisions  |  16 October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Today: 60 minutes</a:t>
            </a:r>
            <a:endParaRPr lang="en-US" sz="2800" dirty="0"/>
          </a:p>
        </p:txBody>
      </p:sp>
      <p:sp>
        <p:nvSpPr>
          <p:cNvPr id="3" name="Agenda 1"/>
          <p:cNvSpPr/>
          <p:nvPr/>
        </p:nvSpPr>
        <p:spPr>
          <a:xfrm>
            <a:off x="457200" y="1234440"/>
            <a:ext cx="11247120" cy="713232"/>
          </a:xfrm>
          <a:prstGeom prst="roundRect">
            <a:avLst>
              <a:gd name="adj" fmla="val 10256"/>
            </a:avLst>
          </a:prstGeom>
          <a:solidFill>
            <a:schemeClr val="bg1"/>
          </a:solidFill>
          <a:ln w="12700">
            <a:solidFill>
              <a:srgbClr val="DDE7E5"/>
            </a:solidFill>
            <a:prstDash val="solid"/>
          </a:ln>
        </p:spPr>
      </p:sp>
      <p:sp>
        <p:nvSpPr>
          <p:cNvPr id="4" name="Agenda 1 minutes"/>
          <p:cNvSpPr txBox="1"/>
          <p:nvPr/>
        </p:nvSpPr>
        <p:spPr>
          <a:xfrm>
            <a:off x="685800" y="1234440"/>
            <a:ext cx="1188720" cy="713232"/>
          </a:xfrm>
          <a:prstGeom prst="rect">
            <a:avLst/>
          </a:prstGeom>
          <a:noFill/>
          <a:ln/>
        </p:spPr>
        <p:txBody>
          <a:bodyPr wrap="square" lIns="0" tIns="0" rIns="0" bIns="0" rtlCol="0" anchor="ctr"/>
          <a:lstStyle/>
          <a:p>
            <a:pPr indent="0" marL="0">
              <a:buNone/>
            </a:pPr>
            <a:r>
              <a:rPr lang="en-US" sz="1600" b="1" dirty="0">
                <a:solidFill>
                  <a:schemeClr val="accent1"/>
                </a:solidFill>
              </a:rPr>
              <a:t>3 min</a:t>
            </a:r>
            <a:endParaRPr lang="en-US" sz="1600" dirty="0"/>
          </a:p>
        </p:txBody>
      </p:sp>
      <p:sp>
        <p:nvSpPr>
          <p:cNvPr id="5" name="Agenda 1 title"/>
          <p:cNvSpPr txBox="1"/>
          <p:nvPr/>
        </p:nvSpPr>
        <p:spPr>
          <a:xfrm>
            <a:off x="1920240" y="1234440"/>
            <a:ext cx="3840480" cy="713232"/>
          </a:xfrm>
          <a:prstGeom prst="rect">
            <a:avLst/>
          </a:prstGeom>
          <a:noFill/>
          <a:ln/>
        </p:spPr>
        <p:txBody>
          <a:bodyPr wrap="square" lIns="0" tIns="0" rIns="0" bIns="0" rtlCol="0" anchor="ctr"/>
          <a:lstStyle/>
          <a:p>
            <a:pPr indent="0" marL="0">
              <a:buNone/>
            </a:pPr>
            <a:r>
              <a:rPr lang="en-US" sz="1800" b="1" dirty="0">
                <a:solidFill>
                  <a:schemeClr val="tx2"/>
                </a:solidFill>
              </a:rPr>
              <a:t>Why one platform</a:t>
            </a:r>
            <a:endParaRPr lang="en-US" sz="1800" dirty="0"/>
          </a:p>
        </p:txBody>
      </p:sp>
      <p:sp>
        <p:nvSpPr>
          <p:cNvPr id="6" name="Agenda 1 detail"/>
          <p:cNvSpPr txBox="1"/>
          <p:nvPr/>
        </p:nvSpPr>
        <p:spPr>
          <a:xfrm>
            <a:off x="5760720" y="1234440"/>
            <a:ext cx="5760720" cy="713232"/>
          </a:xfrm>
          <a:prstGeom prst="rect">
            <a:avLst/>
          </a:prstGeom>
          <a:noFill/>
          <a:ln/>
        </p:spPr>
        <p:txBody>
          <a:bodyPr wrap="square" lIns="0" tIns="0" rIns="0" bIns="0" rtlCol="0" anchor="ctr"/>
          <a:lstStyle/>
          <a:p>
            <a:pPr indent="0" marL="0">
              <a:buNone/>
            </a:pPr>
            <a:r>
              <a:rPr lang="en-US" sz="1500" dirty="0">
                <a:solidFill>
                  <a:schemeClr val="tx1"/>
                </a:solidFill>
              </a:rPr>
              <a:t>What Otta has now, in one sentence</a:t>
            </a:r>
            <a:endParaRPr lang="en-US" sz="1500" dirty="0"/>
          </a:p>
        </p:txBody>
      </p:sp>
      <p:sp>
        <p:nvSpPr>
          <p:cNvPr id="7" name="Agenda 2"/>
          <p:cNvSpPr/>
          <p:nvPr/>
        </p:nvSpPr>
        <p:spPr>
          <a:xfrm>
            <a:off x="457200" y="2075688"/>
            <a:ext cx="11247120" cy="713232"/>
          </a:xfrm>
          <a:prstGeom prst="roundRect">
            <a:avLst>
              <a:gd name="adj" fmla="val 10256"/>
            </a:avLst>
          </a:prstGeom>
          <a:solidFill>
            <a:schemeClr val="bg1"/>
          </a:solidFill>
          <a:ln w="12700">
            <a:solidFill>
              <a:srgbClr val="DDE7E5"/>
            </a:solidFill>
            <a:prstDash val="solid"/>
          </a:ln>
        </p:spPr>
      </p:sp>
      <p:sp>
        <p:nvSpPr>
          <p:cNvPr id="8" name="Agenda 2 minutes"/>
          <p:cNvSpPr txBox="1"/>
          <p:nvPr/>
        </p:nvSpPr>
        <p:spPr>
          <a:xfrm>
            <a:off x="685800" y="2075688"/>
            <a:ext cx="1188720" cy="713232"/>
          </a:xfrm>
          <a:prstGeom prst="rect">
            <a:avLst/>
          </a:prstGeom>
          <a:noFill/>
          <a:ln/>
        </p:spPr>
        <p:txBody>
          <a:bodyPr wrap="square" lIns="0" tIns="0" rIns="0" bIns="0" rtlCol="0" anchor="ctr"/>
          <a:lstStyle/>
          <a:p>
            <a:pPr indent="0" marL="0">
              <a:buNone/>
            </a:pPr>
            <a:r>
              <a:rPr lang="en-US" sz="1600" b="1" dirty="0">
                <a:solidFill>
                  <a:schemeClr val="accent1"/>
                </a:solidFill>
              </a:rPr>
              <a:t>28 min</a:t>
            </a:r>
            <a:endParaRPr lang="en-US" sz="1600" dirty="0"/>
          </a:p>
        </p:txBody>
      </p:sp>
      <p:sp>
        <p:nvSpPr>
          <p:cNvPr id="9" name="Agenda 2 title"/>
          <p:cNvSpPr txBox="1"/>
          <p:nvPr/>
        </p:nvSpPr>
        <p:spPr>
          <a:xfrm>
            <a:off x="1920240" y="2075688"/>
            <a:ext cx="3840480" cy="713232"/>
          </a:xfrm>
          <a:prstGeom prst="rect">
            <a:avLst/>
          </a:prstGeom>
          <a:noFill/>
          <a:ln/>
        </p:spPr>
        <p:txBody>
          <a:bodyPr wrap="square" lIns="0" tIns="0" rIns="0" bIns="0" rtlCol="0" anchor="ctr"/>
          <a:lstStyle/>
          <a:p>
            <a:pPr indent="0" marL="0">
              <a:buNone/>
            </a:pPr>
            <a:r>
              <a:rPr lang="en-US" sz="1800" b="1" dirty="0">
                <a:solidFill>
                  <a:schemeClr val="tx2"/>
                </a:solidFill>
              </a:rPr>
              <a:t>Product walkthrough</a:t>
            </a:r>
            <a:endParaRPr lang="en-US" sz="1800" dirty="0"/>
          </a:p>
        </p:txBody>
      </p:sp>
      <p:sp>
        <p:nvSpPr>
          <p:cNvPr id="10" name="Agenda 2 detail"/>
          <p:cNvSpPr txBox="1"/>
          <p:nvPr/>
        </p:nvSpPr>
        <p:spPr>
          <a:xfrm>
            <a:off x="5760720" y="2075688"/>
            <a:ext cx="5760720" cy="713232"/>
          </a:xfrm>
          <a:prstGeom prst="rect">
            <a:avLst/>
          </a:prstGeom>
          <a:noFill/>
          <a:ln/>
        </p:spPr>
        <p:txBody>
          <a:bodyPr wrap="square" lIns="0" tIns="0" rIns="0" bIns="0" rtlCol="0" anchor="ctr"/>
          <a:lstStyle/>
          <a:p>
            <a:pPr indent="0" marL="0">
              <a:buNone/>
            </a:pPr>
            <a:r>
              <a:rPr lang="en-US" sz="1500" dirty="0">
                <a:solidFill>
                  <a:schemeClr val="tx1"/>
                </a:solidFill>
              </a:rPr>
              <a:t>A day in Otta's life, live</a:t>
            </a:r>
            <a:endParaRPr lang="en-US" sz="1500" dirty="0"/>
          </a:p>
        </p:txBody>
      </p:sp>
      <p:sp>
        <p:nvSpPr>
          <p:cNvPr id="11" name="Agenda 3"/>
          <p:cNvSpPr/>
          <p:nvPr/>
        </p:nvSpPr>
        <p:spPr>
          <a:xfrm>
            <a:off x="457200" y="2916936"/>
            <a:ext cx="11247120" cy="713232"/>
          </a:xfrm>
          <a:prstGeom prst="roundRect">
            <a:avLst>
              <a:gd name="adj" fmla="val 10256"/>
            </a:avLst>
          </a:prstGeom>
          <a:solidFill>
            <a:schemeClr val="bg1"/>
          </a:solidFill>
          <a:ln w="12700">
            <a:solidFill>
              <a:srgbClr val="DDE7E5"/>
            </a:solidFill>
            <a:prstDash val="solid"/>
          </a:ln>
        </p:spPr>
      </p:sp>
      <p:sp>
        <p:nvSpPr>
          <p:cNvPr id="12" name="Agenda 3 minutes"/>
          <p:cNvSpPr txBox="1"/>
          <p:nvPr/>
        </p:nvSpPr>
        <p:spPr>
          <a:xfrm>
            <a:off x="685800" y="2916936"/>
            <a:ext cx="1188720" cy="713232"/>
          </a:xfrm>
          <a:prstGeom prst="rect">
            <a:avLst/>
          </a:prstGeom>
          <a:noFill/>
          <a:ln/>
        </p:spPr>
        <p:txBody>
          <a:bodyPr wrap="square" lIns="0" tIns="0" rIns="0" bIns="0" rtlCol="0" anchor="ctr"/>
          <a:lstStyle/>
          <a:p>
            <a:pPr indent="0" marL="0">
              <a:buNone/>
            </a:pPr>
            <a:r>
              <a:rPr lang="en-US" sz="1600" b="1" dirty="0">
                <a:solidFill>
                  <a:schemeClr val="accent1"/>
                </a:solidFill>
              </a:rPr>
              <a:t>5 min</a:t>
            </a:r>
            <a:endParaRPr lang="en-US" sz="1600" dirty="0"/>
          </a:p>
        </p:txBody>
      </p:sp>
      <p:sp>
        <p:nvSpPr>
          <p:cNvPr id="13" name="Agenda 3 title"/>
          <p:cNvSpPr txBox="1"/>
          <p:nvPr/>
        </p:nvSpPr>
        <p:spPr>
          <a:xfrm>
            <a:off x="1920240" y="2916936"/>
            <a:ext cx="3840480" cy="713232"/>
          </a:xfrm>
          <a:prstGeom prst="rect">
            <a:avLst/>
          </a:prstGeom>
          <a:noFill/>
          <a:ln/>
        </p:spPr>
        <p:txBody>
          <a:bodyPr wrap="square" lIns="0" tIns="0" rIns="0" bIns="0" rtlCol="0" anchor="ctr"/>
          <a:lstStyle/>
          <a:p>
            <a:pPr indent="0" marL="0">
              <a:buNone/>
            </a:pPr>
            <a:r>
              <a:rPr lang="en-US" sz="1800" b="1" dirty="0">
                <a:solidFill>
                  <a:schemeClr val="tx2"/>
                </a:solidFill>
              </a:rPr>
              <a:t>New this week</a:t>
            </a:r>
            <a:endParaRPr lang="en-US" sz="1800" dirty="0"/>
          </a:p>
        </p:txBody>
      </p:sp>
      <p:sp>
        <p:nvSpPr>
          <p:cNvPr id="14" name="Agenda 3 detail"/>
          <p:cNvSpPr txBox="1"/>
          <p:nvPr/>
        </p:nvSpPr>
        <p:spPr>
          <a:xfrm>
            <a:off x="5760720" y="2916936"/>
            <a:ext cx="5760720" cy="713232"/>
          </a:xfrm>
          <a:prstGeom prst="rect">
            <a:avLst/>
          </a:prstGeom>
          <a:noFill/>
          <a:ln/>
        </p:spPr>
        <p:txBody>
          <a:bodyPr wrap="square" lIns="0" tIns="0" rIns="0" bIns="0" rtlCol="0" anchor="ctr"/>
          <a:lstStyle/>
          <a:p>
            <a:pPr indent="0" marL="0">
              <a:buNone/>
            </a:pPr>
            <a:r>
              <a:rPr lang="en-US" sz="1500" dirty="0">
                <a:solidFill>
                  <a:schemeClr val="tx1"/>
                </a:solidFill>
              </a:rPr>
              <a:t>E-signatures, document uploads, analytics and SEO</a:t>
            </a:r>
            <a:endParaRPr lang="en-US" sz="1500" dirty="0"/>
          </a:p>
        </p:txBody>
      </p:sp>
      <p:sp>
        <p:nvSpPr>
          <p:cNvPr id="15" name="Agenda 4"/>
          <p:cNvSpPr/>
          <p:nvPr/>
        </p:nvSpPr>
        <p:spPr>
          <a:xfrm>
            <a:off x="457200" y="3758184"/>
            <a:ext cx="11247120" cy="713232"/>
          </a:xfrm>
          <a:prstGeom prst="roundRect">
            <a:avLst>
              <a:gd name="adj" fmla="val 10256"/>
            </a:avLst>
          </a:prstGeom>
          <a:solidFill>
            <a:schemeClr val="bg1"/>
          </a:solidFill>
          <a:ln w="12700">
            <a:solidFill>
              <a:srgbClr val="DDE7E5"/>
            </a:solidFill>
            <a:prstDash val="solid"/>
          </a:ln>
        </p:spPr>
      </p:sp>
      <p:sp>
        <p:nvSpPr>
          <p:cNvPr id="16" name="Agenda 4 minutes"/>
          <p:cNvSpPr txBox="1"/>
          <p:nvPr/>
        </p:nvSpPr>
        <p:spPr>
          <a:xfrm>
            <a:off x="685800" y="3758184"/>
            <a:ext cx="1188720" cy="713232"/>
          </a:xfrm>
          <a:prstGeom prst="rect">
            <a:avLst/>
          </a:prstGeom>
          <a:noFill/>
          <a:ln/>
        </p:spPr>
        <p:txBody>
          <a:bodyPr wrap="square" lIns="0" tIns="0" rIns="0" bIns="0" rtlCol="0" anchor="ctr"/>
          <a:lstStyle/>
          <a:p>
            <a:pPr indent="0" marL="0">
              <a:buNone/>
            </a:pPr>
            <a:r>
              <a:rPr lang="en-US" sz="1600" b="1" dirty="0">
                <a:solidFill>
                  <a:schemeClr val="accent1"/>
                </a:solidFill>
              </a:rPr>
              <a:t>10 min</a:t>
            </a:r>
            <a:endParaRPr lang="en-US" sz="1600" dirty="0"/>
          </a:p>
        </p:txBody>
      </p:sp>
      <p:sp>
        <p:nvSpPr>
          <p:cNvPr id="17" name="Agenda 4 title"/>
          <p:cNvSpPr txBox="1"/>
          <p:nvPr/>
        </p:nvSpPr>
        <p:spPr>
          <a:xfrm>
            <a:off x="1920240" y="3758184"/>
            <a:ext cx="3840480" cy="713232"/>
          </a:xfrm>
          <a:prstGeom prst="rect">
            <a:avLst/>
          </a:prstGeom>
          <a:noFill/>
          <a:ln/>
        </p:spPr>
        <p:txBody>
          <a:bodyPr wrap="square" lIns="0" tIns="0" rIns="0" bIns="0" rtlCol="0" anchor="ctr"/>
          <a:lstStyle/>
          <a:p>
            <a:pPr indent="0" marL="0">
              <a:buNone/>
            </a:pPr>
            <a:r>
              <a:rPr lang="en-US" sz="1800" b="1" dirty="0">
                <a:solidFill>
                  <a:schemeClr val="tx2"/>
                </a:solidFill>
              </a:rPr>
              <a:t>What could we add</a:t>
            </a:r>
            <a:endParaRPr lang="en-US" sz="1800" dirty="0"/>
          </a:p>
        </p:txBody>
      </p:sp>
      <p:sp>
        <p:nvSpPr>
          <p:cNvPr id="18" name="Agenda 4 detail"/>
          <p:cNvSpPr txBox="1"/>
          <p:nvPr/>
        </p:nvSpPr>
        <p:spPr>
          <a:xfrm>
            <a:off x="5760720" y="3758184"/>
            <a:ext cx="5760720" cy="713232"/>
          </a:xfrm>
          <a:prstGeom prst="rect">
            <a:avLst/>
          </a:prstGeom>
          <a:noFill/>
          <a:ln/>
        </p:spPr>
        <p:txBody>
          <a:bodyPr wrap="square" lIns="0" tIns="0" rIns="0" bIns="0" rtlCol="0" anchor="ctr"/>
          <a:lstStyle/>
          <a:p>
            <a:pPr indent="0" marL="0">
              <a:buNone/>
            </a:pPr>
            <a:r>
              <a:rPr lang="en-US" sz="1500" dirty="0">
                <a:solidFill>
                  <a:schemeClr val="tx1"/>
                </a:solidFill>
              </a:rPr>
              <a:t>Vote on the ideas board</a:t>
            </a:r>
            <a:endParaRPr lang="en-US" sz="1500" dirty="0"/>
          </a:p>
        </p:txBody>
      </p:sp>
      <p:sp>
        <p:nvSpPr>
          <p:cNvPr id="19" name="Agenda 5"/>
          <p:cNvSpPr/>
          <p:nvPr/>
        </p:nvSpPr>
        <p:spPr>
          <a:xfrm>
            <a:off x="457200" y="4599432"/>
            <a:ext cx="11247120" cy="713232"/>
          </a:xfrm>
          <a:prstGeom prst="roundRect">
            <a:avLst>
              <a:gd name="adj" fmla="val 10256"/>
            </a:avLst>
          </a:prstGeom>
          <a:solidFill>
            <a:schemeClr val="bg1"/>
          </a:solidFill>
          <a:ln w="12700">
            <a:solidFill>
              <a:srgbClr val="DDE7E5"/>
            </a:solidFill>
            <a:prstDash val="solid"/>
          </a:ln>
        </p:spPr>
      </p:sp>
      <p:sp>
        <p:nvSpPr>
          <p:cNvPr id="20" name="Agenda 5 minutes"/>
          <p:cNvSpPr txBox="1"/>
          <p:nvPr/>
        </p:nvSpPr>
        <p:spPr>
          <a:xfrm>
            <a:off x="685800" y="4599432"/>
            <a:ext cx="1188720" cy="713232"/>
          </a:xfrm>
          <a:prstGeom prst="rect">
            <a:avLst/>
          </a:prstGeom>
          <a:noFill/>
          <a:ln/>
        </p:spPr>
        <p:txBody>
          <a:bodyPr wrap="square" lIns="0" tIns="0" rIns="0" bIns="0" rtlCol="0" anchor="ctr"/>
          <a:lstStyle/>
          <a:p>
            <a:pPr indent="0" marL="0">
              <a:buNone/>
            </a:pPr>
            <a:r>
              <a:rPr lang="en-US" sz="1600" b="1" dirty="0">
                <a:solidFill>
                  <a:schemeClr val="accent1"/>
                </a:solidFill>
              </a:rPr>
              <a:t>7 min</a:t>
            </a:r>
            <a:endParaRPr lang="en-US" sz="1600" dirty="0"/>
          </a:p>
        </p:txBody>
      </p:sp>
      <p:sp>
        <p:nvSpPr>
          <p:cNvPr id="21" name="Agenda 5 title"/>
          <p:cNvSpPr txBox="1"/>
          <p:nvPr/>
        </p:nvSpPr>
        <p:spPr>
          <a:xfrm>
            <a:off x="1920240" y="4599432"/>
            <a:ext cx="3840480" cy="713232"/>
          </a:xfrm>
          <a:prstGeom prst="rect">
            <a:avLst/>
          </a:prstGeom>
          <a:noFill/>
          <a:ln/>
        </p:spPr>
        <p:txBody>
          <a:bodyPr wrap="square" lIns="0" tIns="0" rIns="0" bIns="0" rtlCol="0" anchor="ctr"/>
          <a:lstStyle/>
          <a:p>
            <a:pPr indent="0" marL="0">
              <a:buNone/>
            </a:pPr>
            <a:r>
              <a:rPr lang="en-US" sz="1800" b="1" dirty="0">
                <a:solidFill>
                  <a:schemeClr val="tx2"/>
                </a:solidFill>
              </a:rPr>
              <a:t>Copy still needed</a:t>
            </a:r>
            <a:endParaRPr lang="en-US" sz="1800" dirty="0"/>
          </a:p>
        </p:txBody>
      </p:sp>
      <p:sp>
        <p:nvSpPr>
          <p:cNvPr id="22" name="Agenda 5 detail"/>
          <p:cNvSpPr txBox="1"/>
          <p:nvPr/>
        </p:nvSpPr>
        <p:spPr>
          <a:xfrm>
            <a:off x="5760720" y="4599432"/>
            <a:ext cx="5760720" cy="713232"/>
          </a:xfrm>
          <a:prstGeom prst="rect">
            <a:avLst/>
          </a:prstGeom>
          <a:noFill/>
          <a:ln/>
        </p:spPr>
        <p:txBody>
          <a:bodyPr wrap="square" lIns="0" tIns="0" rIns="0" bIns="0" rtlCol="0" anchor="ctr"/>
          <a:lstStyle/>
          <a:p>
            <a:pPr indent="0" marL="0">
              <a:buNone/>
            </a:pPr>
            <a:r>
              <a:rPr lang="en-US" sz="1500" dirty="0">
                <a:solidFill>
                  <a:schemeClr val="tx1"/>
                </a:solidFill>
              </a:rPr>
              <a:t>Put a name against every item</a:t>
            </a:r>
            <a:endParaRPr lang="en-US" sz="1500" dirty="0"/>
          </a:p>
        </p:txBody>
      </p:sp>
      <p:sp>
        <p:nvSpPr>
          <p:cNvPr id="23" name="Agenda 6"/>
          <p:cNvSpPr/>
          <p:nvPr/>
        </p:nvSpPr>
        <p:spPr>
          <a:xfrm>
            <a:off x="457200" y="5440680"/>
            <a:ext cx="11247120" cy="713232"/>
          </a:xfrm>
          <a:prstGeom prst="roundRect">
            <a:avLst>
              <a:gd name="adj" fmla="val 10256"/>
            </a:avLst>
          </a:prstGeom>
          <a:solidFill>
            <a:schemeClr val="bg1"/>
          </a:solidFill>
          <a:ln w="12700">
            <a:solidFill>
              <a:srgbClr val="DDE7E5"/>
            </a:solidFill>
            <a:prstDash val="solid"/>
          </a:ln>
        </p:spPr>
      </p:sp>
      <p:sp>
        <p:nvSpPr>
          <p:cNvPr id="24" name="Agenda 6 minutes"/>
          <p:cNvSpPr txBox="1"/>
          <p:nvPr/>
        </p:nvSpPr>
        <p:spPr>
          <a:xfrm>
            <a:off x="685800" y="5440680"/>
            <a:ext cx="1188720" cy="713232"/>
          </a:xfrm>
          <a:prstGeom prst="rect">
            <a:avLst/>
          </a:prstGeom>
          <a:noFill/>
          <a:ln/>
        </p:spPr>
        <p:txBody>
          <a:bodyPr wrap="square" lIns="0" tIns="0" rIns="0" bIns="0" rtlCol="0" anchor="ctr"/>
          <a:lstStyle/>
          <a:p>
            <a:pPr indent="0" marL="0">
              <a:buNone/>
            </a:pPr>
            <a:r>
              <a:rPr lang="en-US" sz="1600" b="1" dirty="0">
                <a:solidFill>
                  <a:schemeClr val="accent1"/>
                </a:solidFill>
              </a:rPr>
              <a:t>7 min</a:t>
            </a:r>
            <a:endParaRPr lang="en-US" sz="1600" dirty="0"/>
          </a:p>
        </p:txBody>
      </p:sp>
      <p:sp>
        <p:nvSpPr>
          <p:cNvPr id="25" name="Agenda 6 title"/>
          <p:cNvSpPr txBox="1"/>
          <p:nvPr/>
        </p:nvSpPr>
        <p:spPr>
          <a:xfrm>
            <a:off x="1920240" y="5440680"/>
            <a:ext cx="3840480" cy="713232"/>
          </a:xfrm>
          <a:prstGeom prst="rect">
            <a:avLst/>
          </a:prstGeom>
          <a:noFill/>
          <a:ln/>
        </p:spPr>
        <p:txBody>
          <a:bodyPr wrap="square" lIns="0" tIns="0" rIns="0" bIns="0" rtlCol="0" anchor="ctr"/>
          <a:lstStyle/>
          <a:p>
            <a:pPr indent="0" marL="0">
              <a:buNone/>
            </a:pPr>
            <a:r>
              <a:rPr lang="en-US" sz="1800" b="1" dirty="0">
                <a:solidFill>
                  <a:schemeClr val="tx2"/>
                </a:solidFill>
              </a:rPr>
              <a:t>Phase 1 decisions</a:t>
            </a:r>
            <a:endParaRPr lang="en-US" sz="1800" dirty="0"/>
          </a:p>
        </p:txBody>
      </p:sp>
      <p:sp>
        <p:nvSpPr>
          <p:cNvPr id="26" name="Agenda 6 detail"/>
          <p:cNvSpPr txBox="1"/>
          <p:nvPr/>
        </p:nvSpPr>
        <p:spPr>
          <a:xfrm>
            <a:off x="5760720" y="5440680"/>
            <a:ext cx="5760720" cy="713232"/>
          </a:xfrm>
          <a:prstGeom prst="rect">
            <a:avLst/>
          </a:prstGeom>
          <a:noFill/>
          <a:ln/>
        </p:spPr>
        <p:txBody>
          <a:bodyPr wrap="square" lIns="0" tIns="0" rIns="0" bIns="0" rtlCol="0" anchor="ctr"/>
          <a:lstStyle/>
          <a:p>
            <a:pPr indent="0" marL="0">
              <a:buNone/>
            </a:pPr>
            <a:r>
              <a:rPr lang="en-US" sz="1500" dirty="0">
                <a:solidFill>
                  <a:schemeClr val="tx1"/>
                </a:solidFill>
              </a:rPr>
              <a:t>Launch date, owners, sign-off</a:t>
            </a:r>
            <a:endParaRPr lang="en-US" sz="15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Three connected parts, one record</a:t>
            </a:r>
            <a:endParaRPr lang="en-US" sz="2800" dirty="0"/>
          </a:p>
        </p:txBody>
      </p:sp>
      <p:sp>
        <p:nvSpPr>
          <p:cNvPr id="3" name="Part 1"/>
          <p:cNvSpPr/>
          <p:nvPr/>
        </p:nvSpPr>
        <p:spPr>
          <a:xfrm>
            <a:off x="457200" y="1234440"/>
            <a:ext cx="3611880" cy="2651760"/>
          </a:xfrm>
          <a:prstGeom prst="roundRect">
            <a:avLst>
              <a:gd name="adj" fmla="val 2759"/>
            </a:avLst>
          </a:prstGeom>
          <a:solidFill>
            <a:schemeClr val="bg1"/>
          </a:solidFill>
          <a:ln w="12700">
            <a:solidFill>
              <a:srgbClr val="DDE7E5"/>
            </a:solidFill>
            <a:prstDash val="solid"/>
          </a:ln>
        </p:spPr>
      </p:sp>
      <p:sp>
        <p:nvSpPr>
          <p:cNvPr id="4" name="Part 1 marker"/>
          <p:cNvSpPr/>
          <p:nvPr/>
        </p:nvSpPr>
        <p:spPr>
          <a:xfrm>
            <a:off x="731520" y="1463040"/>
            <a:ext cx="502920" cy="502920"/>
          </a:xfrm>
          <a:prstGeom prst="ellipse">
            <a:avLst/>
          </a:prstGeom>
          <a:solidFill>
            <a:schemeClr val="accent1"/>
          </a:solidFill>
          <a:ln w="12700">
            <a:solidFill>
              <a:schemeClr val="accent1"/>
            </a:solidFill>
            <a:prstDash val="solid"/>
          </a:ln>
        </p:spPr>
      </p:sp>
      <p:sp>
        <p:nvSpPr>
          <p:cNvPr id="5" name="Part 1 label"/>
          <p:cNvSpPr txBox="1"/>
          <p:nvPr/>
        </p:nvSpPr>
        <p:spPr>
          <a:xfrm>
            <a:off x="731520" y="14630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Part 1 title"/>
          <p:cNvSpPr txBox="1"/>
          <p:nvPr/>
        </p:nvSpPr>
        <p:spPr>
          <a:xfrm>
            <a:off x="1417320" y="1463040"/>
            <a:ext cx="2468880" cy="502920"/>
          </a:xfrm>
          <a:prstGeom prst="rect">
            <a:avLst/>
          </a:prstGeom>
          <a:noFill/>
          <a:ln/>
        </p:spPr>
        <p:txBody>
          <a:bodyPr wrap="square" lIns="0" tIns="0" rIns="0" bIns="0" rtlCol="0" anchor="ctr"/>
          <a:lstStyle/>
          <a:p>
            <a:pPr indent="0" marL="0">
              <a:buNone/>
            </a:pPr>
            <a:r>
              <a:rPr lang="en-US" sz="2000" b="1" dirty="0">
                <a:solidFill>
                  <a:schemeClr val="tx2"/>
                </a:solidFill>
              </a:rPr>
              <a:t>Website</a:t>
            </a:r>
            <a:endParaRPr lang="en-US" sz="2000" dirty="0"/>
          </a:p>
        </p:txBody>
      </p:sp>
      <p:sp>
        <p:nvSpPr>
          <p:cNvPr id="7" name="Part 1 text"/>
          <p:cNvSpPr txBox="1"/>
          <p:nvPr/>
        </p:nvSpPr>
        <p:spPr>
          <a:xfrm>
            <a:off x="731520" y="2148840"/>
            <a:ext cx="3108960" cy="1645920"/>
          </a:xfrm>
          <a:prstGeom prst="rect">
            <a:avLst/>
          </a:prstGeom>
          <a:noFill/>
          <a:ln/>
        </p:spPr>
        <p:txBody>
          <a:bodyPr wrap="square" lIns="0" tIns="0" rIns="0" bIns="0" rtlCol="0" anchor="t"/>
          <a:lstStyle/>
          <a:p>
            <a:pPr indent="0" marL="0">
              <a:buNone/>
            </a:pPr>
            <a:r>
              <a:rPr lang="en-US" sz="1500" dirty="0">
                <a:solidFill>
                  <a:schemeClr val="tx1"/>
                </a:solidFill>
              </a:rPr>
              <a:t>Visitors find the right cover, read wordings, fact sheets and FAQs, ask Brad, and send enquiries.</a:t>
            </a:r>
            <a:endParaRPr lang="en-US" sz="1500" dirty="0"/>
          </a:p>
        </p:txBody>
      </p:sp>
      <p:sp>
        <p:nvSpPr>
          <p:cNvPr id="8" name="Part 2"/>
          <p:cNvSpPr/>
          <p:nvPr/>
        </p:nvSpPr>
        <p:spPr>
          <a:xfrm>
            <a:off x="4279392" y="1234440"/>
            <a:ext cx="3611880" cy="2651760"/>
          </a:xfrm>
          <a:prstGeom prst="roundRect">
            <a:avLst>
              <a:gd name="adj" fmla="val 2759"/>
            </a:avLst>
          </a:prstGeom>
          <a:solidFill>
            <a:schemeClr val="bg1"/>
          </a:solidFill>
          <a:ln w="12700">
            <a:solidFill>
              <a:srgbClr val="DDE7E5"/>
            </a:solidFill>
            <a:prstDash val="solid"/>
          </a:ln>
        </p:spPr>
      </p:sp>
      <p:sp>
        <p:nvSpPr>
          <p:cNvPr id="9" name="Part 2 marker"/>
          <p:cNvSpPr/>
          <p:nvPr/>
        </p:nvSpPr>
        <p:spPr>
          <a:xfrm>
            <a:off x="4553712" y="1463040"/>
            <a:ext cx="502920" cy="502920"/>
          </a:xfrm>
          <a:prstGeom prst="ellipse">
            <a:avLst/>
          </a:prstGeom>
          <a:solidFill>
            <a:schemeClr val="accent1"/>
          </a:solidFill>
          <a:ln w="12700">
            <a:solidFill>
              <a:schemeClr val="accent1"/>
            </a:solidFill>
            <a:prstDash val="solid"/>
          </a:ln>
        </p:spPr>
      </p:sp>
      <p:sp>
        <p:nvSpPr>
          <p:cNvPr id="10" name="Part 2 label"/>
          <p:cNvSpPr txBox="1"/>
          <p:nvPr/>
        </p:nvSpPr>
        <p:spPr>
          <a:xfrm>
            <a:off x="4553712" y="14630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Part 2 title"/>
          <p:cNvSpPr txBox="1"/>
          <p:nvPr/>
        </p:nvSpPr>
        <p:spPr>
          <a:xfrm>
            <a:off x="5239512" y="1463040"/>
            <a:ext cx="2468880" cy="502920"/>
          </a:xfrm>
          <a:prstGeom prst="rect">
            <a:avLst/>
          </a:prstGeom>
          <a:noFill/>
          <a:ln/>
        </p:spPr>
        <p:txBody>
          <a:bodyPr wrap="square" lIns="0" tIns="0" rIns="0" bIns="0" rtlCol="0" anchor="ctr"/>
          <a:lstStyle/>
          <a:p>
            <a:pPr indent="0" marL="0">
              <a:buNone/>
            </a:pPr>
            <a:r>
              <a:rPr lang="en-US" sz="2000" b="1" dirty="0">
                <a:solidFill>
                  <a:schemeClr val="tx2"/>
                </a:solidFill>
              </a:rPr>
              <a:t>Broker portal</a:t>
            </a:r>
            <a:endParaRPr lang="en-US" sz="2000" dirty="0"/>
          </a:p>
        </p:txBody>
      </p:sp>
      <p:sp>
        <p:nvSpPr>
          <p:cNvPr id="12" name="Part 2 text"/>
          <p:cNvSpPr txBox="1"/>
          <p:nvPr/>
        </p:nvSpPr>
        <p:spPr>
          <a:xfrm>
            <a:off x="4553712" y="2148840"/>
            <a:ext cx="3108960" cy="1645920"/>
          </a:xfrm>
          <a:prstGeom prst="rect">
            <a:avLst/>
          </a:prstGeom>
          <a:noFill/>
          <a:ln/>
        </p:spPr>
        <p:txBody>
          <a:bodyPr wrap="square" lIns="0" tIns="0" rIns="0" bIns="0" rtlCol="0" anchor="t"/>
          <a:lstStyle/>
          <a:p>
            <a:pPr indent="0" marL="0">
              <a:buNone/>
            </a:pPr>
            <a:r>
              <a:rPr lang="en-US" sz="1500" dirty="0">
                <a:solidFill>
                  <a:schemeClr val="tx1"/>
                </a:solidFill>
              </a:rPr>
              <a:t>Brokers apply online or send their client a link, sign and attach documents, bind, follow claims and see their book.</a:t>
            </a:r>
            <a:endParaRPr lang="en-US" sz="1500" dirty="0"/>
          </a:p>
        </p:txBody>
      </p:sp>
      <p:sp>
        <p:nvSpPr>
          <p:cNvPr id="13" name="Part 3"/>
          <p:cNvSpPr/>
          <p:nvPr/>
        </p:nvSpPr>
        <p:spPr>
          <a:xfrm>
            <a:off x="8101584" y="1234440"/>
            <a:ext cx="3611880" cy="2651760"/>
          </a:xfrm>
          <a:prstGeom prst="roundRect">
            <a:avLst>
              <a:gd name="adj" fmla="val 2759"/>
            </a:avLst>
          </a:prstGeom>
          <a:solidFill>
            <a:schemeClr val="bg1"/>
          </a:solidFill>
          <a:ln w="12700">
            <a:solidFill>
              <a:srgbClr val="DDE7E5"/>
            </a:solidFill>
            <a:prstDash val="solid"/>
          </a:ln>
        </p:spPr>
      </p:sp>
      <p:sp>
        <p:nvSpPr>
          <p:cNvPr id="14" name="Part 3 marker"/>
          <p:cNvSpPr/>
          <p:nvPr/>
        </p:nvSpPr>
        <p:spPr>
          <a:xfrm>
            <a:off x="8375904" y="1463040"/>
            <a:ext cx="502920" cy="502920"/>
          </a:xfrm>
          <a:prstGeom prst="ellipse">
            <a:avLst/>
          </a:prstGeom>
          <a:solidFill>
            <a:schemeClr val="accent1"/>
          </a:solidFill>
          <a:ln w="12700">
            <a:solidFill>
              <a:schemeClr val="accent1"/>
            </a:solidFill>
            <a:prstDash val="solid"/>
          </a:ln>
        </p:spPr>
      </p:sp>
      <p:sp>
        <p:nvSpPr>
          <p:cNvPr id="15" name="Part 3 label"/>
          <p:cNvSpPr txBox="1"/>
          <p:nvPr/>
        </p:nvSpPr>
        <p:spPr>
          <a:xfrm>
            <a:off x="8375904" y="14630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Part 3 title"/>
          <p:cNvSpPr txBox="1"/>
          <p:nvPr/>
        </p:nvSpPr>
        <p:spPr>
          <a:xfrm>
            <a:off x="9061704" y="1463040"/>
            <a:ext cx="2468880" cy="502920"/>
          </a:xfrm>
          <a:prstGeom prst="rect">
            <a:avLst/>
          </a:prstGeom>
          <a:noFill/>
          <a:ln/>
        </p:spPr>
        <p:txBody>
          <a:bodyPr wrap="square" lIns="0" tIns="0" rIns="0" bIns="0" rtlCol="0" anchor="ctr"/>
          <a:lstStyle/>
          <a:p>
            <a:pPr indent="0" marL="0">
              <a:buNone/>
            </a:pPr>
            <a:r>
              <a:rPr lang="en-US" sz="2000" b="1" dirty="0">
                <a:solidFill>
                  <a:schemeClr val="tx2"/>
                </a:solidFill>
              </a:rPr>
              <a:t>Admin portal</a:t>
            </a:r>
            <a:endParaRPr lang="en-US" sz="2000" dirty="0"/>
          </a:p>
        </p:txBody>
      </p:sp>
      <p:sp>
        <p:nvSpPr>
          <p:cNvPr id="17" name="Part 3 text"/>
          <p:cNvSpPr txBox="1"/>
          <p:nvPr/>
        </p:nvSpPr>
        <p:spPr>
          <a:xfrm>
            <a:off x="8375904" y="2148840"/>
            <a:ext cx="3108960" cy="1645920"/>
          </a:xfrm>
          <a:prstGeom prst="rect">
            <a:avLst/>
          </a:prstGeom>
          <a:noFill/>
          <a:ln/>
        </p:spPr>
        <p:txBody>
          <a:bodyPr wrap="square" lIns="0" tIns="0" rIns="0" bIns="0" rtlCol="0" anchor="t"/>
          <a:lstStyle/>
          <a:p>
            <a:pPr indent="0" marL="0">
              <a:buNone/>
            </a:pPr>
            <a:r>
              <a:rPr lang="en-US" sz="1500" dirty="0">
                <a:solidFill>
                  <a:schemeClr val="tx1"/>
                </a:solidFill>
              </a:rPr>
              <a:t>Every enquiry, application and bind lands live. The underwriting assistant reads applications against the guide.</a:t>
            </a:r>
            <a:endParaRPr lang="en-US" sz="1500" dirty="0"/>
          </a:p>
        </p:txBody>
      </p:sp>
      <p:sp>
        <p:nvSpPr>
          <p:cNvPr id="18" name="Stat 1 number"/>
          <p:cNvSpPr txBox="1"/>
          <p:nvPr/>
        </p:nvSpPr>
        <p:spPr>
          <a:xfrm>
            <a:off x="457200" y="4251960"/>
            <a:ext cx="1737360" cy="822960"/>
          </a:xfrm>
          <a:prstGeom prst="rect">
            <a:avLst/>
          </a:prstGeom>
          <a:noFill/>
          <a:ln/>
        </p:spPr>
        <p:txBody>
          <a:bodyPr wrap="square" lIns="0" tIns="0" rIns="0" bIns="0" rtlCol="0" anchor="ctr"/>
          <a:lstStyle/>
          <a:p>
            <a:pPr indent="0" marL="0">
              <a:buNone/>
            </a:pPr>
            <a:r>
              <a:rPr lang="en-US" sz="4800" b="1" dirty="0">
                <a:solidFill>
                  <a:schemeClr val="accent1"/>
                </a:solidFill>
              </a:rPr>
              <a:t>6</a:t>
            </a:r>
            <a:endParaRPr lang="en-US" sz="4800" dirty="0"/>
          </a:p>
        </p:txBody>
      </p:sp>
      <p:sp>
        <p:nvSpPr>
          <p:cNvPr id="19" name="Stat 1 label"/>
          <p:cNvSpPr txBox="1"/>
          <p:nvPr/>
        </p:nvSpPr>
        <p:spPr>
          <a:xfrm>
            <a:off x="457200" y="5074920"/>
            <a:ext cx="1737360" cy="548640"/>
          </a:xfrm>
          <a:prstGeom prst="rect">
            <a:avLst/>
          </a:prstGeom>
          <a:noFill/>
          <a:ln/>
        </p:spPr>
        <p:txBody>
          <a:bodyPr wrap="square" lIns="0" tIns="0" rIns="0" bIns="0" rtlCol="0" anchor="t"/>
          <a:lstStyle/>
          <a:p>
            <a:pPr indent="0" marL="0">
              <a:buNone/>
            </a:pPr>
            <a:r>
              <a:rPr lang="en-US" sz="1300" dirty="0">
                <a:solidFill>
                  <a:schemeClr val="tx1"/>
                </a:solidFill>
              </a:rPr>
              <a:t>products</a:t>
            </a:r>
            <a:endParaRPr lang="en-US" sz="1300" dirty="0"/>
          </a:p>
        </p:txBody>
      </p:sp>
      <p:sp>
        <p:nvSpPr>
          <p:cNvPr id="20" name="Stat 2 number"/>
          <p:cNvSpPr txBox="1"/>
          <p:nvPr/>
        </p:nvSpPr>
        <p:spPr>
          <a:xfrm>
            <a:off x="2350008" y="4251960"/>
            <a:ext cx="1737360" cy="822960"/>
          </a:xfrm>
          <a:prstGeom prst="rect">
            <a:avLst/>
          </a:prstGeom>
          <a:noFill/>
          <a:ln/>
        </p:spPr>
        <p:txBody>
          <a:bodyPr wrap="square" lIns="0" tIns="0" rIns="0" bIns="0" rtlCol="0" anchor="ctr"/>
          <a:lstStyle/>
          <a:p>
            <a:pPr indent="0" marL="0">
              <a:buNone/>
            </a:pPr>
            <a:r>
              <a:rPr lang="en-US" sz="4800" b="1" dirty="0">
                <a:solidFill>
                  <a:schemeClr val="accent1"/>
                </a:solidFill>
              </a:rPr>
              <a:t>12</a:t>
            </a:r>
            <a:endParaRPr lang="en-US" sz="4800" dirty="0"/>
          </a:p>
        </p:txBody>
      </p:sp>
      <p:sp>
        <p:nvSpPr>
          <p:cNvPr id="21" name="Stat 2 label"/>
          <p:cNvSpPr txBox="1"/>
          <p:nvPr/>
        </p:nvSpPr>
        <p:spPr>
          <a:xfrm>
            <a:off x="2350008" y="5074920"/>
            <a:ext cx="1737360" cy="548640"/>
          </a:xfrm>
          <a:prstGeom prst="rect">
            <a:avLst/>
          </a:prstGeom>
          <a:noFill/>
          <a:ln/>
        </p:spPr>
        <p:txBody>
          <a:bodyPr wrap="square" lIns="0" tIns="0" rIns="0" bIns="0" rtlCol="0" anchor="t"/>
          <a:lstStyle/>
          <a:p>
            <a:pPr indent="0" marL="0">
              <a:buNone/>
            </a:pPr>
            <a:r>
              <a:rPr lang="en-US" sz="1300" dirty="0">
                <a:solidFill>
                  <a:schemeClr val="tx1"/>
                </a:solidFill>
              </a:rPr>
              <a:t>online forms</a:t>
            </a:r>
            <a:endParaRPr lang="en-US" sz="1300" dirty="0"/>
          </a:p>
        </p:txBody>
      </p:sp>
      <p:sp>
        <p:nvSpPr>
          <p:cNvPr id="22" name="Stat 3 number"/>
          <p:cNvSpPr txBox="1"/>
          <p:nvPr/>
        </p:nvSpPr>
        <p:spPr>
          <a:xfrm>
            <a:off x="4242816" y="4251960"/>
            <a:ext cx="1737360" cy="822960"/>
          </a:xfrm>
          <a:prstGeom prst="rect">
            <a:avLst/>
          </a:prstGeom>
          <a:noFill/>
          <a:ln/>
        </p:spPr>
        <p:txBody>
          <a:bodyPr wrap="square" lIns="0" tIns="0" rIns="0" bIns="0" rtlCol="0" anchor="ctr"/>
          <a:lstStyle/>
          <a:p>
            <a:pPr indent="0" marL="0">
              <a:buNone/>
            </a:pPr>
            <a:r>
              <a:rPr lang="en-US" sz="4800" b="1" dirty="0">
                <a:solidFill>
                  <a:schemeClr val="accent1"/>
                </a:solidFill>
              </a:rPr>
              <a:t>47</a:t>
            </a:r>
            <a:endParaRPr lang="en-US" sz="4800" dirty="0"/>
          </a:p>
        </p:txBody>
      </p:sp>
      <p:sp>
        <p:nvSpPr>
          <p:cNvPr id="23" name="Stat 3 label"/>
          <p:cNvSpPr txBox="1"/>
          <p:nvPr/>
        </p:nvSpPr>
        <p:spPr>
          <a:xfrm>
            <a:off x="4242816" y="5074920"/>
            <a:ext cx="1737360" cy="548640"/>
          </a:xfrm>
          <a:prstGeom prst="rect">
            <a:avLst/>
          </a:prstGeom>
          <a:noFill/>
          <a:ln/>
        </p:spPr>
        <p:txBody>
          <a:bodyPr wrap="square" lIns="0" tIns="0" rIns="0" bIns="0" rtlCol="0" anchor="t"/>
          <a:lstStyle/>
          <a:p>
            <a:pPr indent="0" marL="0">
              <a:buNone/>
            </a:pPr>
            <a:r>
              <a:rPr lang="en-US" sz="1300" dirty="0">
                <a:solidFill>
                  <a:schemeClr val="tx1"/>
                </a:solidFill>
              </a:rPr>
              <a:t>rating regions mapped</a:t>
            </a:r>
            <a:endParaRPr lang="en-US" sz="1300" dirty="0"/>
          </a:p>
        </p:txBody>
      </p:sp>
      <p:sp>
        <p:nvSpPr>
          <p:cNvPr id="24" name="Stat 4 number"/>
          <p:cNvSpPr txBox="1"/>
          <p:nvPr/>
        </p:nvSpPr>
        <p:spPr>
          <a:xfrm>
            <a:off x="6135624" y="4251960"/>
            <a:ext cx="1737360" cy="822960"/>
          </a:xfrm>
          <a:prstGeom prst="rect">
            <a:avLst/>
          </a:prstGeom>
          <a:noFill/>
          <a:ln/>
        </p:spPr>
        <p:txBody>
          <a:bodyPr wrap="square" lIns="0" tIns="0" rIns="0" bIns="0" rtlCol="0" anchor="ctr"/>
          <a:lstStyle/>
          <a:p>
            <a:pPr indent="0" marL="0">
              <a:buNone/>
            </a:pPr>
            <a:r>
              <a:rPr lang="en-US" sz="4800" b="1" dirty="0">
                <a:solidFill>
                  <a:schemeClr val="accent1"/>
                </a:solidFill>
              </a:rPr>
              <a:t>31</a:t>
            </a:r>
            <a:endParaRPr lang="en-US" sz="4800" dirty="0"/>
          </a:p>
        </p:txBody>
      </p:sp>
      <p:sp>
        <p:nvSpPr>
          <p:cNvPr id="25" name="Stat 4 label"/>
          <p:cNvSpPr txBox="1"/>
          <p:nvPr/>
        </p:nvSpPr>
        <p:spPr>
          <a:xfrm>
            <a:off x="6135624" y="5074920"/>
            <a:ext cx="1737360" cy="548640"/>
          </a:xfrm>
          <a:prstGeom prst="rect">
            <a:avLst/>
          </a:prstGeom>
          <a:noFill/>
          <a:ln/>
        </p:spPr>
        <p:txBody>
          <a:bodyPr wrap="square" lIns="0" tIns="0" rIns="0" bIns="0" rtlCol="0" anchor="t"/>
          <a:lstStyle/>
          <a:p>
            <a:pPr indent="0" marL="0">
              <a:buNone/>
            </a:pPr>
            <a:r>
              <a:rPr lang="en-US" sz="1300" dirty="0">
                <a:solidFill>
                  <a:schemeClr val="tx1"/>
                </a:solidFill>
              </a:rPr>
              <a:t>FAQs</a:t>
            </a:r>
            <a:endParaRPr lang="en-US" sz="1300" dirty="0"/>
          </a:p>
        </p:txBody>
      </p:sp>
      <p:sp>
        <p:nvSpPr>
          <p:cNvPr id="26" name="Stat 5 number"/>
          <p:cNvSpPr txBox="1"/>
          <p:nvPr/>
        </p:nvSpPr>
        <p:spPr>
          <a:xfrm>
            <a:off x="8028432" y="4251960"/>
            <a:ext cx="1737360" cy="822960"/>
          </a:xfrm>
          <a:prstGeom prst="rect">
            <a:avLst/>
          </a:prstGeom>
          <a:noFill/>
          <a:ln/>
        </p:spPr>
        <p:txBody>
          <a:bodyPr wrap="square" lIns="0" tIns="0" rIns="0" bIns="0" rtlCol="0" anchor="ctr"/>
          <a:lstStyle/>
          <a:p>
            <a:pPr indent="0" marL="0">
              <a:buNone/>
            </a:pPr>
            <a:r>
              <a:rPr lang="en-US" sz="4800" b="1" dirty="0">
                <a:solidFill>
                  <a:schemeClr val="accent1"/>
                </a:solidFill>
              </a:rPr>
              <a:t>4</a:t>
            </a:r>
            <a:endParaRPr lang="en-US" sz="4800" dirty="0"/>
          </a:p>
        </p:txBody>
      </p:sp>
      <p:sp>
        <p:nvSpPr>
          <p:cNvPr id="27" name="Stat 5 label"/>
          <p:cNvSpPr txBox="1"/>
          <p:nvPr/>
        </p:nvSpPr>
        <p:spPr>
          <a:xfrm>
            <a:off x="8028432" y="5074920"/>
            <a:ext cx="1737360" cy="548640"/>
          </a:xfrm>
          <a:prstGeom prst="rect">
            <a:avLst/>
          </a:prstGeom>
          <a:noFill/>
          <a:ln/>
        </p:spPr>
        <p:txBody>
          <a:bodyPr wrap="square" lIns="0" tIns="0" rIns="0" bIns="0" rtlCol="0" anchor="t"/>
          <a:lstStyle/>
          <a:p>
            <a:pPr indent="0" marL="0">
              <a:buNone/>
            </a:pPr>
            <a:r>
              <a:rPr lang="en-US" sz="1300" dirty="0">
                <a:solidFill>
                  <a:schemeClr val="tx1"/>
                </a:solidFill>
              </a:rPr>
              <a:t>levels of broker access</a:t>
            </a:r>
            <a:endParaRPr lang="en-US" sz="1300" dirty="0"/>
          </a:p>
        </p:txBody>
      </p:sp>
      <p:sp>
        <p:nvSpPr>
          <p:cNvPr id="28" name="Stat 6 number"/>
          <p:cNvSpPr txBox="1"/>
          <p:nvPr/>
        </p:nvSpPr>
        <p:spPr>
          <a:xfrm>
            <a:off x="9921240" y="4251960"/>
            <a:ext cx="1737360" cy="822960"/>
          </a:xfrm>
          <a:prstGeom prst="rect">
            <a:avLst/>
          </a:prstGeom>
          <a:noFill/>
          <a:ln/>
        </p:spPr>
        <p:txBody>
          <a:bodyPr wrap="square" lIns="0" tIns="0" rIns="0" bIns="0" rtlCol="0" anchor="ctr"/>
          <a:lstStyle/>
          <a:p>
            <a:pPr indent="0" marL="0">
              <a:buNone/>
            </a:pPr>
            <a:r>
              <a:rPr lang="en-US" sz="4800" b="1" dirty="0">
                <a:solidFill>
                  <a:schemeClr val="accent1"/>
                </a:solidFill>
              </a:rPr>
              <a:t>4</a:t>
            </a:r>
            <a:endParaRPr lang="en-US" sz="4800" dirty="0"/>
          </a:p>
        </p:txBody>
      </p:sp>
      <p:sp>
        <p:nvSpPr>
          <p:cNvPr id="29" name="Stat 6 label"/>
          <p:cNvSpPr txBox="1"/>
          <p:nvPr/>
        </p:nvSpPr>
        <p:spPr>
          <a:xfrm>
            <a:off x="9921240" y="5074920"/>
            <a:ext cx="1737360" cy="548640"/>
          </a:xfrm>
          <a:prstGeom prst="rect">
            <a:avLst/>
          </a:prstGeom>
          <a:noFill/>
          <a:ln/>
        </p:spPr>
        <p:txBody>
          <a:bodyPr wrap="square" lIns="0" tIns="0" rIns="0" bIns="0" rtlCol="0" anchor="t"/>
          <a:lstStyle/>
          <a:p>
            <a:pPr indent="0" marL="0">
              <a:buNone/>
            </a:pPr>
            <a:r>
              <a:rPr lang="en-US" sz="1300" dirty="0">
                <a:solidFill>
                  <a:schemeClr val="tx1"/>
                </a:solidFill>
              </a:rPr>
              <a:t>training decks</a:t>
            </a:r>
            <a:endParaRPr lang="en-US" sz="13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01</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The walkthrough</a:t>
            </a:r>
            <a:endParaRPr lang="en-US" sz="4000" dirty="0"/>
          </a:p>
        </p:txBody>
      </p:sp>
      <p:sp>
        <p:nvSpPr>
          <p:cNvPr id="4" name="Text 0"/>
          <p:cNvSpPr/>
          <p:nvPr>
            <p:ph idx="102" type="body" hasCustomPrompt="1"/>
          </p:nvPr>
        </p:nvSpPr>
        <p:spPr>
          <a:xfrm>
            <a:off x="731520" y="3794760"/>
            <a:ext cx="9144000" cy="1097280"/>
          </a:xfrm>
          <a:prstGeom prst="rect">
            <a:avLst/>
          </a:prstGeom>
          <a:noFill/>
          <a:ln/>
        </p:spPr>
        <p:txBody>
          <a:bodyPr wrap="square" lIns="0" tIns="0" rIns="0" bIns="0" rtlCol="0" anchor="t"/>
          <a:lstStyle/>
          <a:p>
            <a:pPr algn="l" indent="0" marL="0">
              <a:buNone/>
            </a:pPr>
            <a:r>
              <a:rPr lang="en-US" sz="2000" dirty="0">
                <a:solidFill>
                  <a:schemeClr val="bg1"/>
                </a:solidFill>
              </a:rPr>
              <a:t>A visitor finds us, a broker applies, an underwriter decides, the broker binds, and the book reports itself.</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The website</a:t>
            </a:r>
            <a:endParaRPr lang="en-US" sz="2800" dirty="0"/>
          </a:p>
        </p:txBody>
      </p:sp>
      <p:sp>
        <p:nvSpPr>
          <p:cNvPr id="3" name="Screenshot frame"/>
          <p:cNvSpPr/>
          <p:nvPr/>
        </p:nvSpPr>
        <p:spPr>
          <a:xfrm>
            <a:off x="402336" y="1133856"/>
            <a:ext cx="7607808" cy="47960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The website screenshot">    </p:cNvPr>
          <p:cNvPicPr>
            <a:picLocks noChangeAspect="1"/>
          </p:cNvPicPr>
          <p:nvPr/>
        </p:nvPicPr>
        <p:blipFill>
          <a:blip r:embed="rId1"/>
          <a:stretch>
            <a:fillRect/>
          </a:stretch>
        </p:blipFill>
        <p:spPr>
          <a:xfrm>
            <a:off x="457200" y="1188720"/>
            <a:ext cx="7498080" cy="4686300"/>
          </a:xfrm>
          <a:prstGeom prst="rect">
            <a:avLst/>
          </a:prstGeom>
        </p:spPr>
      </p:pic>
      <p:sp>
        <p:nvSpPr>
          <p:cNvPr id="5" name="See label"/>
          <p:cNvSpPr txBox="1"/>
          <p:nvPr/>
        </p:nvSpPr>
        <p:spPr>
          <a:xfrm>
            <a:off x="8321040" y="1188720"/>
            <a:ext cx="34747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WHAT YOU'LL SEE</a:t>
            </a:r>
            <a:endParaRPr lang="en-US" sz="1100" dirty="0"/>
          </a:p>
        </p:txBody>
      </p:sp>
      <p:sp>
        <p:nvSpPr>
          <p:cNvPr id="6" name="See points"/>
          <p:cNvSpPr txBox="1"/>
          <p:nvPr/>
        </p:nvSpPr>
        <p:spPr>
          <a:xfrm>
            <a:off x="8321040" y="150876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Six products, each with Apply now, wordings and a fact sheet</a:t>
            </a:r>
            <a:endParaRPr lang="en-US" sz="1400" dirty="0"/>
          </a:p>
          <a:p>
            <a:pPr marL="342900" indent="-342900">
              <a:spcAft>
                <a:spcPts val="800"/>
              </a:spcAft>
              <a:buSzPct val="100000"/>
              <a:buChar char="•"/>
            </a:pPr>
            <a:r>
              <a:rPr lang="en-US" sz="1400" dirty="0">
                <a:solidFill>
                  <a:schemeClr val="tx1"/>
                </a:solidFill>
              </a:rPr>
              <a:t>Documents open in a new tab</a:t>
            </a:r>
            <a:endParaRPr lang="en-US" sz="1400" dirty="0"/>
          </a:p>
          <a:p>
            <a:pPr marL="342900" indent="-342900">
              <a:spcAft>
                <a:spcPts val="800"/>
              </a:spcAft>
              <a:buSzPct val="100000"/>
              <a:buChar char="•"/>
            </a:pPr>
            <a:r>
              <a:rPr lang="en-US" sz="1400" dirty="0">
                <a:solidFill>
                  <a:schemeClr val="tx1"/>
                </a:solidFill>
              </a:rPr>
              <a:t>Search goes straight to the right FAQ answer</a:t>
            </a:r>
            <a:endParaRPr lang="en-US" sz="1400" dirty="0"/>
          </a:p>
        </p:txBody>
      </p:sp>
      <p:sp>
        <p:nvSpPr>
          <p:cNvPr id="7" name="Wow box"/>
          <p:cNvSpPr/>
          <p:nvPr/>
        </p:nvSpPr>
        <p:spPr>
          <a:xfrm>
            <a:off x="8321040" y="4343400"/>
            <a:ext cx="3474720" cy="1600200"/>
          </a:xfrm>
          <a:prstGeom prst="roundRect">
            <a:avLst>
              <a:gd name="adj" fmla="val 4571"/>
            </a:avLst>
          </a:prstGeom>
          <a:solidFill>
            <a:schemeClr val="accent6"/>
          </a:solidFill>
          <a:ln w="12700">
            <a:solidFill>
              <a:srgbClr val="DDE7E5"/>
            </a:solidFill>
            <a:prstDash val="solid"/>
          </a:ln>
        </p:spPr>
      </p:sp>
      <p:sp>
        <p:nvSpPr>
          <p:cNvPr id="8" name="Wow label"/>
          <p:cNvSpPr txBox="1"/>
          <p:nvPr/>
        </p:nvSpPr>
        <p:spPr>
          <a:xfrm>
            <a:off x="8503920" y="4480560"/>
            <a:ext cx="3108960" cy="274320"/>
          </a:xfrm>
          <a:prstGeom prst="rect">
            <a:avLst/>
          </a:prstGeom>
          <a:noFill/>
          <a:ln/>
        </p:spPr>
        <p:txBody>
          <a:bodyPr wrap="square" lIns="0" tIns="0" rIns="0" bIns="0" rtlCol="0" anchor="ctr"/>
          <a:lstStyle/>
          <a:p>
            <a:pPr indent="0" marL="0">
              <a:buNone/>
            </a:pPr>
            <a:r>
              <a:rPr lang="en-US" sz="1100" b="1" spc="200" kern="0" dirty="0">
                <a:solidFill>
                  <a:schemeClr val="accent3"/>
                </a:solidFill>
              </a:rPr>
              <a:t>WOW MOMENT</a:t>
            </a:r>
            <a:endParaRPr lang="en-US" sz="1100" dirty="0"/>
          </a:p>
        </p:txBody>
      </p:sp>
      <p:sp>
        <p:nvSpPr>
          <p:cNvPr id="9" name="Wow text"/>
          <p:cNvSpPr txBox="1"/>
          <p:nvPr/>
        </p:nvSpPr>
        <p:spPr>
          <a:xfrm>
            <a:off x="8503920" y="4754880"/>
            <a:ext cx="3108960" cy="1097280"/>
          </a:xfrm>
          <a:prstGeom prst="rect">
            <a:avLst/>
          </a:prstGeom>
          <a:noFill/>
          <a:ln/>
        </p:spPr>
        <p:txBody>
          <a:bodyPr wrap="square" lIns="0" tIns="0" rIns="0" bIns="0" rtlCol="0" anchor="t"/>
          <a:lstStyle/>
          <a:p>
            <a:pPr indent="0" marL="0">
              <a:buNone/>
            </a:pPr>
            <a:r>
              <a:rPr lang="en-US" sz="1400" b="1" dirty="0">
                <a:solidFill>
                  <a:schemeClr val="accent3"/>
                </a:solidFill>
              </a:rPr>
              <a:t>Search "airbnb" and land on the exact answer, already open.</a:t>
            </a:r>
            <a:endParaRPr lang="en-US" sz="14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Brad, the website otter</a:t>
            </a:r>
            <a:endParaRPr lang="en-US" sz="2800" dirty="0"/>
          </a:p>
        </p:txBody>
      </p:sp>
      <p:sp>
        <p:nvSpPr>
          <p:cNvPr id="3" name="Screenshot frame"/>
          <p:cNvSpPr/>
          <p:nvPr/>
        </p:nvSpPr>
        <p:spPr>
          <a:xfrm>
            <a:off x="402336" y="1133856"/>
            <a:ext cx="7607808" cy="47960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Brad, the website otter screenshot">    </p:cNvPr>
          <p:cNvPicPr>
            <a:picLocks noChangeAspect="1"/>
          </p:cNvPicPr>
          <p:nvPr/>
        </p:nvPicPr>
        <p:blipFill>
          <a:blip r:embed="rId1"/>
          <a:stretch>
            <a:fillRect/>
          </a:stretch>
        </p:blipFill>
        <p:spPr>
          <a:xfrm>
            <a:off x="457200" y="1188720"/>
            <a:ext cx="7498080" cy="4686300"/>
          </a:xfrm>
          <a:prstGeom prst="rect">
            <a:avLst/>
          </a:prstGeom>
        </p:spPr>
      </p:pic>
      <p:sp>
        <p:nvSpPr>
          <p:cNvPr id="5" name="See label"/>
          <p:cNvSpPr txBox="1"/>
          <p:nvPr/>
        </p:nvSpPr>
        <p:spPr>
          <a:xfrm>
            <a:off x="8321040" y="1188720"/>
            <a:ext cx="34747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WHAT YOU'LL SEE</a:t>
            </a:r>
            <a:endParaRPr lang="en-US" sz="1100" dirty="0"/>
          </a:p>
        </p:txBody>
      </p:sp>
      <p:sp>
        <p:nvSpPr>
          <p:cNvPr id="6" name="See points"/>
          <p:cNvSpPr txBox="1"/>
          <p:nvPr/>
        </p:nvSpPr>
        <p:spPr>
          <a:xfrm>
            <a:off x="8321040" y="150876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Answers from Otta's own products, fact sheets and FAQs</a:t>
            </a:r>
            <a:endParaRPr lang="en-US" sz="1400" dirty="0"/>
          </a:p>
          <a:p>
            <a:pPr marL="342900" indent="-342900">
              <a:spcAft>
                <a:spcPts val="800"/>
              </a:spcAft>
              <a:buSzPct val="100000"/>
              <a:buChar char="•"/>
            </a:pPr>
            <a:r>
              <a:rPr lang="en-US" sz="1400" dirty="0">
                <a:solidFill>
                  <a:schemeClr val="tx1"/>
                </a:solidFill>
              </a:rPr>
              <a:t>General information only, with a disclaimer</a:t>
            </a:r>
            <a:endParaRPr lang="en-US" sz="1400" dirty="0"/>
          </a:p>
          <a:p>
            <a:pPr marL="342900" indent="-342900">
              <a:spcAft>
                <a:spcPts val="800"/>
              </a:spcAft>
              <a:buSzPct val="100000"/>
              <a:buChar char="•"/>
            </a:pPr>
            <a:r>
              <a:rPr lang="en-US" sz="1400" dirty="0">
                <a:solidFill>
                  <a:schemeClr val="tx1"/>
                </a:solidFill>
              </a:rPr>
              <a:t>Steve is the joke otter: keep him or not?</a:t>
            </a:r>
            <a:endParaRPr lang="en-US" sz="1400" dirty="0"/>
          </a:p>
        </p:txBody>
      </p:sp>
      <p:sp>
        <p:nvSpPr>
          <p:cNvPr id="7" name="Wow box"/>
          <p:cNvSpPr/>
          <p:nvPr/>
        </p:nvSpPr>
        <p:spPr>
          <a:xfrm>
            <a:off x="8321040" y="4343400"/>
            <a:ext cx="3474720" cy="1600200"/>
          </a:xfrm>
          <a:prstGeom prst="roundRect">
            <a:avLst>
              <a:gd name="adj" fmla="val 4571"/>
            </a:avLst>
          </a:prstGeom>
          <a:solidFill>
            <a:schemeClr val="accent6"/>
          </a:solidFill>
          <a:ln w="12700">
            <a:solidFill>
              <a:srgbClr val="DDE7E5"/>
            </a:solidFill>
            <a:prstDash val="solid"/>
          </a:ln>
        </p:spPr>
      </p:sp>
      <p:sp>
        <p:nvSpPr>
          <p:cNvPr id="8" name="Wow label"/>
          <p:cNvSpPr txBox="1"/>
          <p:nvPr/>
        </p:nvSpPr>
        <p:spPr>
          <a:xfrm>
            <a:off x="8503920" y="4480560"/>
            <a:ext cx="3108960" cy="274320"/>
          </a:xfrm>
          <a:prstGeom prst="rect">
            <a:avLst/>
          </a:prstGeom>
          <a:noFill/>
          <a:ln/>
        </p:spPr>
        <p:txBody>
          <a:bodyPr wrap="square" lIns="0" tIns="0" rIns="0" bIns="0" rtlCol="0" anchor="ctr"/>
          <a:lstStyle/>
          <a:p>
            <a:pPr indent="0" marL="0">
              <a:buNone/>
            </a:pPr>
            <a:r>
              <a:rPr lang="en-US" sz="1100" b="1" spc="200" kern="0" dirty="0">
                <a:solidFill>
                  <a:schemeClr val="accent3"/>
                </a:solidFill>
              </a:rPr>
              <a:t>WOW MOMENT</a:t>
            </a:r>
            <a:endParaRPr lang="en-US" sz="1100" dirty="0"/>
          </a:p>
        </p:txBody>
      </p:sp>
      <p:sp>
        <p:nvSpPr>
          <p:cNvPr id="9" name="Wow text"/>
          <p:cNvSpPr txBox="1"/>
          <p:nvPr/>
        </p:nvSpPr>
        <p:spPr>
          <a:xfrm>
            <a:off x="8503920" y="4754880"/>
            <a:ext cx="3108960" cy="1097280"/>
          </a:xfrm>
          <a:prstGeom prst="rect">
            <a:avLst/>
          </a:prstGeom>
          <a:noFill/>
          <a:ln/>
        </p:spPr>
        <p:txBody>
          <a:bodyPr wrap="square" lIns="0" tIns="0" rIns="0" bIns="0" rtlCol="0" anchor="t"/>
          <a:lstStyle/>
          <a:p>
            <a:pPr indent="0" marL="0">
              <a:buNone/>
            </a:pPr>
            <a:r>
              <a:rPr lang="en-US" sz="1400" b="1" dirty="0">
                <a:solidFill>
                  <a:schemeClr val="accent3"/>
                </a:solidFill>
              </a:rPr>
              <a:t>A 24/7 assistant that already speaks in Otta's voice.</a:t>
            </a:r>
            <a:endParaRPr lang="en-US" sz="14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A live enquiry</a:t>
            </a:r>
            <a:endParaRPr lang="en-US" sz="2800" dirty="0"/>
          </a:p>
        </p:txBody>
      </p:sp>
      <p:sp>
        <p:nvSpPr>
          <p:cNvPr id="3" name="Screenshot frame"/>
          <p:cNvSpPr/>
          <p:nvPr/>
        </p:nvSpPr>
        <p:spPr>
          <a:xfrm>
            <a:off x="402336" y="1133856"/>
            <a:ext cx="7607808" cy="47960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A live enquiry screenshot">    </p:cNvPr>
          <p:cNvPicPr>
            <a:picLocks noChangeAspect="1"/>
          </p:cNvPicPr>
          <p:nvPr/>
        </p:nvPicPr>
        <p:blipFill>
          <a:blip r:embed="rId1"/>
          <a:stretch>
            <a:fillRect/>
          </a:stretch>
        </p:blipFill>
        <p:spPr>
          <a:xfrm>
            <a:off x="457200" y="1188720"/>
            <a:ext cx="7498080" cy="4686300"/>
          </a:xfrm>
          <a:prstGeom prst="rect">
            <a:avLst/>
          </a:prstGeom>
        </p:spPr>
      </p:pic>
      <p:sp>
        <p:nvSpPr>
          <p:cNvPr id="5" name="See label"/>
          <p:cNvSpPr txBox="1"/>
          <p:nvPr/>
        </p:nvSpPr>
        <p:spPr>
          <a:xfrm>
            <a:off x="8321040" y="1188720"/>
            <a:ext cx="34747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WHAT YOU'LL SEE</a:t>
            </a:r>
            <a:endParaRPr lang="en-US" sz="1100" dirty="0"/>
          </a:p>
        </p:txBody>
      </p:sp>
      <p:sp>
        <p:nvSpPr>
          <p:cNvPr id="6" name="See points"/>
          <p:cNvSpPr txBox="1"/>
          <p:nvPr/>
        </p:nvSpPr>
        <p:spPr>
          <a:xfrm>
            <a:off x="8321040" y="150876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Admin overview on the big screen</a:t>
            </a:r>
            <a:endParaRPr lang="en-US" sz="1400" dirty="0"/>
          </a:p>
          <a:p>
            <a:pPr marL="342900" indent="-342900">
              <a:spcAft>
                <a:spcPts val="800"/>
              </a:spcAft>
              <a:buSzPct val="100000"/>
              <a:buChar char="•"/>
            </a:pPr>
            <a:r>
              <a:rPr lang="en-US" sz="1400" dirty="0">
                <a:solidFill>
                  <a:schemeClr val="tx1"/>
                </a:solidFill>
              </a:rPr>
              <a:t>Send the contact form from a phone</a:t>
            </a:r>
            <a:endParaRPr lang="en-US" sz="1400" dirty="0"/>
          </a:p>
          <a:p>
            <a:pPr marL="342900" indent="-342900">
              <a:spcAft>
                <a:spcPts val="800"/>
              </a:spcAft>
              <a:buSzPct val="100000"/>
              <a:buChar char="•"/>
            </a:pPr>
            <a:r>
              <a:rPr lang="en-US" sz="1400" dirty="0">
                <a:solidFill>
                  <a:schemeClr val="tx1"/>
                </a:solidFill>
              </a:rPr>
              <a:t>Confetti, a card, and an email to the team</a:t>
            </a:r>
            <a:endParaRPr lang="en-US" sz="1400" dirty="0"/>
          </a:p>
        </p:txBody>
      </p:sp>
      <p:sp>
        <p:nvSpPr>
          <p:cNvPr id="7" name="Wow box"/>
          <p:cNvSpPr/>
          <p:nvPr/>
        </p:nvSpPr>
        <p:spPr>
          <a:xfrm>
            <a:off x="8321040" y="4343400"/>
            <a:ext cx="3474720" cy="1600200"/>
          </a:xfrm>
          <a:prstGeom prst="roundRect">
            <a:avLst>
              <a:gd name="adj" fmla="val 4571"/>
            </a:avLst>
          </a:prstGeom>
          <a:solidFill>
            <a:schemeClr val="accent6"/>
          </a:solidFill>
          <a:ln w="12700">
            <a:solidFill>
              <a:srgbClr val="DDE7E5"/>
            </a:solidFill>
            <a:prstDash val="solid"/>
          </a:ln>
        </p:spPr>
      </p:sp>
      <p:sp>
        <p:nvSpPr>
          <p:cNvPr id="8" name="Wow label"/>
          <p:cNvSpPr txBox="1"/>
          <p:nvPr/>
        </p:nvSpPr>
        <p:spPr>
          <a:xfrm>
            <a:off x="8503920" y="4480560"/>
            <a:ext cx="3108960" cy="274320"/>
          </a:xfrm>
          <a:prstGeom prst="rect">
            <a:avLst/>
          </a:prstGeom>
          <a:noFill/>
          <a:ln/>
        </p:spPr>
        <p:txBody>
          <a:bodyPr wrap="square" lIns="0" tIns="0" rIns="0" bIns="0" rtlCol="0" anchor="ctr"/>
          <a:lstStyle/>
          <a:p>
            <a:pPr indent="0" marL="0">
              <a:buNone/>
            </a:pPr>
            <a:r>
              <a:rPr lang="en-US" sz="1100" b="1" spc="200" kern="0" dirty="0">
                <a:solidFill>
                  <a:schemeClr val="accent3"/>
                </a:solidFill>
              </a:rPr>
              <a:t>WOW MOMENT</a:t>
            </a:r>
            <a:endParaRPr lang="en-US" sz="1100" dirty="0"/>
          </a:p>
        </p:txBody>
      </p:sp>
      <p:sp>
        <p:nvSpPr>
          <p:cNvPr id="9" name="Wow text"/>
          <p:cNvSpPr txBox="1"/>
          <p:nvPr/>
        </p:nvSpPr>
        <p:spPr>
          <a:xfrm>
            <a:off x="8503920" y="4754880"/>
            <a:ext cx="3108960" cy="1097280"/>
          </a:xfrm>
          <a:prstGeom prst="rect">
            <a:avLst/>
          </a:prstGeom>
          <a:noFill/>
          <a:ln/>
        </p:spPr>
        <p:txBody>
          <a:bodyPr wrap="square" lIns="0" tIns="0" rIns="0" bIns="0" rtlCol="0" anchor="t"/>
          <a:lstStyle/>
          <a:p>
            <a:pPr indent="0" marL="0">
              <a:buNone/>
            </a:pPr>
            <a:r>
              <a:rPr lang="en-US" sz="1400" b="1" dirty="0">
                <a:solidFill>
                  <a:schemeClr val="accent3"/>
                </a:solidFill>
              </a:rPr>
              <a:t>Confetti on the big screen the moment the phone sends.</a:t>
            </a:r>
            <a:endParaRPr lang="en-US" sz="14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The broker portal</a:t>
            </a:r>
            <a:endParaRPr lang="en-US" sz="2800" dirty="0"/>
          </a:p>
        </p:txBody>
      </p:sp>
      <p:sp>
        <p:nvSpPr>
          <p:cNvPr id="3" name="Screenshot frame"/>
          <p:cNvSpPr/>
          <p:nvPr/>
        </p:nvSpPr>
        <p:spPr>
          <a:xfrm>
            <a:off x="402336" y="1133856"/>
            <a:ext cx="7607808" cy="47960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The broker portal screenshot">    </p:cNvPr>
          <p:cNvPicPr>
            <a:picLocks noChangeAspect="1"/>
          </p:cNvPicPr>
          <p:nvPr/>
        </p:nvPicPr>
        <p:blipFill>
          <a:blip r:embed="rId1"/>
          <a:stretch>
            <a:fillRect/>
          </a:stretch>
        </p:blipFill>
        <p:spPr>
          <a:xfrm>
            <a:off x="457200" y="1188720"/>
            <a:ext cx="7498080" cy="4686300"/>
          </a:xfrm>
          <a:prstGeom prst="rect">
            <a:avLst/>
          </a:prstGeom>
        </p:spPr>
      </p:pic>
      <p:sp>
        <p:nvSpPr>
          <p:cNvPr id="5" name="See label"/>
          <p:cNvSpPr txBox="1"/>
          <p:nvPr/>
        </p:nvSpPr>
        <p:spPr>
          <a:xfrm>
            <a:off x="8321040" y="1188720"/>
            <a:ext cx="34747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WHAT YOU'LL SEE</a:t>
            </a:r>
            <a:endParaRPr lang="en-US" sz="1100" dirty="0"/>
          </a:p>
        </p:txBody>
      </p:sp>
      <p:sp>
        <p:nvSpPr>
          <p:cNvPr id="6" name="See points"/>
          <p:cNvSpPr txBox="1"/>
          <p:nvPr/>
        </p:nvSpPr>
        <p:spPr>
          <a:xfrm>
            <a:off x="8321040" y="150876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The broker's active book with Otta, by product</a:t>
            </a:r>
            <a:endParaRPr lang="en-US" sz="1400" dirty="0"/>
          </a:p>
          <a:p>
            <a:pPr marL="342900" indent="-342900">
              <a:spcAft>
                <a:spcPts val="800"/>
              </a:spcAft>
              <a:buSzPct val="100000"/>
              <a:buChar char="•"/>
            </a:pPr>
            <a:r>
              <a:rPr lang="en-US" sz="1400" dirty="0">
                <a:solidFill>
                  <a:schemeClr val="tx1"/>
                </a:solidFill>
              </a:rPr>
              <a:t>Forms grouped by product, with cover help</a:t>
            </a:r>
            <a:endParaRPr lang="en-US" sz="1400" dirty="0"/>
          </a:p>
          <a:p>
            <a:pPr marL="342900" indent="-342900">
              <a:spcAft>
                <a:spcPts val="800"/>
              </a:spcAft>
              <a:buSzPct val="100000"/>
              <a:buChar char="•"/>
            </a:pPr>
            <a:r>
              <a:rPr lang="en-US" sz="1400" dirty="0">
                <a:solidFill>
                  <a:schemeClr val="tx1"/>
                </a:solidFill>
              </a:rPr>
              <a:t>A secure link the broker sends their client themselves</a:t>
            </a:r>
            <a:endParaRPr lang="en-US" sz="1400" dirty="0"/>
          </a:p>
        </p:txBody>
      </p:sp>
      <p:sp>
        <p:nvSpPr>
          <p:cNvPr id="7" name="Wow box"/>
          <p:cNvSpPr/>
          <p:nvPr/>
        </p:nvSpPr>
        <p:spPr>
          <a:xfrm>
            <a:off x="8321040" y="4343400"/>
            <a:ext cx="3474720" cy="1600200"/>
          </a:xfrm>
          <a:prstGeom prst="roundRect">
            <a:avLst>
              <a:gd name="adj" fmla="val 4571"/>
            </a:avLst>
          </a:prstGeom>
          <a:solidFill>
            <a:schemeClr val="accent6"/>
          </a:solidFill>
          <a:ln w="12700">
            <a:solidFill>
              <a:srgbClr val="DDE7E5"/>
            </a:solidFill>
            <a:prstDash val="solid"/>
          </a:ln>
        </p:spPr>
      </p:sp>
      <p:sp>
        <p:nvSpPr>
          <p:cNvPr id="8" name="Wow label"/>
          <p:cNvSpPr txBox="1"/>
          <p:nvPr/>
        </p:nvSpPr>
        <p:spPr>
          <a:xfrm>
            <a:off x="8503920" y="4480560"/>
            <a:ext cx="3108960" cy="274320"/>
          </a:xfrm>
          <a:prstGeom prst="rect">
            <a:avLst/>
          </a:prstGeom>
          <a:noFill/>
          <a:ln/>
        </p:spPr>
        <p:txBody>
          <a:bodyPr wrap="square" lIns="0" tIns="0" rIns="0" bIns="0" rtlCol="0" anchor="ctr"/>
          <a:lstStyle/>
          <a:p>
            <a:pPr indent="0" marL="0">
              <a:buNone/>
            </a:pPr>
            <a:r>
              <a:rPr lang="en-US" sz="1100" b="1" spc="200" kern="0" dirty="0">
                <a:solidFill>
                  <a:schemeClr val="accent3"/>
                </a:solidFill>
              </a:rPr>
              <a:t>WOW MOMENT</a:t>
            </a:r>
            <a:endParaRPr lang="en-US" sz="1100" dirty="0"/>
          </a:p>
        </p:txBody>
      </p:sp>
      <p:sp>
        <p:nvSpPr>
          <p:cNvPr id="9" name="Wow text"/>
          <p:cNvSpPr txBox="1"/>
          <p:nvPr/>
        </p:nvSpPr>
        <p:spPr>
          <a:xfrm>
            <a:off x="8503920" y="4754880"/>
            <a:ext cx="3108960" cy="1097280"/>
          </a:xfrm>
          <a:prstGeom prst="rect">
            <a:avLst/>
          </a:prstGeom>
          <a:noFill/>
          <a:ln/>
        </p:spPr>
        <p:txBody>
          <a:bodyPr wrap="square" lIns="0" tIns="0" rIns="0" bIns="0" rtlCol="0" anchor="t"/>
          <a:lstStyle/>
          <a:p>
            <a:pPr indent="0" marL="0">
              <a:buNone/>
            </a:pPr>
            <a:r>
              <a:rPr lang="en-US" sz="1400" b="1" dirty="0">
                <a:solidFill>
                  <a:schemeClr val="accent3"/>
                </a:solidFill>
              </a:rPr>
              <a:t>Brokers see their whole relationship with Otta on one screen.</a:t>
            </a:r>
            <a:endParaRPr lang="en-US" sz="14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Application in, underwriting brief out</a:t>
            </a:r>
            <a:endParaRPr lang="en-US" sz="2800" dirty="0"/>
          </a:p>
        </p:txBody>
      </p:sp>
      <p:sp>
        <p:nvSpPr>
          <p:cNvPr id="3" name="Screenshot frame"/>
          <p:cNvSpPr/>
          <p:nvPr/>
        </p:nvSpPr>
        <p:spPr>
          <a:xfrm>
            <a:off x="402336" y="1133856"/>
            <a:ext cx="7607808" cy="47960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Application in, underwriting brief out screenshot">    </p:cNvPr>
          <p:cNvPicPr>
            <a:picLocks noChangeAspect="1"/>
          </p:cNvPicPr>
          <p:nvPr/>
        </p:nvPicPr>
        <p:blipFill>
          <a:blip r:embed="rId1"/>
          <a:stretch>
            <a:fillRect/>
          </a:stretch>
        </p:blipFill>
        <p:spPr>
          <a:xfrm>
            <a:off x="457200" y="1188720"/>
            <a:ext cx="7498080" cy="4686300"/>
          </a:xfrm>
          <a:prstGeom prst="rect">
            <a:avLst/>
          </a:prstGeom>
        </p:spPr>
      </p:pic>
      <p:sp>
        <p:nvSpPr>
          <p:cNvPr id="5" name="See label"/>
          <p:cNvSpPr txBox="1"/>
          <p:nvPr/>
        </p:nvSpPr>
        <p:spPr>
          <a:xfrm>
            <a:off x="8321040" y="1188720"/>
            <a:ext cx="34747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WHAT YOU'LL SEE</a:t>
            </a:r>
            <a:endParaRPr lang="en-US" sz="1100" dirty="0"/>
          </a:p>
        </p:txBody>
      </p:sp>
      <p:sp>
        <p:nvSpPr>
          <p:cNvPr id="6" name="See points"/>
          <p:cNvSpPr txBox="1"/>
          <p:nvPr/>
        </p:nvSpPr>
        <p:spPr>
          <a:xfrm>
            <a:off x="8321040" y="150876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Submit a building application live</a:t>
            </a:r>
            <a:endParaRPr lang="en-US" sz="1400" dirty="0"/>
          </a:p>
          <a:p>
            <a:pPr marL="342900" indent="-342900">
              <a:spcAft>
                <a:spcPts val="800"/>
              </a:spcAft>
              <a:buSzPct val="100000"/>
              <a:buChar char="•"/>
            </a:pPr>
            <a:r>
              <a:rPr lang="en-US" sz="1400" dirty="0">
                <a:solidFill>
                  <a:schemeClr val="tx1"/>
                </a:solidFill>
              </a:rPr>
              <a:t>The assistant reads it against the underwriting guide</a:t>
            </a:r>
            <a:endParaRPr lang="en-US" sz="1400" dirty="0"/>
          </a:p>
          <a:p>
            <a:pPr marL="342900" indent="-342900">
              <a:spcAft>
                <a:spcPts val="800"/>
              </a:spcAft>
              <a:buSzPct val="100000"/>
              <a:buChar char="•"/>
            </a:pPr>
            <a:r>
              <a:rPr lang="en-US" sz="1400" dirty="0">
                <a:solidFill>
                  <a:schemeClr val="tx1"/>
                </a:solidFill>
              </a:rPr>
              <a:t>Red flags, suggested terms and a pre-filled V13 worksheet</a:t>
            </a:r>
            <a:endParaRPr lang="en-US" sz="1400" dirty="0"/>
          </a:p>
        </p:txBody>
      </p:sp>
      <p:sp>
        <p:nvSpPr>
          <p:cNvPr id="7" name="Wow box"/>
          <p:cNvSpPr/>
          <p:nvPr/>
        </p:nvSpPr>
        <p:spPr>
          <a:xfrm>
            <a:off x="8321040" y="4343400"/>
            <a:ext cx="3474720" cy="1600200"/>
          </a:xfrm>
          <a:prstGeom prst="roundRect">
            <a:avLst>
              <a:gd name="adj" fmla="val 4571"/>
            </a:avLst>
          </a:prstGeom>
          <a:solidFill>
            <a:schemeClr val="accent6"/>
          </a:solidFill>
          <a:ln w="12700">
            <a:solidFill>
              <a:srgbClr val="DDE7E5"/>
            </a:solidFill>
            <a:prstDash val="solid"/>
          </a:ln>
        </p:spPr>
      </p:sp>
      <p:sp>
        <p:nvSpPr>
          <p:cNvPr id="8" name="Wow label"/>
          <p:cNvSpPr txBox="1"/>
          <p:nvPr/>
        </p:nvSpPr>
        <p:spPr>
          <a:xfrm>
            <a:off x="8503920" y="4480560"/>
            <a:ext cx="3108960" cy="274320"/>
          </a:xfrm>
          <a:prstGeom prst="rect">
            <a:avLst/>
          </a:prstGeom>
          <a:noFill/>
          <a:ln/>
        </p:spPr>
        <p:txBody>
          <a:bodyPr wrap="square" lIns="0" tIns="0" rIns="0" bIns="0" rtlCol="0" anchor="ctr"/>
          <a:lstStyle/>
          <a:p>
            <a:pPr indent="0" marL="0">
              <a:buNone/>
            </a:pPr>
            <a:r>
              <a:rPr lang="en-US" sz="1100" b="1" spc="200" kern="0" dirty="0">
                <a:solidFill>
                  <a:schemeClr val="accent3"/>
                </a:solidFill>
              </a:rPr>
              <a:t>WOW MOMENT</a:t>
            </a:r>
            <a:endParaRPr lang="en-US" sz="1100" dirty="0"/>
          </a:p>
        </p:txBody>
      </p:sp>
      <p:sp>
        <p:nvSpPr>
          <p:cNvPr id="9" name="Wow text"/>
          <p:cNvSpPr txBox="1"/>
          <p:nvPr/>
        </p:nvSpPr>
        <p:spPr>
          <a:xfrm>
            <a:off x="8503920" y="4754880"/>
            <a:ext cx="3108960" cy="1097280"/>
          </a:xfrm>
          <a:prstGeom prst="rect">
            <a:avLst/>
          </a:prstGeom>
          <a:noFill/>
          <a:ln/>
        </p:spPr>
        <p:txBody>
          <a:bodyPr wrap="square" lIns="0" tIns="0" rIns="0" bIns="0" rtlCol="0" anchor="t"/>
          <a:lstStyle/>
          <a:p>
            <a:pPr indent="0" marL="0">
              <a:buNone/>
            </a:pPr>
            <a:r>
              <a:rPr lang="en-US" sz="1400" b="1" dirty="0">
                <a:solidFill>
                  <a:schemeClr val="accent3"/>
                </a:solidFill>
              </a:rPr>
              <a:t>From Submit to a referral decision and pre-filled V13 in under a minute.</a:t>
            </a:r>
            <a:endParaRPr lang="en-US" sz="14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Quote to bind</a:t>
            </a:r>
            <a:endParaRPr lang="en-US" sz="2800" dirty="0"/>
          </a:p>
        </p:txBody>
      </p:sp>
      <p:sp>
        <p:nvSpPr>
          <p:cNvPr id="3" name="Screenshot frame"/>
          <p:cNvSpPr/>
          <p:nvPr/>
        </p:nvSpPr>
        <p:spPr>
          <a:xfrm>
            <a:off x="402336" y="1133856"/>
            <a:ext cx="7607808" cy="47960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Quote to bind screenshot">    </p:cNvPr>
          <p:cNvPicPr>
            <a:picLocks noChangeAspect="1"/>
          </p:cNvPicPr>
          <p:nvPr/>
        </p:nvPicPr>
        <p:blipFill>
          <a:blip r:embed="rId1"/>
          <a:stretch>
            <a:fillRect/>
          </a:stretch>
        </p:blipFill>
        <p:spPr>
          <a:xfrm>
            <a:off x="457200" y="1188720"/>
            <a:ext cx="7498080" cy="4686300"/>
          </a:xfrm>
          <a:prstGeom prst="rect">
            <a:avLst/>
          </a:prstGeom>
        </p:spPr>
      </p:pic>
      <p:sp>
        <p:nvSpPr>
          <p:cNvPr id="5" name="See label"/>
          <p:cNvSpPr txBox="1"/>
          <p:nvPr/>
        </p:nvSpPr>
        <p:spPr>
          <a:xfrm>
            <a:off x="8321040" y="1188720"/>
            <a:ext cx="34747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WHAT YOU'LL SEE</a:t>
            </a:r>
            <a:endParaRPr lang="en-US" sz="1100" dirty="0"/>
          </a:p>
        </p:txBody>
      </p:sp>
      <p:sp>
        <p:nvSpPr>
          <p:cNvPr id="6" name="See points"/>
          <p:cNvSpPr txBox="1"/>
          <p:nvPr/>
        </p:nvSpPr>
        <p:spPr>
          <a:xfrm>
            <a:off x="8321040" y="150876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The broker opens the quote</a:t>
            </a:r>
            <a:endParaRPr lang="en-US" sz="1400" dirty="0"/>
          </a:p>
          <a:p>
            <a:pPr marL="342900" indent="-342900">
              <a:spcAft>
                <a:spcPts val="800"/>
              </a:spcAft>
              <a:buSzPct val="100000"/>
              <a:buChar char="•"/>
            </a:pPr>
            <a:r>
              <a:rPr lang="en-US" sz="1400" dirty="0">
                <a:solidFill>
                  <a:schemeClr val="tx1"/>
                </a:solidFill>
              </a:rPr>
              <a:t>Chooses the inception date and confirms acceptance</a:t>
            </a:r>
            <a:endParaRPr lang="en-US" sz="1400" dirty="0"/>
          </a:p>
          <a:p>
            <a:pPr marL="342900" indent="-342900">
              <a:spcAft>
                <a:spcPts val="800"/>
              </a:spcAft>
              <a:buSzPct val="100000"/>
              <a:buChar char="•"/>
            </a:pPr>
            <a:r>
              <a:rPr lang="en-US" sz="1400" dirty="0">
                <a:solidFill>
                  <a:schemeClr val="tx1"/>
                </a:solidFill>
              </a:rPr>
              <a:t>Admin gets a bind instruction, with confetti</a:t>
            </a:r>
            <a:endParaRPr lang="en-US" sz="1400" dirty="0"/>
          </a:p>
        </p:txBody>
      </p:sp>
      <p:sp>
        <p:nvSpPr>
          <p:cNvPr id="7" name="Wow box"/>
          <p:cNvSpPr/>
          <p:nvPr/>
        </p:nvSpPr>
        <p:spPr>
          <a:xfrm>
            <a:off x="8321040" y="4343400"/>
            <a:ext cx="3474720" cy="1600200"/>
          </a:xfrm>
          <a:prstGeom prst="roundRect">
            <a:avLst>
              <a:gd name="adj" fmla="val 4571"/>
            </a:avLst>
          </a:prstGeom>
          <a:solidFill>
            <a:schemeClr val="accent6"/>
          </a:solidFill>
          <a:ln w="12700">
            <a:solidFill>
              <a:srgbClr val="DDE7E5"/>
            </a:solidFill>
            <a:prstDash val="solid"/>
          </a:ln>
        </p:spPr>
      </p:sp>
      <p:sp>
        <p:nvSpPr>
          <p:cNvPr id="8" name="Wow label"/>
          <p:cNvSpPr txBox="1"/>
          <p:nvPr/>
        </p:nvSpPr>
        <p:spPr>
          <a:xfrm>
            <a:off x="8503920" y="4480560"/>
            <a:ext cx="3108960" cy="274320"/>
          </a:xfrm>
          <a:prstGeom prst="rect">
            <a:avLst/>
          </a:prstGeom>
          <a:noFill/>
          <a:ln/>
        </p:spPr>
        <p:txBody>
          <a:bodyPr wrap="square" lIns="0" tIns="0" rIns="0" bIns="0" rtlCol="0" anchor="ctr"/>
          <a:lstStyle/>
          <a:p>
            <a:pPr indent="0" marL="0">
              <a:buNone/>
            </a:pPr>
            <a:r>
              <a:rPr lang="en-US" sz="1100" b="1" spc="200" kern="0" dirty="0">
                <a:solidFill>
                  <a:schemeClr val="accent3"/>
                </a:solidFill>
              </a:rPr>
              <a:t>WOW MOMENT</a:t>
            </a:r>
            <a:endParaRPr lang="en-US" sz="1100" dirty="0"/>
          </a:p>
        </p:txBody>
      </p:sp>
      <p:sp>
        <p:nvSpPr>
          <p:cNvPr id="9" name="Wow text"/>
          <p:cNvSpPr txBox="1"/>
          <p:nvPr/>
        </p:nvSpPr>
        <p:spPr>
          <a:xfrm>
            <a:off x="8503920" y="4754880"/>
            <a:ext cx="3108960" cy="1097280"/>
          </a:xfrm>
          <a:prstGeom prst="rect">
            <a:avLst/>
          </a:prstGeom>
          <a:noFill/>
          <a:ln/>
        </p:spPr>
        <p:txBody>
          <a:bodyPr wrap="square" lIns="0" tIns="0" rIns="0" bIns="0" rtlCol="0" anchor="t"/>
          <a:lstStyle/>
          <a:p>
            <a:pPr indent="0" marL="0">
              <a:buNone/>
            </a:pPr>
            <a:r>
              <a:rPr lang="en-US" sz="1400" b="1" dirty="0">
                <a:solidFill>
                  <a:schemeClr val="accent3"/>
                </a:solidFill>
              </a:rPr>
              <a:t>No more "please bind" emails lost in an inbox.</a:t>
            </a:r>
            <a:endParaRPr lang="en-US" sz="14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Claims, wordings and training</a:t>
            </a:r>
            <a:endParaRPr lang="en-US" sz="2800" dirty="0"/>
          </a:p>
        </p:txBody>
      </p:sp>
      <p:sp>
        <p:nvSpPr>
          <p:cNvPr id="3" name="Screenshot frame"/>
          <p:cNvSpPr/>
          <p:nvPr/>
        </p:nvSpPr>
        <p:spPr>
          <a:xfrm>
            <a:off x="402336" y="1133856"/>
            <a:ext cx="7607808" cy="47960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Claims, wordings and training screenshot">    </p:cNvPr>
          <p:cNvPicPr>
            <a:picLocks noChangeAspect="1"/>
          </p:cNvPicPr>
          <p:nvPr/>
        </p:nvPicPr>
        <p:blipFill>
          <a:blip r:embed="rId1"/>
          <a:stretch>
            <a:fillRect/>
          </a:stretch>
        </p:blipFill>
        <p:spPr>
          <a:xfrm>
            <a:off x="457200" y="1188720"/>
            <a:ext cx="7498080" cy="4686300"/>
          </a:xfrm>
          <a:prstGeom prst="rect">
            <a:avLst/>
          </a:prstGeom>
        </p:spPr>
      </p:pic>
      <p:sp>
        <p:nvSpPr>
          <p:cNvPr id="5" name="See label"/>
          <p:cNvSpPr txBox="1"/>
          <p:nvPr/>
        </p:nvSpPr>
        <p:spPr>
          <a:xfrm>
            <a:off x="8321040" y="1188720"/>
            <a:ext cx="34747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WHAT YOU'LL SEE</a:t>
            </a:r>
            <a:endParaRPr lang="en-US" sz="1100" dirty="0"/>
          </a:p>
        </p:txBody>
      </p:sp>
      <p:sp>
        <p:nvSpPr>
          <p:cNvPr id="6" name="See points"/>
          <p:cNvSpPr txBox="1"/>
          <p:nvPr/>
        </p:nvSpPr>
        <p:spPr>
          <a:xfrm>
            <a:off x="8321040" y="150876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Open claims, what has been paid, and each claim's progress</a:t>
            </a:r>
            <a:endParaRPr lang="en-US" sz="1400" dirty="0"/>
          </a:p>
          <a:p>
            <a:pPr marL="342900" indent="-342900">
              <a:spcAft>
                <a:spcPts val="800"/>
              </a:spcAft>
              <a:buSzPct val="100000"/>
              <a:buChar char="•"/>
            </a:pPr>
            <a:r>
              <a:rPr lang="en-US" sz="1400" dirty="0">
                <a:solidFill>
                  <a:schemeClr val="tx1"/>
                </a:solidFill>
              </a:rPr>
              <a:t>Every policy wording in one place</a:t>
            </a:r>
            <a:endParaRPr lang="en-US" sz="1400" dirty="0"/>
          </a:p>
          <a:p>
            <a:pPr marL="342900" indent="-342900">
              <a:spcAft>
                <a:spcPts val="800"/>
              </a:spcAft>
              <a:buSzPct val="100000"/>
              <a:buChar char="•"/>
            </a:pPr>
            <a:r>
              <a:rPr lang="en-US" sz="1400" dirty="0">
                <a:solidFill>
                  <a:schemeClr val="tx1"/>
                </a:solidFill>
              </a:rPr>
              <a:t>A training walkthrough for every new broker</a:t>
            </a:r>
            <a:endParaRPr lang="en-US" sz="1400" dirty="0"/>
          </a:p>
        </p:txBody>
      </p:sp>
      <p:sp>
        <p:nvSpPr>
          <p:cNvPr id="7" name="Wow box"/>
          <p:cNvSpPr/>
          <p:nvPr/>
        </p:nvSpPr>
        <p:spPr>
          <a:xfrm>
            <a:off x="8321040" y="4343400"/>
            <a:ext cx="3474720" cy="1600200"/>
          </a:xfrm>
          <a:prstGeom prst="roundRect">
            <a:avLst>
              <a:gd name="adj" fmla="val 4571"/>
            </a:avLst>
          </a:prstGeom>
          <a:solidFill>
            <a:schemeClr val="accent6"/>
          </a:solidFill>
          <a:ln w="12700">
            <a:solidFill>
              <a:srgbClr val="DDE7E5"/>
            </a:solidFill>
            <a:prstDash val="solid"/>
          </a:ln>
        </p:spPr>
      </p:sp>
      <p:sp>
        <p:nvSpPr>
          <p:cNvPr id="8" name="Wow label"/>
          <p:cNvSpPr txBox="1"/>
          <p:nvPr/>
        </p:nvSpPr>
        <p:spPr>
          <a:xfrm>
            <a:off x="8503920" y="4480560"/>
            <a:ext cx="3108960" cy="274320"/>
          </a:xfrm>
          <a:prstGeom prst="rect">
            <a:avLst/>
          </a:prstGeom>
          <a:noFill/>
          <a:ln/>
        </p:spPr>
        <p:txBody>
          <a:bodyPr wrap="square" lIns="0" tIns="0" rIns="0" bIns="0" rtlCol="0" anchor="ctr"/>
          <a:lstStyle/>
          <a:p>
            <a:pPr indent="0" marL="0">
              <a:buNone/>
            </a:pPr>
            <a:r>
              <a:rPr lang="en-US" sz="1100" b="1" spc="200" kern="0" dirty="0">
                <a:solidFill>
                  <a:schemeClr val="accent3"/>
                </a:solidFill>
              </a:rPr>
              <a:t>WOW MOMENT</a:t>
            </a:r>
            <a:endParaRPr lang="en-US" sz="1100" dirty="0"/>
          </a:p>
        </p:txBody>
      </p:sp>
      <p:sp>
        <p:nvSpPr>
          <p:cNvPr id="9" name="Wow text"/>
          <p:cNvSpPr txBox="1"/>
          <p:nvPr/>
        </p:nvSpPr>
        <p:spPr>
          <a:xfrm>
            <a:off x="8503920" y="4754880"/>
            <a:ext cx="3108960" cy="1097280"/>
          </a:xfrm>
          <a:prstGeom prst="rect">
            <a:avLst/>
          </a:prstGeom>
          <a:noFill/>
          <a:ln/>
        </p:spPr>
        <p:txBody>
          <a:bodyPr wrap="square" lIns="0" tIns="0" rIns="0" bIns="0" rtlCol="0" anchor="t"/>
          <a:lstStyle/>
          <a:p>
            <a:pPr indent="0" marL="0">
              <a:buNone/>
            </a:pPr>
            <a:r>
              <a:rPr lang="en-US" sz="1400" b="1" dirty="0">
                <a:solidFill>
                  <a:schemeClr val="accent3"/>
                </a:solidFill>
              </a:rPr>
              <a:t>Fewer "where's my claim at?" calls, because brokers can see it.</a:t>
            </a:r>
            <a:endParaRPr lang="en-US" sz="14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Who sees what</a:t>
            </a:r>
            <a:endParaRPr lang="en-US" sz="2800" dirty="0"/>
          </a:p>
        </p:txBody>
      </p:sp>
      <p:sp>
        <p:nvSpPr>
          <p:cNvPr id="3" name="Screenshot frame"/>
          <p:cNvSpPr/>
          <p:nvPr/>
        </p:nvSpPr>
        <p:spPr>
          <a:xfrm>
            <a:off x="402336" y="1133856"/>
            <a:ext cx="7607808" cy="47960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Who sees what screenshot">    </p:cNvPr>
          <p:cNvPicPr>
            <a:picLocks noChangeAspect="1"/>
          </p:cNvPicPr>
          <p:nvPr/>
        </p:nvPicPr>
        <p:blipFill>
          <a:blip r:embed="rId1"/>
          <a:stretch>
            <a:fillRect/>
          </a:stretch>
        </p:blipFill>
        <p:spPr>
          <a:xfrm>
            <a:off x="457200" y="1188720"/>
            <a:ext cx="7498080" cy="4686300"/>
          </a:xfrm>
          <a:prstGeom prst="rect">
            <a:avLst/>
          </a:prstGeom>
        </p:spPr>
      </p:pic>
      <p:sp>
        <p:nvSpPr>
          <p:cNvPr id="5" name="See label"/>
          <p:cNvSpPr txBox="1"/>
          <p:nvPr/>
        </p:nvSpPr>
        <p:spPr>
          <a:xfrm>
            <a:off x="8321040" y="1188720"/>
            <a:ext cx="34747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WHAT YOU'LL SEE</a:t>
            </a:r>
            <a:endParaRPr lang="en-US" sz="1100" dirty="0"/>
          </a:p>
        </p:txBody>
      </p:sp>
      <p:sp>
        <p:nvSpPr>
          <p:cNvPr id="6" name="See points"/>
          <p:cNvSpPr txBox="1"/>
          <p:nvPr/>
        </p:nvSpPr>
        <p:spPr>
          <a:xfrm>
            <a:off x="8321040" y="150876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Individual broker, broker company, network, coverholder</a:t>
            </a:r>
            <a:endParaRPr lang="en-US" sz="1400" dirty="0"/>
          </a:p>
          <a:p>
            <a:pPr marL="342900" indent="-342900">
              <a:spcAft>
                <a:spcPts val="800"/>
              </a:spcAft>
              <a:buSzPct val="100000"/>
              <a:buChar char="•"/>
            </a:pPr>
            <a:r>
              <a:rPr lang="en-US" sz="1400" dirty="0">
                <a:solidFill>
                  <a:schemeClr val="tx1"/>
                </a:solidFill>
              </a:rPr>
              <a:t>Beazley sees only property, across every broker</a:t>
            </a:r>
            <a:endParaRPr lang="en-US" sz="1400" dirty="0"/>
          </a:p>
          <a:p>
            <a:pPr marL="342900" indent="-342900">
              <a:spcAft>
                <a:spcPts val="800"/>
              </a:spcAft>
              <a:buSzPct val="100000"/>
              <a:buChar char="•"/>
            </a:pPr>
            <a:r>
              <a:rPr lang="en-US" sz="1400" dirty="0">
                <a:solidFill>
                  <a:schemeClr val="tx1"/>
                </a:solidFill>
              </a:rPr>
              <a:t>Otta sets the level quietly from admin</a:t>
            </a:r>
            <a:endParaRPr lang="en-US" sz="1400" dirty="0"/>
          </a:p>
        </p:txBody>
      </p:sp>
      <p:sp>
        <p:nvSpPr>
          <p:cNvPr id="7" name="Wow box"/>
          <p:cNvSpPr/>
          <p:nvPr/>
        </p:nvSpPr>
        <p:spPr>
          <a:xfrm>
            <a:off x="8321040" y="4343400"/>
            <a:ext cx="3474720" cy="1600200"/>
          </a:xfrm>
          <a:prstGeom prst="roundRect">
            <a:avLst>
              <a:gd name="adj" fmla="val 4571"/>
            </a:avLst>
          </a:prstGeom>
          <a:solidFill>
            <a:schemeClr val="accent6"/>
          </a:solidFill>
          <a:ln w="12700">
            <a:solidFill>
              <a:srgbClr val="DDE7E5"/>
            </a:solidFill>
            <a:prstDash val="solid"/>
          </a:ln>
        </p:spPr>
      </p:sp>
      <p:sp>
        <p:nvSpPr>
          <p:cNvPr id="8" name="Wow label"/>
          <p:cNvSpPr txBox="1"/>
          <p:nvPr/>
        </p:nvSpPr>
        <p:spPr>
          <a:xfrm>
            <a:off x="8503920" y="4480560"/>
            <a:ext cx="3108960" cy="274320"/>
          </a:xfrm>
          <a:prstGeom prst="rect">
            <a:avLst/>
          </a:prstGeom>
          <a:noFill/>
          <a:ln/>
        </p:spPr>
        <p:txBody>
          <a:bodyPr wrap="square" lIns="0" tIns="0" rIns="0" bIns="0" rtlCol="0" anchor="ctr"/>
          <a:lstStyle/>
          <a:p>
            <a:pPr indent="0" marL="0">
              <a:buNone/>
            </a:pPr>
            <a:r>
              <a:rPr lang="en-US" sz="1100" b="1" spc="200" kern="0" dirty="0">
                <a:solidFill>
                  <a:schemeClr val="accent3"/>
                </a:solidFill>
              </a:rPr>
              <a:t>WOW MOMENT</a:t>
            </a:r>
            <a:endParaRPr lang="en-US" sz="1100" dirty="0"/>
          </a:p>
        </p:txBody>
      </p:sp>
      <p:sp>
        <p:nvSpPr>
          <p:cNvPr id="9" name="Wow text"/>
          <p:cNvSpPr txBox="1"/>
          <p:nvPr/>
        </p:nvSpPr>
        <p:spPr>
          <a:xfrm>
            <a:off x="8503920" y="4754880"/>
            <a:ext cx="3108960" cy="1097280"/>
          </a:xfrm>
          <a:prstGeom prst="rect">
            <a:avLst/>
          </a:prstGeom>
          <a:noFill/>
          <a:ln/>
        </p:spPr>
        <p:txBody>
          <a:bodyPr wrap="square" lIns="0" tIns="0" rIns="0" bIns="0" rtlCol="0" anchor="t"/>
          <a:lstStyle/>
          <a:p>
            <a:pPr indent="0" marL="0">
              <a:buNone/>
            </a:pPr>
            <a:r>
              <a:rPr lang="en-US" sz="1400" b="1" dirty="0">
                <a:solidFill>
                  <a:schemeClr val="accent3"/>
                </a:solidFill>
              </a:rPr>
              <a:t>Beazley and Canopius see their own book in real time, with no reports to build.</a:t>
            </a:r>
            <a:endParaRPr lang="en-US" sz="14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Reporting</a:t>
            </a:r>
            <a:endParaRPr lang="en-US" sz="2800" dirty="0"/>
          </a:p>
        </p:txBody>
      </p:sp>
      <p:sp>
        <p:nvSpPr>
          <p:cNvPr id="3" name="Screenshot frame"/>
          <p:cNvSpPr/>
          <p:nvPr/>
        </p:nvSpPr>
        <p:spPr>
          <a:xfrm>
            <a:off x="402336" y="1133856"/>
            <a:ext cx="7607808" cy="47960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Reporting screenshot">    </p:cNvPr>
          <p:cNvPicPr>
            <a:picLocks noChangeAspect="1"/>
          </p:cNvPicPr>
          <p:nvPr/>
        </p:nvPicPr>
        <p:blipFill>
          <a:blip r:embed="rId1"/>
          <a:stretch>
            <a:fillRect/>
          </a:stretch>
        </p:blipFill>
        <p:spPr>
          <a:xfrm>
            <a:off x="457200" y="1188720"/>
            <a:ext cx="7498080" cy="4686300"/>
          </a:xfrm>
          <a:prstGeom prst="rect">
            <a:avLst/>
          </a:prstGeom>
        </p:spPr>
      </p:pic>
      <p:sp>
        <p:nvSpPr>
          <p:cNvPr id="5" name="See label"/>
          <p:cNvSpPr txBox="1"/>
          <p:nvPr/>
        </p:nvSpPr>
        <p:spPr>
          <a:xfrm>
            <a:off x="8321040" y="1188720"/>
            <a:ext cx="34747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WHAT YOU'LL SEE</a:t>
            </a:r>
            <a:endParaRPr lang="en-US" sz="1100" dirty="0"/>
          </a:p>
        </p:txBody>
      </p:sp>
      <p:sp>
        <p:nvSpPr>
          <p:cNvPr id="6" name="See points"/>
          <p:cNvSpPr txBox="1"/>
          <p:nvPr/>
        </p:nvSpPr>
        <p:spPr>
          <a:xfrm>
            <a:off x="8321040" y="1508760"/>
            <a:ext cx="34747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Premium in force by product and brokerage</a:t>
            </a:r>
            <a:endParaRPr lang="en-US" sz="1400" dirty="0"/>
          </a:p>
          <a:p>
            <a:pPr marL="342900" indent="-342900">
              <a:spcAft>
                <a:spcPts val="800"/>
              </a:spcAft>
              <a:buSzPct val="100000"/>
              <a:buChar char="•"/>
            </a:pPr>
            <a:r>
              <a:rPr lang="en-US" sz="1400" dirty="0">
                <a:solidFill>
                  <a:schemeClr val="tx1"/>
                </a:solidFill>
              </a:rPr>
              <a:t>Quoted to bound conversion by month and product</a:t>
            </a:r>
            <a:endParaRPr lang="en-US" sz="1400" dirty="0"/>
          </a:p>
          <a:p>
            <a:pPr marL="342900" indent="-342900">
              <a:spcAft>
                <a:spcPts val="800"/>
              </a:spcAft>
              <a:buSzPct val="100000"/>
              <a:buChar char="•"/>
            </a:pPr>
            <a:r>
              <a:rPr lang="en-US" sz="1400" dirty="0">
                <a:solidFill>
                  <a:schemeClr val="tx1"/>
                </a:solidFill>
              </a:rPr>
              <a:t>Renewal retention and renewals coming up</a:t>
            </a:r>
            <a:endParaRPr lang="en-US" sz="1400" dirty="0"/>
          </a:p>
        </p:txBody>
      </p:sp>
      <p:sp>
        <p:nvSpPr>
          <p:cNvPr id="7" name="Wow box"/>
          <p:cNvSpPr/>
          <p:nvPr/>
        </p:nvSpPr>
        <p:spPr>
          <a:xfrm>
            <a:off x="8321040" y="4343400"/>
            <a:ext cx="3474720" cy="1600200"/>
          </a:xfrm>
          <a:prstGeom prst="roundRect">
            <a:avLst>
              <a:gd name="adj" fmla="val 4571"/>
            </a:avLst>
          </a:prstGeom>
          <a:solidFill>
            <a:schemeClr val="accent6"/>
          </a:solidFill>
          <a:ln w="12700">
            <a:solidFill>
              <a:srgbClr val="DDE7E5"/>
            </a:solidFill>
            <a:prstDash val="solid"/>
          </a:ln>
        </p:spPr>
      </p:sp>
      <p:sp>
        <p:nvSpPr>
          <p:cNvPr id="8" name="Wow label"/>
          <p:cNvSpPr txBox="1"/>
          <p:nvPr/>
        </p:nvSpPr>
        <p:spPr>
          <a:xfrm>
            <a:off x="8503920" y="4480560"/>
            <a:ext cx="3108960" cy="274320"/>
          </a:xfrm>
          <a:prstGeom prst="rect">
            <a:avLst/>
          </a:prstGeom>
          <a:noFill/>
          <a:ln/>
        </p:spPr>
        <p:txBody>
          <a:bodyPr wrap="square" lIns="0" tIns="0" rIns="0" bIns="0" rtlCol="0" anchor="ctr"/>
          <a:lstStyle/>
          <a:p>
            <a:pPr indent="0" marL="0">
              <a:buNone/>
            </a:pPr>
            <a:r>
              <a:rPr lang="en-US" sz="1100" b="1" spc="200" kern="0" dirty="0">
                <a:solidFill>
                  <a:schemeClr val="accent3"/>
                </a:solidFill>
              </a:rPr>
              <a:t>WOW MOMENT</a:t>
            </a:r>
            <a:endParaRPr lang="en-US" sz="1100" dirty="0"/>
          </a:p>
        </p:txBody>
      </p:sp>
      <p:sp>
        <p:nvSpPr>
          <p:cNvPr id="9" name="Wow text"/>
          <p:cNvSpPr txBox="1"/>
          <p:nvPr/>
        </p:nvSpPr>
        <p:spPr>
          <a:xfrm>
            <a:off x="8503920" y="4754880"/>
            <a:ext cx="3108960" cy="1097280"/>
          </a:xfrm>
          <a:prstGeom prst="rect">
            <a:avLst/>
          </a:prstGeom>
          <a:noFill/>
          <a:ln/>
        </p:spPr>
        <p:txBody>
          <a:bodyPr wrap="square" lIns="0" tIns="0" rIns="0" bIns="0" rtlCol="0" anchor="t"/>
          <a:lstStyle/>
          <a:p>
            <a:pPr indent="0" marL="0">
              <a:buNone/>
            </a:pPr>
            <a:r>
              <a:rPr lang="en-US" sz="1400" b="1" dirty="0">
                <a:solidFill>
                  <a:schemeClr val="accent3"/>
                </a:solidFill>
              </a:rPr>
              <a:t>The board pack builds itself.</a:t>
            </a:r>
            <a:endParaRPr lang="en-US" sz="14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02</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New this week</a:t>
            </a:r>
            <a:endParaRPr lang="en-US" sz="4000" dirty="0"/>
          </a:p>
        </p:txBody>
      </p:sp>
      <p:sp>
        <p:nvSpPr>
          <p:cNvPr id="4" name="Text 0"/>
          <p:cNvSpPr/>
          <p:nvPr>
            <p:ph idx="102" type="body" hasCustomPrompt="1"/>
          </p:nvPr>
        </p:nvSpPr>
        <p:spPr>
          <a:xfrm>
            <a:off x="731520" y="3794760"/>
            <a:ext cx="9144000" cy="1097280"/>
          </a:xfrm>
          <a:prstGeom prst="rect">
            <a:avLst/>
          </a:prstGeom>
          <a:noFill/>
          <a:ln/>
        </p:spPr>
        <p:txBody>
          <a:bodyPr wrap="square" lIns="0" tIns="0" rIns="0" bIns="0" rtlCol="0" anchor="t"/>
          <a:lstStyle/>
          <a:p>
            <a:pPr algn="l" indent="0" marL="0">
              <a:buNone/>
            </a:pPr>
            <a:r>
              <a:rPr lang="en-US" sz="2000" dirty="0">
                <a:solidFill>
                  <a:schemeClr val="bg1"/>
                </a:solidFill>
              </a:rPr>
              <a:t>Three ideas from the board, already built: e-signatures, document uploads, and website analytics and SEO.</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E-signatures on every online form</a:t>
            </a:r>
            <a:endParaRPr lang="en-US" sz="2800" dirty="0"/>
          </a:p>
        </p:txBody>
      </p:sp>
      <p:pic>
        <p:nvPicPr>
          <p:cNvPr id="3" name="Signature box screenshot" descr="Signature box on an online form">    </p:cNvPr>
          <p:cNvPicPr>
            <a:picLocks noChangeAspect="1"/>
          </p:cNvPicPr>
          <p:nvPr/>
        </p:nvPicPr>
        <p:blipFill>
          <a:blip r:embed="rId1"/>
          <a:stretch>
            <a:fillRect/>
          </a:stretch>
        </p:blipFill>
        <p:spPr>
          <a:xfrm>
            <a:off x="457200" y="1188720"/>
            <a:ext cx="4572000" cy="4191000"/>
          </a:xfrm>
          <a:prstGeom prst="rect">
            <a:avLst/>
          </a:prstGeom>
        </p:spPr>
      </p:pic>
      <p:sp>
        <p:nvSpPr>
          <p:cNvPr id="4" name="E-signature points"/>
          <p:cNvSpPr/>
          <p:nvPr/>
        </p:nvSpPr>
        <p:spPr>
          <a:xfrm>
            <a:off x="5303520" y="1188720"/>
            <a:ext cx="6400800" cy="2788920"/>
          </a:xfrm>
          <a:prstGeom prst="roundRect">
            <a:avLst>
              <a:gd name="adj" fmla="val 2623"/>
            </a:avLst>
          </a:prstGeom>
          <a:solidFill>
            <a:schemeClr val="bg1"/>
          </a:solidFill>
          <a:ln w="12700">
            <a:solidFill>
              <a:srgbClr val="DDE7E5"/>
            </a:solidFill>
            <a:prstDash val="solid"/>
          </a:ln>
        </p:spPr>
      </p:sp>
      <p:sp>
        <p:nvSpPr>
          <p:cNvPr id="5" name="E-signature bullets"/>
          <p:cNvSpPr txBox="1"/>
          <p:nvPr/>
        </p:nvSpPr>
        <p:spPr>
          <a:xfrm>
            <a:off x="5532120" y="1371600"/>
            <a:ext cx="5943600" cy="2514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Sign with a finger, pen or mouse, or type a name in a handwriting style</a:t>
            </a:r>
            <a:endParaRPr lang="en-US" sz="1500" dirty="0"/>
          </a:p>
          <a:p>
            <a:pPr marL="342900" indent="-342900">
              <a:spcAft>
                <a:spcPts val="800"/>
              </a:spcAft>
              <a:buSzPct val="100000"/>
              <a:buChar char="•"/>
            </a:pPr>
            <a:r>
              <a:rPr lang="en-US" sz="1500" dirty="0">
                <a:solidFill>
                  <a:schemeClr val="tx1"/>
                </a:solidFill>
              </a:rPr>
              <a:t>Works for brokers in the portal and for clients completing a broker's link</a:t>
            </a:r>
            <a:endParaRPr lang="en-US" sz="1500" dirty="0"/>
          </a:p>
          <a:p>
            <a:pPr marL="342900" indent="-342900">
              <a:spcAft>
                <a:spcPts val="800"/>
              </a:spcAft>
              <a:buSzPct val="100000"/>
              <a:buChar char="•"/>
            </a:pPr>
            <a:r>
              <a:rPr lang="en-US" sz="1500" dirty="0">
                <a:solidFill>
                  <a:schemeClr val="tx1"/>
                </a:solidFill>
              </a:rPr>
              <a:t>Stamped with the time the form was submitted</a:t>
            </a:r>
            <a:endParaRPr lang="en-US" sz="1500" dirty="0"/>
          </a:p>
          <a:p>
            <a:pPr marL="342900" indent="-342900">
              <a:spcAft>
                <a:spcPts val="800"/>
              </a:spcAft>
              <a:buSzPct val="100000"/>
              <a:buChar char="•"/>
            </a:pPr>
            <a:r>
              <a:rPr lang="en-US" sz="1500" dirty="0">
                <a:solidFill>
                  <a:schemeClr val="tx1"/>
                </a:solidFill>
              </a:rPr>
              <a:t>Shown in the admin and broker portals, and in the PDF</a:t>
            </a:r>
            <a:endParaRPr lang="en-US" sz="1500" dirty="0"/>
          </a:p>
        </p:txBody>
      </p:sp>
      <p:sp>
        <p:nvSpPr>
          <p:cNvPr id="6" name="PDF label"/>
          <p:cNvSpPr txBox="1"/>
          <p:nvPr/>
        </p:nvSpPr>
        <p:spPr>
          <a:xfrm>
            <a:off x="5303520" y="4160520"/>
            <a:ext cx="36576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IN THE PDF</a:t>
            </a:r>
            <a:endParaRPr lang="en-US" sz="1100" dirty="0"/>
          </a:p>
        </p:txBody>
      </p:sp>
      <p:pic>
        <p:nvPicPr>
          <p:cNvPr id="7" name="PDF signature" descr="Signed declaration in the application PDF">    </p:cNvPr>
          <p:cNvPicPr>
            <a:picLocks noChangeAspect="1"/>
          </p:cNvPicPr>
          <p:nvPr/>
        </p:nvPicPr>
        <p:blipFill>
          <a:blip r:embed="rId2"/>
          <a:stretch>
            <a:fillRect/>
          </a:stretch>
        </p:blipFill>
        <p:spPr>
          <a:xfrm>
            <a:off x="5303520" y="4480560"/>
            <a:ext cx="6400800" cy="1537017"/>
          </a:xfrm>
          <a:prstGeom prst="rect">
            <a:avLst/>
          </a:prstGeom>
        </p:spPr>
      </p:pic>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Supporting documents with the application</a:t>
            </a:r>
            <a:endParaRPr lang="en-US" sz="2800" dirty="0"/>
          </a:p>
        </p:txBody>
      </p:sp>
      <p:pic>
        <p:nvPicPr>
          <p:cNvPr id="3" name="Uploads screenshot" descr="Supporting documents box on an online form">    </p:cNvPr>
          <p:cNvPicPr>
            <a:picLocks noChangeAspect="1"/>
          </p:cNvPicPr>
          <p:nvPr/>
        </p:nvPicPr>
        <p:blipFill>
          <a:blip r:embed="rId1"/>
          <a:stretch>
            <a:fillRect/>
          </a:stretch>
        </p:blipFill>
        <p:spPr>
          <a:xfrm>
            <a:off x="457200" y="1188720"/>
            <a:ext cx="4572000" cy="4191000"/>
          </a:xfrm>
          <a:prstGeom prst="rect">
            <a:avLst/>
          </a:prstGeom>
        </p:spPr>
      </p:pic>
      <p:sp>
        <p:nvSpPr>
          <p:cNvPr id="4" name="Upload points"/>
          <p:cNvSpPr/>
          <p:nvPr/>
        </p:nvSpPr>
        <p:spPr>
          <a:xfrm>
            <a:off x="5303520" y="1188720"/>
            <a:ext cx="6400800" cy="4526280"/>
          </a:xfrm>
          <a:prstGeom prst="roundRect">
            <a:avLst>
              <a:gd name="adj" fmla="val 1616"/>
            </a:avLst>
          </a:prstGeom>
          <a:solidFill>
            <a:schemeClr val="bg1"/>
          </a:solidFill>
          <a:ln w="12700">
            <a:solidFill>
              <a:srgbClr val="DDE7E5"/>
            </a:solidFill>
            <a:prstDash val="solid"/>
          </a:ln>
        </p:spPr>
      </p:sp>
      <p:sp>
        <p:nvSpPr>
          <p:cNvPr id="5" name="Upload bullets"/>
          <p:cNvSpPr txBox="1"/>
          <p:nvPr/>
        </p:nvSpPr>
        <p:spPr>
          <a:xfrm>
            <a:off x="5532120" y="1371600"/>
            <a:ext cx="5943600" cy="4206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Valuations, photos, inspection reports, receipts: drag them in or tap to add</a:t>
            </a:r>
            <a:endParaRPr lang="en-US" sz="1500" dirty="0"/>
          </a:p>
          <a:p>
            <a:pPr marL="342900" indent="-342900">
              <a:spcAft>
                <a:spcPts val="800"/>
              </a:spcAft>
              <a:buSzPct val="100000"/>
              <a:buChar char="•"/>
            </a:pPr>
            <a:r>
              <a:rPr lang="en-US" sz="1500" dirty="0">
                <a:solidFill>
                  <a:schemeClr val="tx1"/>
                </a:solidFill>
              </a:rPr>
              <a:t>PDF, Word, Excel or photos, up to 10 documents</a:t>
            </a:r>
            <a:endParaRPr lang="en-US" sz="1500" dirty="0"/>
          </a:p>
          <a:p>
            <a:pPr marL="342900" indent="-342900">
              <a:spcAft>
                <a:spcPts val="800"/>
              </a:spcAft>
              <a:buSzPct val="100000"/>
              <a:buChar char="•"/>
            </a:pPr>
            <a:r>
              <a:rPr lang="en-US" sz="1500" dirty="0">
                <a:solidFill>
                  <a:schemeClr val="tx1"/>
                </a:solidFill>
              </a:rPr>
              <a:t>Photos are made smaller automatically, so more fit</a:t>
            </a:r>
            <a:endParaRPr lang="en-US" sz="1500" dirty="0"/>
          </a:p>
          <a:p>
            <a:pPr marL="342900" indent="-342900">
              <a:spcAft>
                <a:spcPts val="800"/>
              </a:spcAft>
              <a:buSzPct val="100000"/>
              <a:buChar char="•"/>
            </a:pPr>
            <a:r>
              <a:rPr lang="en-US" sz="1500" dirty="0">
                <a:solidFill>
                  <a:schemeClr val="tx1"/>
                </a:solidFill>
              </a:rPr>
              <a:t>Attached to the email to the Otta team, with the application PDF</a:t>
            </a:r>
            <a:endParaRPr lang="en-US" sz="1500" dirty="0"/>
          </a:p>
          <a:p>
            <a:pPr marL="342900" indent="-342900">
              <a:spcAft>
                <a:spcPts val="800"/>
              </a:spcAft>
              <a:buSzPct val="100000"/>
              <a:buChar char="•"/>
            </a:pPr>
            <a:r>
              <a:rPr lang="en-US" sz="1500" dirty="0">
                <a:solidFill>
                  <a:schemeClr val="tx1"/>
                </a:solidFill>
              </a:rPr>
              <a:t>Open from the application in the admin portal and the broker's portal</a:t>
            </a:r>
            <a:endParaRPr lang="en-US" sz="1500" dirty="0"/>
          </a:p>
          <a:p>
            <a:pPr marL="342900" indent="-342900">
              <a:spcAft>
                <a:spcPts val="800"/>
              </a:spcAft>
              <a:buSzPct val="100000"/>
              <a:buChar char="•"/>
            </a:pPr>
            <a:r>
              <a:rPr lang="en-US" sz="1500" dirty="0">
                <a:solidFill>
                  <a:schemeClr val="tx1"/>
                </a:solidFill>
              </a:rPr>
              <a:t>Claim forms ask for receipts and reports; proposals for valuations and photos</a:t>
            </a:r>
            <a:endParaRPr lang="en-US" sz="15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Website analytics and SEO</a:t>
            </a:r>
            <a:endParaRPr lang="en-US" sz="2800" dirty="0"/>
          </a:p>
        </p:txBody>
      </p:sp>
      <p:sp>
        <p:nvSpPr>
          <p:cNvPr id="3" name="Search result mock"/>
          <p:cNvSpPr/>
          <p:nvPr/>
        </p:nvSpPr>
        <p:spPr>
          <a:xfrm>
            <a:off x="457200" y="1188720"/>
            <a:ext cx="5669280" cy="2240280"/>
          </a:xfrm>
          <a:prstGeom prst="roundRect">
            <a:avLst>
              <a:gd name="adj" fmla="val 3265"/>
            </a:avLst>
          </a:prstGeom>
          <a:solidFill>
            <a:schemeClr val="bg1"/>
          </a:solidFill>
          <a:ln w="12700">
            <a:solidFill>
              <a:srgbClr val="DDE7E5"/>
            </a:solidFill>
            <a:prstDash val="solid"/>
          </a:ln>
        </p:spPr>
      </p:sp>
      <p:sp>
        <p:nvSpPr>
          <p:cNvPr id="4" name="Result URL"/>
          <p:cNvSpPr txBox="1"/>
          <p:nvPr/>
        </p:nvSpPr>
        <p:spPr>
          <a:xfrm>
            <a:off x="731520" y="1371600"/>
            <a:ext cx="5212080" cy="274320"/>
          </a:xfrm>
          <a:prstGeom prst="rect">
            <a:avLst/>
          </a:prstGeom>
          <a:noFill/>
          <a:ln/>
        </p:spPr>
        <p:txBody>
          <a:bodyPr wrap="square" lIns="0" tIns="0" rIns="0" bIns="0" rtlCol="0" anchor="ctr"/>
          <a:lstStyle/>
          <a:p>
            <a:pPr indent="0" marL="0">
              <a:buNone/>
            </a:pPr>
            <a:r>
              <a:rPr lang="en-US" sz="1100" dirty="0">
                <a:solidFill>
                  <a:srgbClr val="4D5156"/>
                </a:solidFill>
              </a:rPr>
              <a:t>www.ottainsurance.co.nz › solutions › rental-property-insurance</a:t>
            </a:r>
            <a:endParaRPr lang="en-US" sz="1100" dirty="0"/>
          </a:p>
        </p:txBody>
      </p:sp>
      <p:sp>
        <p:nvSpPr>
          <p:cNvPr id="5" name="Result title"/>
          <p:cNvSpPr txBox="1"/>
          <p:nvPr/>
        </p:nvSpPr>
        <p:spPr>
          <a:xfrm>
            <a:off x="731520" y="1664208"/>
            <a:ext cx="5212080" cy="548640"/>
          </a:xfrm>
          <a:prstGeom prst="rect">
            <a:avLst/>
          </a:prstGeom>
          <a:noFill/>
          <a:ln/>
        </p:spPr>
        <p:txBody>
          <a:bodyPr wrap="square" lIns="0" tIns="0" rIns="0" bIns="0" rtlCol="0" anchor="ctr"/>
          <a:lstStyle/>
          <a:p>
            <a:pPr indent="0" marL="0">
              <a:buNone/>
            </a:pPr>
            <a:r>
              <a:rPr lang="en-US" sz="1600" dirty="0">
                <a:solidFill>
                  <a:srgbClr val="1A0DAB"/>
                </a:solidFill>
              </a:rPr>
              <a:t>Rental Property Insurance NZ, including meth and tenant damage | Otta</a:t>
            </a:r>
            <a:endParaRPr lang="en-US" sz="1600" dirty="0"/>
          </a:p>
        </p:txBody>
      </p:sp>
      <p:sp>
        <p:nvSpPr>
          <p:cNvPr id="6" name="Result description"/>
          <p:cNvSpPr txBox="1"/>
          <p:nvPr/>
        </p:nvSpPr>
        <p:spPr>
          <a:xfrm>
            <a:off x="731520" y="2240280"/>
            <a:ext cx="5212080" cy="1005840"/>
          </a:xfrm>
          <a:prstGeom prst="rect">
            <a:avLst/>
          </a:prstGeom>
          <a:noFill/>
          <a:ln/>
        </p:spPr>
        <p:txBody>
          <a:bodyPr wrap="square" lIns="0" tIns="0" rIns="0" bIns="0" rtlCol="0" anchor="t"/>
          <a:lstStyle/>
          <a:p>
            <a:pPr indent="0" marL="0">
              <a:buNone/>
            </a:pPr>
            <a:r>
              <a:rPr lang="en-US" sz="1200" dirty="0">
                <a:solidFill>
                  <a:srgbClr val="4D5156"/>
                </a:solidFill>
              </a:rPr>
              <a:t>Rental property insurance for New Zealand landlords, with cover for intentional damage by tenants and methamphetamine contamination. Backed by Lloyd's of London, arranged through your broker.</a:t>
            </a:r>
            <a:endParaRPr lang="en-US" sz="1200" dirty="0"/>
          </a:p>
        </p:txBody>
      </p:sp>
      <p:sp>
        <p:nvSpPr>
          <p:cNvPr id="7" name="Mock caption"/>
          <p:cNvSpPr txBox="1"/>
          <p:nvPr/>
        </p:nvSpPr>
        <p:spPr>
          <a:xfrm>
            <a:off x="457200" y="3520440"/>
            <a:ext cx="5669280" cy="320040"/>
          </a:xfrm>
          <a:prstGeom prst="rect">
            <a:avLst/>
          </a:prstGeom>
          <a:noFill/>
          <a:ln/>
        </p:spPr>
        <p:txBody>
          <a:bodyPr wrap="square" lIns="0" tIns="0" rIns="0" bIns="0" rtlCol="0" anchor="ctr"/>
          <a:lstStyle/>
          <a:p>
            <a:pPr indent="0" marL="0">
              <a:buNone/>
            </a:pPr>
            <a:r>
              <a:rPr lang="en-US" sz="1200" i="1" dirty="0">
                <a:solidFill>
                  <a:srgbClr val="6B6E72"/>
                </a:solidFill>
              </a:rPr>
              <a:t>How Otta will look in Google for each product</a:t>
            </a:r>
            <a:endParaRPr lang="en-US" sz="1200" dirty="0"/>
          </a:p>
        </p:txBody>
      </p:sp>
      <p:sp>
        <p:nvSpPr>
          <p:cNvPr id="8" name="SEO and analytics points"/>
          <p:cNvSpPr/>
          <p:nvPr/>
        </p:nvSpPr>
        <p:spPr>
          <a:xfrm>
            <a:off x="6355080" y="1188720"/>
            <a:ext cx="5349240" cy="4526280"/>
          </a:xfrm>
          <a:prstGeom prst="roundRect">
            <a:avLst>
              <a:gd name="adj" fmla="val 1616"/>
            </a:avLst>
          </a:prstGeom>
          <a:solidFill>
            <a:schemeClr val="bg1"/>
          </a:solidFill>
          <a:ln w="12700">
            <a:solidFill>
              <a:srgbClr val="DDE7E5"/>
            </a:solidFill>
            <a:prstDash val="solid"/>
          </a:ln>
        </p:spPr>
      </p:sp>
      <p:sp>
        <p:nvSpPr>
          <p:cNvPr id="9" name="SEO label"/>
          <p:cNvSpPr txBox="1"/>
          <p:nvPr/>
        </p:nvSpPr>
        <p:spPr>
          <a:xfrm>
            <a:off x="6583680" y="1371600"/>
            <a:ext cx="493776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FOUND ON GOOGLE</a:t>
            </a:r>
            <a:endParaRPr lang="en-US" sz="1100" dirty="0"/>
          </a:p>
        </p:txBody>
      </p:sp>
      <p:sp>
        <p:nvSpPr>
          <p:cNvPr id="10" name="SEO bullets"/>
          <p:cNvSpPr txBox="1"/>
          <p:nvPr/>
        </p:nvSpPr>
        <p:spPr>
          <a:xfrm>
            <a:off x="6583680" y="1691640"/>
            <a:ext cx="4937760" cy="1463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Titles and descriptions written for niche searches</a:t>
            </a:r>
            <a:endParaRPr lang="en-US" sz="1400" dirty="0"/>
          </a:p>
          <a:p>
            <a:pPr marL="342900" indent="-342900">
              <a:spcAft>
                <a:spcPts val="800"/>
              </a:spcAft>
              <a:buSzPct val="100000"/>
              <a:buChar char="•"/>
            </a:pPr>
            <a:r>
              <a:rPr lang="en-US" sz="1400" dirty="0">
                <a:solidFill>
                  <a:schemeClr val="tx1"/>
                </a:solidFill>
              </a:rPr>
              <a:t>Sitemap, structured data and share images</a:t>
            </a:r>
            <a:endParaRPr lang="en-US" sz="1400" dirty="0"/>
          </a:p>
          <a:p>
            <a:pPr marL="342900" indent="-342900">
              <a:spcAft>
                <a:spcPts val="800"/>
              </a:spcAft>
              <a:buSzPct val="100000"/>
              <a:buChar char="•"/>
            </a:pPr>
            <a:r>
              <a:rPr lang="en-US" sz="1400" dirty="0">
                <a:solidFill>
                  <a:schemeClr val="tx1"/>
                </a:solidFill>
              </a:rPr>
              <a:t>Portals and client links never indexed</a:t>
            </a:r>
            <a:endParaRPr lang="en-US" sz="1400" dirty="0"/>
          </a:p>
        </p:txBody>
      </p:sp>
      <p:sp>
        <p:nvSpPr>
          <p:cNvPr id="11" name="Analytics label"/>
          <p:cNvSpPr txBox="1"/>
          <p:nvPr/>
        </p:nvSpPr>
        <p:spPr>
          <a:xfrm>
            <a:off x="6583680" y="3291840"/>
            <a:ext cx="493776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ANALYTICS</a:t>
            </a:r>
            <a:endParaRPr lang="en-US" sz="1100" dirty="0"/>
          </a:p>
        </p:txBody>
      </p:sp>
      <p:sp>
        <p:nvSpPr>
          <p:cNvPr id="12" name="Analytics bullets"/>
          <p:cNvSpPr txBox="1"/>
          <p:nvPr/>
        </p:nvSpPr>
        <p:spPr>
          <a:xfrm>
            <a:off x="6583680" y="3611880"/>
            <a:ext cx="4937760" cy="1463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Visitors, where they came from, which products they view</a:t>
            </a:r>
            <a:endParaRPr lang="en-US" sz="1400" dirty="0"/>
          </a:p>
          <a:p>
            <a:pPr marL="342900" indent="-342900">
              <a:spcAft>
                <a:spcPts val="800"/>
              </a:spcAft>
              <a:buSzPct val="100000"/>
              <a:buChar char="•"/>
            </a:pPr>
            <a:r>
              <a:rPr lang="en-US" sz="1400" dirty="0">
                <a:solidFill>
                  <a:schemeClr val="tx1"/>
                </a:solidFill>
              </a:rPr>
              <a:t>No cookies needed; Google Analytics optional</a:t>
            </a:r>
            <a:endParaRPr lang="en-US" sz="1400" dirty="0"/>
          </a:p>
          <a:p>
            <a:pPr marL="342900" indent="-342900">
              <a:spcAft>
                <a:spcPts val="800"/>
              </a:spcAft>
              <a:buSzPct val="100000"/>
              <a:buChar char="•"/>
            </a:pPr>
            <a:r>
              <a:rPr lang="en-US" sz="1400" dirty="0">
                <a:solidFill>
                  <a:schemeClr val="tx1"/>
                </a:solidFill>
              </a:rPr>
              <a:t>Switches on at launch with the Coming Soon page</a:t>
            </a:r>
            <a:endParaRPr lang="en-US" sz="14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03</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What could we add?</a:t>
            </a:r>
            <a:endParaRPr lang="en-US" sz="4000" dirty="0"/>
          </a:p>
        </p:txBody>
      </p:sp>
      <p:sp>
        <p:nvSpPr>
          <p:cNvPr id="4" name="Text 0"/>
          <p:cNvSpPr/>
          <p:nvPr>
            <p:ph idx="102" type="body" hasCustomPrompt="1"/>
          </p:nvPr>
        </p:nvSpPr>
        <p:spPr>
          <a:xfrm>
            <a:off x="731520" y="3794760"/>
            <a:ext cx="9144000" cy="1097280"/>
          </a:xfrm>
          <a:prstGeom prst="rect">
            <a:avLst/>
          </a:prstGeom>
          <a:noFill/>
          <a:ln/>
        </p:spPr>
        <p:txBody>
          <a:bodyPr wrap="square" lIns="0" tIns="0" rIns="0" bIns="0" rtlCol="0" anchor="t"/>
          <a:lstStyle/>
          <a:p>
            <a:pPr algn="l" indent="0" marL="0">
              <a:buNone/>
            </a:pPr>
            <a:r>
              <a:rPr lang="en-US" sz="2000" dirty="0">
                <a:solidFill>
                  <a:schemeClr val="bg1"/>
                </a:solidFill>
              </a:rPr>
              <a:t>Open the demo day page on your phone and vote for the three you'd want most.</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Ideas board</a:t>
            </a:r>
            <a:endParaRPr lang="en-US" sz="2800" dirty="0"/>
          </a:p>
        </p:txBody>
      </p:sp>
      <p:sp>
        <p:nvSpPr>
          <p:cNvPr id="3" name="Done"/>
          <p:cNvSpPr/>
          <p:nvPr/>
        </p:nvSpPr>
        <p:spPr>
          <a:xfrm>
            <a:off x="457200" y="1188720"/>
            <a:ext cx="3657600" cy="4754880"/>
          </a:xfrm>
          <a:prstGeom prst="roundRect">
            <a:avLst>
              <a:gd name="adj" fmla="val 2000"/>
            </a:avLst>
          </a:prstGeom>
          <a:solidFill>
            <a:schemeClr val="bg1"/>
          </a:solidFill>
          <a:ln w="12700">
            <a:solidFill>
              <a:srgbClr val="DDE7E5"/>
            </a:solidFill>
            <a:prstDash val="solid"/>
          </a:ln>
        </p:spPr>
      </p:sp>
      <p:sp>
        <p:nvSpPr>
          <p:cNvPr id="4" name="Done title"/>
          <p:cNvSpPr txBox="1"/>
          <p:nvPr/>
        </p:nvSpPr>
        <p:spPr>
          <a:xfrm>
            <a:off x="685800" y="1325880"/>
            <a:ext cx="3200400" cy="411480"/>
          </a:xfrm>
          <a:prstGeom prst="rect">
            <a:avLst/>
          </a:prstGeom>
          <a:noFill/>
          <a:ln/>
        </p:spPr>
        <p:txBody>
          <a:bodyPr wrap="square" lIns="0" tIns="0" rIns="0" bIns="0" rtlCol="0" anchor="ctr"/>
          <a:lstStyle/>
          <a:p>
            <a:pPr indent="0" marL="0">
              <a:buNone/>
            </a:pPr>
            <a:r>
              <a:rPr lang="en-US" sz="1600" b="1" dirty="0">
                <a:solidFill>
                  <a:schemeClr val="accent1"/>
                </a:solidFill>
              </a:rPr>
              <a:t>Done this week</a:t>
            </a:r>
            <a:endParaRPr lang="en-US" sz="1600" dirty="0"/>
          </a:p>
        </p:txBody>
      </p:sp>
      <p:sp>
        <p:nvSpPr>
          <p:cNvPr id="5" name="Done item 1"/>
          <p:cNvSpPr/>
          <p:nvPr/>
        </p:nvSpPr>
        <p:spPr>
          <a:xfrm>
            <a:off x="685800" y="1828800"/>
            <a:ext cx="3200400" cy="457200"/>
          </a:xfrm>
          <a:prstGeom prst="roundRect">
            <a:avLst>
              <a:gd name="adj" fmla="val 12000"/>
            </a:avLst>
          </a:prstGeom>
          <a:solidFill>
            <a:schemeClr val="accent5"/>
          </a:solidFill>
          <a:ln w="12700">
            <a:solidFill>
              <a:schemeClr val="accent5"/>
            </a:solidFill>
            <a:prstDash val="solid"/>
          </a:ln>
        </p:spPr>
      </p:sp>
      <p:sp>
        <p:nvSpPr>
          <p:cNvPr id="6" name="Done item 1 text"/>
          <p:cNvSpPr txBox="1"/>
          <p:nvPr/>
        </p:nvSpPr>
        <p:spPr>
          <a:xfrm>
            <a:off x="822960" y="1828800"/>
            <a:ext cx="3017520" cy="457200"/>
          </a:xfrm>
          <a:prstGeom prst="rect">
            <a:avLst/>
          </a:prstGeom>
          <a:noFill/>
          <a:ln/>
        </p:spPr>
        <p:txBody>
          <a:bodyPr wrap="square" lIns="0" tIns="0" rIns="0" bIns="0" rtlCol="0" anchor="ctr"/>
          <a:lstStyle/>
          <a:p>
            <a:pPr indent="0" marL="0">
              <a:buNone/>
            </a:pPr>
            <a:r>
              <a:rPr lang="en-US" sz="1300" dirty="0">
                <a:solidFill>
                  <a:schemeClr val="tx1"/>
                </a:solidFill>
              </a:rPr>
              <a:t>✓  E-signatures on proposals</a:t>
            </a:r>
            <a:endParaRPr lang="en-US" sz="1300" dirty="0"/>
          </a:p>
        </p:txBody>
      </p:sp>
      <p:sp>
        <p:nvSpPr>
          <p:cNvPr id="7" name="Done item 2"/>
          <p:cNvSpPr/>
          <p:nvPr/>
        </p:nvSpPr>
        <p:spPr>
          <a:xfrm>
            <a:off x="685800" y="2377440"/>
            <a:ext cx="3200400" cy="457200"/>
          </a:xfrm>
          <a:prstGeom prst="roundRect">
            <a:avLst>
              <a:gd name="adj" fmla="val 12000"/>
            </a:avLst>
          </a:prstGeom>
          <a:solidFill>
            <a:schemeClr val="accent5"/>
          </a:solidFill>
          <a:ln w="12700">
            <a:solidFill>
              <a:schemeClr val="accent5"/>
            </a:solidFill>
            <a:prstDash val="solid"/>
          </a:ln>
        </p:spPr>
      </p:sp>
      <p:sp>
        <p:nvSpPr>
          <p:cNvPr id="8" name="Done item 2 text"/>
          <p:cNvSpPr txBox="1"/>
          <p:nvPr/>
        </p:nvSpPr>
        <p:spPr>
          <a:xfrm>
            <a:off x="822960" y="2377440"/>
            <a:ext cx="3017520" cy="457200"/>
          </a:xfrm>
          <a:prstGeom prst="rect">
            <a:avLst/>
          </a:prstGeom>
          <a:noFill/>
          <a:ln/>
        </p:spPr>
        <p:txBody>
          <a:bodyPr wrap="square" lIns="0" tIns="0" rIns="0" bIns="0" rtlCol="0" anchor="ctr"/>
          <a:lstStyle/>
          <a:p>
            <a:pPr indent="0" marL="0">
              <a:buNone/>
            </a:pPr>
            <a:r>
              <a:rPr lang="en-US" sz="1300" dirty="0">
                <a:solidFill>
                  <a:schemeClr val="tx1"/>
                </a:solidFill>
              </a:rPr>
              <a:t>✓  Document uploads with applications</a:t>
            </a:r>
            <a:endParaRPr lang="en-US" sz="1300" dirty="0"/>
          </a:p>
        </p:txBody>
      </p:sp>
      <p:sp>
        <p:nvSpPr>
          <p:cNvPr id="9" name="Done item 3"/>
          <p:cNvSpPr/>
          <p:nvPr/>
        </p:nvSpPr>
        <p:spPr>
          <a:xfrm>
            <a:off x="685800" y="2926080"/>
            <a:ext cx="3200400" cy="457200"/>
          </a:xfrm>
          <a:prstGeom prst="roundRect">
            <a:avLst>
              <a:gd name="adj" fmla="val 12000"/>
            </a:avLst>
          </a:prstGeom>
          <a:solidFill>
            <a:schemeClr val="accent5"/>
          </a:solidFill>
          <a:ln w="12700">
            <a:solidFill>
              <a:schemeClr val="accent5"/>
            </a:solidFill>
            <a:prstDash val="solid"/>
          </a:ln>
        </p:spPr>
      </p:sp>
      <p:sp>
        <p:nvSpPr>
          <p:cNvPr id="10" name="Done item 3 text"/>
          <p:cNvSpPr txBox="1"/>
          <p:nvPr/>
        </p:nvSpPr>
        <p:spPr>
          <a:xfrm>
            <a:off x="822960" y="2926080"/>
            <a:ext cx="3017520" cy="457200"/>
          </a:xfrm>
          <a:prstGeom prst="rect">
            <a:avLst/>
          </a:prstGeom>
          <a:noFill/>
          <a:ln/>
        </p:spPr>
        <p:txBody>
          <a:bodyPr wrap="square" lIns="0" tIns="0" rIns="0" bIns="0" rtlCol="0" anchor="ctr"/>
          <a:lstStyle/>
          <a:p>
            <a:pPr indent="0" marL="0">
              <a:buNone/>
            </a:pPr>
            <a:r>
              <a:rPr lang="en-US" sz="1300" dirty="0">
                <a:solidFill>
                  <a:schemeClr val="tx1"/>
                </a:solidFill>
              </a:rPr>
              <a:t>✓  Website analytics and SEO</a:t>
            </a:r>
            <a:endParaRPr lang="en-US" sz="1300" dirty="0"/>
          </a:p>
        </p:txBody>
      </p:sp>
      <p:sp>
        <p:nvSpPr>
          <p:cNvPr id="11" name="Phase 2"/>
          <p:cNvSpPr/>
          <p:nvPr/>
        </p:nvSpPr>
        <p:spPr>
          <a:xfrm>
            <a:off x="4251960" y="1188720"/>
            <a:ext cx="3657600" cy="4754880"/>
          </a:xfrm>
          <a:prstGeom prst="roundRect">
            <a:avLst>
              <a:gd name="adj" fmla="val 2000"/>
            </a:avLst>
          </a:prstGeom>
          <a:solidFill>
            <a:schemeClr val="bg1"/>
          </a:solidFill>
          <a:ln w="12700">
            <a:solidFill>
              <a:srgbClr val="DDE7E5"/>
            </a:solidFill>
            <a:prstDash val="solid"/>
          </a:ln>
        </p:spPr>
      </p:sp>
      <p:sp>
        <p:nvSpPr>
          <p:cNvPr id="12" name="Phase 2 title"/>
          <p:cNvSpPr txBox="1"/>
          <p:nvPr/>
        </p:nvSpPr>
        <p:spPr>
          <a:xfrm>
            <a:off x="4480560" y="1325880"/>
            <a:ext cx="3200400" cy="411480"/>
          </a:xfrm>
          <a:prstGeom prst="rect">
            <a:avLst/>
          </a:prstGeom>
          <a:noFill/>
          <a:ln/>
        </p:spPr>
        <p:txBody>
          <a:bodyPr wrap="square" lIns="0" tIns="0" rIns="0" bIns="0" rtlCol="0" anchor="ctr"/>
          <a:lstStyle/>
          <a:p>
            <a:pPr indent="0" marL="0">
              <a:buNone/>
            </a:pPr>
            <a:r>
              <a:rPr lang="en-US" sz="1600" b="1" dirty="0">
                <a:solidFill>
                  <a:schemeClr val="tx2"/>
                </a:solidFill>
              </a:rPr>
              <a:t>Phase 2 candidates</a:t>
            </a:r>
            <a:endParaRPr lang="en-US" sz="1600" dirty="0"/>
          </a:p>
        </p:txBody>
      </p:sp>
      <p:sp>
        <p:nvSpPr>
          <p:cNvPr id="13" name="Phase 2 item 1"/>
          <p:cNvSpPr/>
          <p:nvPr/>
        </p:nvSpPr>
        <p:spPr>
          <a:xfrm>
            <a:off x="4480560" y="1828800"/>
            <a:ext cx="3200400" cy="457200"/>
          </a:xfrm>
          <a:prstGeom prst="roundRect">
            <a:avLst>
              <a:gd name="adj" fmla="val 12000"/>
            </a:avLst>
          </a:prstGeom>
          <a:solidFill>
            <a:schemeClr val="bg2"/>
          </a:solidFill>
          <a:ln w="12700">
            <a:solidFill>
              <a:schemeClr val="bg2"/>
            </a:solidFill>
            <a:prstDash val="solid"/>
          </a:ln>
        </p:spPr>
      </p:sp>
      <p:sp>
        <p:nvSpPr>
          <p:cNvPr id="14" name="Phase 2 item 1 text"/>
          <p:cNvSpPr txBox="1"/>
          <p:nvPr/>
        </p:nvSpPr>
        <p:spPr>
          <a:xfrm>
            <a:off x="4617720" y="1828800"/>
            <a:ext cx="3017520" cy="457200"/>
          </a:xfrm>
          <a:prstGeom prst="rect">
            <a:avLst/>
          </a:prstGeom>
          <a:noFill/>
          <a:ln/>
        </p:spPr>
        <p:txBody>
          <a:bodyPr wrap="square" lIns="0" tIns="0" rIns="0" bIns="0" rtlCol="0" anchor="ctr"/>
          <a:lstStyle/>
          <a:p>
            <a:pPr indent="0" marL="0">
              <a:buNone/>
            </a:pPr>
            <a:r>
              <a:rPr lang="en-US" sz="1300" dirty="0">
                <a:solidFill>
                  <a:schemeClr val="tx1"/>
                </a:solidFill>
              </a:rPr>
              <a:t>InsuredHQ live sync</a:t>
            </a:r>
            <a:endParaRPr lang="en-US" sz="1300" dirty="0"/>
          </a:p>
        </p:txBody>
      </p:sp>
      <p:sp>
        <p:nvSpPr>
          <p:cNvPr id="15" name="Phase 2 item 2"/>
          <p:cNvSpPr/>
          <p:nvPr/>
        </p:nvSpPr>
        <p:spPr>
          <a:xfrm>
            <a:off x="4480560" y="2377440"/>
            <a:ext cx="3200400" cy="457200"/>
          </a:xfrm>
          <a:prstGeom prst="roundRect">
            <a:avLst>
              <a:gd name="adj" fmla="val 12000"/>
            </a:avLst>
          </a:prstGeom>
          <a:solidFill>
            <a:schemeClr val="bg2"/>
          </a:solidFill>
          <a:ln w="12700">
            <a:solidFill>
              <a:schemeClr val="bg2"/>
            </a:solidFill>
            <a:prstDash val="solid"/>
          </a:ln>
        </p:spPr>
      </p:sp>
      <p:sp>
        <p:nvSpPr>
          <p:cNvPr id="16" name="Phase 2 item 2 text"/>
          <p:cNvSpPr txBox="1"/>
          <p:nvPr/>
        </p:nvSpPr>
        <p:spPr>
          <a:xfrm>
            <a:off x="4617720" y="2377440"/>
            <a:ext cx="3017520" cy="457200"/>
          </a:xfrm>
          <a:prstGeom prst="rect">
            <a:avLst/>
          </a:prstGeom>
          <a:noFill/>
          <a:ln/>
        </p:spPr>
        <p:txBody>
          <a:bodyPr wrap="square" lIns="0" tIns="0" rIns="0" bIns="0" rtlCol="0" anchor="ctr"/>
          <a:lstStyle/>
          <a:p>
            <a:pPr indent="0" marL="0">
              <a:buNone/>
            </a:pPr>
            <a:r>
              <a:rPr lang="en-US" sz="1300" dirty="0">
                <a:solidFill>
                  <a:schemeClr val="tx1"/>
                </a:solidFill>
              </a:rPr>
              <a:t>Lloyd's bordereaux export</a:t>
            </a:r>
            <a:endParaRPr lang="en-US" sz="1300" dirty="0"/>
          </a:p>
        </p:txBody>
      </p:sp>
      <p:sp>
        <p:nvSpPr>
          <p:cNvPr id="17" name="Phase 2 item 3"/>
          <p:cNvSpPr/>
          <p:nvPr/>
        </p:nvSpPr>
        <p:spPr>
          <a:xfrm>
            <a:off x="4480560" y="2926080"/>
            <a:ext cx="3200400" cy="457200"/>
          </a:xfrm>
          <a:prstGeom prst="roundRect">
            <a:avLst>
              <a:gd name="adj" fmla="val 12000"/>
            </a:avLst>
          </a:prstGeom>
          <a:solidFill>
            <a:schemeClr val="bg2"/>
          </a:solidFill>
          <a:ln w="12700">
            <a:solidFill>
              <a:schemeClr val="bg2"/>
            </a:solidFill>
            <a:prstDash val="solid"/>
          </a:ln>
        </p:spPr>
      </p:sp>
      <p:sp>
        <p:nvSpPr>
          <p:cNvPr id="18" name="Phase 2 item 3 text"/>
          <p:cNvSpPr txBox="1"/>
          <p:nvPr/>
        </p:nvSpPr>
        <p:spPr>
          <a:xfrm>
            <a:off x="4617720" y="2926080"/>
            <a:ext cx="3017520" cy="457200"/>
          </a:xfrm>
          <a:prstGeom prst="rect">
            <a:avLst/>
          </a:prstGeom>
          <a:noFill/>
          <a:ln/>
        </p:spPr>
        <p:txBody>
          <a:bodyPr wrap="square" lIns="0" tIns="0" rIns="0" bIns="0" rtlCol="0" anchor="ctr"/>
          <a:lstStyle/>
          <a:p>
            <a:pPr indent="0" marL="0">
              <a:buNone/>
            </a:pPr>
            <a:r>
              <a:rPr lang="en-US" sz="1300" dirty="0">
                <a:solidFill>
                  <a:schemeClr val="tx1"/>
                </a:solidFill>
              </a:rPr>
              <a:t>Automatic renewal invitations</a:t>
            </a:r>
            <a:endParaRPr lang="en-US" sz="1300" dirty="0"/>
          </a:p>
        </p:txBody>
      </p:sp>
      <p:sp>
        <p:nvSpPr>
          <p:cNvPr id="19" name="Phase 2 item 4"/>
          <p:cNvSpPr/>
          <p:nvPr/>
        </p:nvSpPr>
        <p:spPr>
          <a:xfrm>
            <a:off x="4480560" y="3474720"/>
            <a:ext cx="3200400" cy="457200"/>
          </a:xfrm>
          <a:prstGeom prst="roundRect">
            <a:avLst>
              <a:gd name="adj" fmla="val 12000"/>
            </a:avLst>
          </a:prstGeom>
          <a:solidFill>
            <a:schemeClr val="bg2"/>
          </a:solidFill>
          <a:ln w="12700">
            <a:solidFill>
              <a:schemeClr val="bg2"/>
            </a:solidFill>
            <a:prstDash val="solid"/>
          </a:ln>
        </p:spPr>
      </p:sp>
      <p:sp>
        <p:nvSpPr>
          <p:cNvPr id="20" name="Phase 2 item 4 text"/>
          <p:cNvSpPr txBox="1"/>
          <p:nvPr/>
        </p:nvSpPr>
        <p:spPr>
          <a:xfrm>
            <a:off x="4617720" y="3474720"/>
            <a:ext cx="3017520" cy="457200"/>
          </a:xfrm>
          <a:prstGeom prst="rect">
            <a:avLst/>
          </a:prstGeom>
          <a:noFill/>
          <a:ln/>
        </p:spPr>
        <p:txBody>
          <a:bodyPr wrap="square" lIns="0" tIns="0" rIns="0" bIns="0" rtlCol="0" anchor="ctr"/>
          <a:lstStyle/>
          <a:p>
            <a:pPr indent="0" marL="0">
              <a:buNone/>
            </a:pPr>
            <a:r>
              <a:rPr lang="en-US" sz="1300" dirty="0">
                <a:solidFill>
                  <a:schemeClr val="tx1"/>
                </a:solidFill>
              </a:rPr>
              <a:t>Online claims for every product</a:t>
            </a:r>
            <a:endParaRPr lang="en-US" sz="1300" dirty="0"/>
          </a:p>
        </p:txBody>
      </p:sp>
      <p:sp>
        <p:nvSpPr>
          <p:cNvPr id="21" name="Phase 2 item 5"/>
          <p:cNvSpPr/>
          <p:nvPr/>
        </p:nvSpPr>
        <p:spPr>
          <a:xfrm>
            <a:off x="4480560" y="4023360"/>
            <a:ext cx="3200400" cy="457200"/>
          </a:xfrm>
          <a:prstGeom prst="roundRect">
            <a:avLst>
              <a:gd name="adj" fmla="val 12000"/>
            </a:avLst>
          </a:prstGeom>
          <a:solidFill>
            <a:schemeClr val="bg2"/>
          </a:solidFill>
          <a:ln w="12700">
            <a:solidFill>
              <a:schemeClr val="bg2"/>
            </a:solidFill>
            <a:prstDash val="solid"/>
          </a:ln>
        </p:spPr>
      </p:sp>
      <p:sp>
        <p:nvSpPr>
          <p:cNvPr id="22" name="Phase 2 item 5 text"/>
          <p:cNvSpPr txBox="1"/>
          <p:nvPr/>
        </p:nvSpPr>
        <p:spPr>
          <a:xfrm>
            <a:off x="4617720" y="4023360"/>
            <a:ext cx="3017520" cy="457200"/>
          </a:xfrm>
          <a:prstGeom prst="rect">
            <a:avLst/>
          </a:prstGeom>
          <a:noFill/>
          <a:ln/>
        </p:spPr>
        <p:txBody>
          <a:bodyPr wrap="square" lIns="0" tIns="0" rIns="0" bIns="0" rtlCol="0" anchor="ctr"/>
          <a:lstStyle/>
          <a:p>
            <a:pPr indent="0" marL="0">
              <a:buNone/>
            </a:pPr>
            <a:r>
              <a:rPr lang="en-US" sz="1300" dirty="0">
                <a:solidFill>
                  <a:schemeClr val="tx1"/>
                </a:solidFill>
              </a:rPr>
              <a:t>Quote documents from admin</a:t>
            </a:r>
            <a:endParaRPr lang="en-US" sz="1300" dirty="0"/>
          </a:p>
        </p:txBody>
      </p:sp>
      <p:sp>
        <p:nvSpPr>
          <p:cNvPr id="23" name="Phase 2 item 6"/>
          <p:cNvSpPr/>
          <p:nvPr/>
        </p:nvSpPr>
        <p:spPr>
          <a:xfrm>
            <a:off x="4480560" y="4572000"/>
            <a:ext cx="3200400" cy="457200"/>
          </a:xfrm>
          <a:prstGeom prst="roundRect">
            <a:avLst>
              <a:gd name="adj" fmla="val 12000"/>
            </a:avLst>
          </a:prstGeom>
          <a:solidFill>
            <a:schemeClr val="bg2"/>
          </a:solidFill>
          <a:ln w="12700">
            <a:solidFill>
              <a:schemeClr val="bg2"/>
            </a:solidFill>
            <a:prstDash val="solid"/>
          </a:ln>
        </p:spPr>
      </p:sp>
      <p:sp>
        <p:nvSpPr>
          <p:cNvPr id="24" name="Phase 2 item 6 text"/>
          <p:cNvSpPr txBox="1"/>
          <p:nvPr/>
        </p:nvSpPr>
        <p:spPr>
          <a:xfrm>
            <a:off x="4617720" y="4572000"/>
            <a:ext cx="3017520" cy="457200"/>
          </a:xfrm>
          <a:prstGeom prst="rect">
            <a:avLst/>
          </a:prstGeom>
          <a:noFill/>
          <a:ln/>
        </p:spPr>
        <p:txBody>
          <a:bodyPr wrap="square" lIns="0" tIns="0" rIns="0" bIns="0" rtlCol="0" anchor="ctr"/>
          <a:lstStyle/>
          <a:p>
            <a:pPr indent="0" marL="0">
              <a:buNone/>
            </a:pPr>
            <a:r>
              <a:rPr lang="en-US" sz="1300" dirty="0">
                <a:solidFill>
                  <a:schemeClr val="tx1"/>
                </a:solidFill>
              </a:rPr>
              <a:t>Broker alerts by email or SMS</a:t>
            </a:r>
            <a:endParaRPr lang="en-US" sz="1300" dirty="0"/>
          </a:p>
        </p:txBody>
      </p:sp>
      <p:sp>
        <p:nvSpPr>
          <p:cNvPr id="25" name="Phase 2 item 7"/>
          <p:cNvSpPr/>
          <p:nvPr/>
        </p:nvSpPr>
        <p:spPr>
          <a:xfrm>
            <a:off x="4480560" y="5120640"/>
            <a:ext cx="3200400" cy="457200"/>
          </a:xfrm>
          <a:prstGeom prst="roundRect">
            <a:avLst>
              <a:gd name="adj" fmla="val 12000"/>
            </a:avLst>
          </a:prstGeom>
          <a:solidFill>
            <a:schemeClr val="bg2"/>
          </a:solidFill>
          <a:ln w="12700">
            <a:solidFill>
              <a:schemeClr val="bg2"/>
            </a:solidFill>
            <a:prstDash val="solid"/>
          </a:ln>
        </p:spPr>
      </p:sp>
      <p:sp>
        <p:nvSpPr>
          <p:cNvPr id="26" name="Phase 2 item 7 text"/>
          <p:cNvSpPr txBox="1"/>
          <p:nvPr/>
        </p:nvSpPr>
        <p:spPr>
          <a:xfrm>
            <a:off x="4617720" y="5120640"/>
            <a:ext cx="3017520" cy="457200"/>
          </a:xfrm>
          <a:prstGeom prst="rect">
            <a:avLst/>
          </a:prstGeom>
          <a:noFill/>
          <a:ln/>
        </p:spPr>
        <p:txBody>
          <a:bodyPr wrap="square" lIns="0" tIns="0" rIns="0" bIns="0" rtlCol="0" anchor="ctr"/>
          <a:lstStyle/>
          <a:p>
            <a:pPr indent="0" marL="0">
              <a:buNone/>
            </a:pPr>
            <a:r>
              <a:rPr lang="en-US" sz="1300" dirty="0">
                <a:solidFill>
                  <a:schemeClr val="tx1"/>
                </a:solidFill>
              </a:rPr>
              <a:t>Audit trail</a:t>
            </a:r>
            <a:endParaRPr lang="en-US" sz="1300" dirty="0"/>
          </a:p>
        </p:txBody>
      </p:sp>
      <p:sp>
        <p:nvSpPr>
          <p:cNvPr id="27" name="Phase 3"/>
          <p:cNvSpPr/>
          <p:nvPr/>
        </p:nvSpPr>
        <p:spPr>
          <a:xfrm>
            <a:off x="8046720" y="1188720"/>
            <a:ext cx="3657600" cy="4754880"/>
          </a:xfrm>
          <a:prstGeom prst="roundRect">
            <a:avLst>
              <a:gd name="adj" fmla="val 2000"/>
            </a:avLst>
          </a:prstGeom>
          <a:solidFill>
            <a:schemeClr val="bg1"/>
          </a:solidFill>
          <a:ln w="12700">
            <a:solidFill>
              <a:srgbClr val="DDE7E5"/>
            </a:solidFill>
            <a:prstDash val="solid"/>
          </a:ln>
        </p:spPr>
      </p:sp>
      <p:sp>
        <p:nvSpPr>
          <p:cNvPr id="28" name="Phase 3 title"/>
          <p:cNvSpPr txBox="1"/>
          <p:nvPr/>
        </p:nvSpPr>
        <p:spPr>
          <a:xfrm>
            <a:off x="8275320" y="1325880"/>
            <a:ext cx="3200400" cy="411480"/>
          </a:xfrm>
          <a:prstGeom prst="rect">
            <a:avLst/>
          </a:prstGeom>
          <a:noFill/>
          <a:ln/>
        </p:spPr>
        <p:txBody>
          <a:bodyPr wrap="square" lIns="0" tIns="0" rIns="0" bIns="0" rtlCol="0" anchor="ctr"/>
          <a:lstStyle/>
          <a:p>
            <a:pPr indent="0" marL="0">
              <a:buNone/>
            </a:pPr>
            <a:r>
              <a:rPr lang="en-US" sz="1600" b="1" dirty="0">
                <a:solidFill>
                  <a:schemeClr val="accent3"/>
                </a:solidFill>
              </a:rPr>
              <a:t>Phase 3 candidates</a:t>
            </a:r>
            <a:endParaRPr lang="en-US" sz="1600" dirty="0"/>
          </a:p>
        </p:txBody>
      </p:sp>
      <p:sp>
        <p:nvSpPr>
          <p:cNvPr id="29" name="Phase 3 item 1"/>
          <p:cNvSpPr/>
          <p:nvPr/>
        </p:nvSpPr>
        <p:spPr>
          <a:xfrm>
            <a:off x="8275320" y="1828800"/>
            <a:ext cx="3200400" cy="457200"/>
          </a:xfrm>
          <a:prstGeom prst="roundRect">
            <a:avLst>
              <a:gd name="adj" fmla="val 12000"/>
            </a:avLst>
          </a:prstGeom>
          <a:solidFill>
            <a:schemeClr val="accent6"/>
          </a:solidFill>
          <a:ln w="12700">
            <a:solidFill>
              <a:schemeClr val="accent6"/>
            </a:solidFill>
            <a:prstDash val="solid"/>
          </a:ln>
        </p:spPr>
      </p:sp>
      <p:sp>
        <p:nvSpPr>
          <p:cNvPr id="30" name="Phase 3 item 1 text"/>
          <p:cNvSpPr txBox="1"/>
          <p:nvPr/>
        </p:nvSpPr>
        <p:spPr>
          <a:xfrm>
            <a:off x="8412480" y="1828800"/>
            <a:ext cx="3017520" cy="457200"/>
          </a:xfrm>
          <a:prstGeom prst="rect">
            <a:avLst/>
          </a:prstGeom>
          <a:noFill/>
          <a:ln/>
        </p:spPr>
        <p:txBody>
          <a:bodyPr wrap="square" lIns="0" tIns="0" rIns="0" bIns="0" rtlCol="0" anchor="ctr"/>
          <a:lstStyle/>
          <a:p>
            <a:pPr indent="0" marL="0">
              <a:buNone/>
            </a:pPr>
            <a:r>
              <a:rPr lang="en-US" sz="1300" dirty="0">
                <a:solidFill>
                  <a:schemeClr val="tx1"/>
                </a:solidFill>
              </a:rPr>
              <a:t>Instant indicative quotes</a:t>
            </a:r>
            <a:endParaRPr lang="en-US" sz="1300" dirty="0"/>
          </a:p>
        </p:txBody>
      </p:sp>
      <p:sp>
        <p:nvSpPr>
          <p:cNvPr id="31" name="Phase 3 item 2"/>
          <p:cNvSpPr/>
          <p:nvPr/>
        </p:nvSpPr>
        <p:spPr>
          <a:xfrm>
            <a:off x="8275320" y="2377440"/>
            <a:ext cx="3200400" cy="457200"/>
          </a:xfrm>
          <a:prstGeom prst="roundRect">
            <a:avLst>
              <a:gd name="adj" fmla="val 12000"/>
            </a:avLst>
          </a:prstGeom>
          <a:solidFill>
            <a:schemeClr val="accent6"/>
          </a:solidFill>
          <a:ln w="12700">
            <a:solidFill>
              <a:schemeClr val="accent6"/>
            </a:solidFill>
            <a:prstDash val="solid"/>
          </a:ln>
        </p:spPr>
      </p:sp>
      <p:sp>
        <p:nvSpPr>
          <p:cNvPr id="32" name="Phase 3 item 2 text"/>
          <p:cNvSpPr txBox="1"/>
          <p:nvPr/>
        </p:nvSpPr>
        <p:spPr>
          <a:xfrm>
            <a:off x="8412480" y="2377440"/>
            <a:ext cx="3017520" cy="457200"/>
          </a:xfrm>
          <a:prstGeom prst="rect">
            <a:avLst/>
          </a:prstGeom>
          <a:noFill/>
          <a:ln/>
        </p:spPr>
        <p:txBody>
          <a:bodyPr wrap="square" lIns="0" tIns="0" rIns="0" bIns="0" rtlCol="0" anchor="ctr"/>
          <a:lstStyle/>
          <a:p>
            <a:pPr indent="0" marL="0">
              <a:buNone/>
            </a:pPr>
            <a:r>
              <a:rPr lang="en-US" sz="1300" dirty="0">
                <a:solidFill>
                  <a:schemeClr val="tx1"/>
                </a:solidFill>
              </a:rPr>
              <a:t>Commission statements in the portal</a:t>
            </a:r>
            <a:endParaRPr lang="en-US" sz="1300" dirty="0"/>
          </a:p>
        </p:txBody>
      </p:sp>
      <p:sp>
        <p:nvSpPr>
          <p:cNvPr id="33" name="Phase 3 item 3"/>
          <p:cNvSpPr/>
          <p:nvPr/>
        </p:nvSpPr>
        <p:spPr>
          <a:xfrm>
            <a:off x="8275320" y="2926080"/>
            <a:ext cx="3200400" cy="457200"/>
          </a:xfrm>
          <a:prstGeom prst="roundRect">
            <a:avLst>
              <a:gd name="adj" fmla="val 12000"/>
            </a:avLst>
          </a:prstGeom>
          <a:solidFill>
            <a:schemeClr val="accent6"/>
          </a:solidFill>
          <a:ln w="12700">
            <a:solidFill>
              <a:schemeClr val="accent6"/>
            </a:solidFill>
            <a:prstDash val="solid"/>
          </a:ln>
        </p:spPr>
      </p:sp>
      <p:sp>
        <p:nvSpPr>
          <p:cNvPr id="34" name="Phase 3 item 3 text"/>
          <p:cNvSpPr txBox="1"/>
          <p:nvPr/>
        </p:nvSpPr>
        <p:spPr>
          <a:xfrm>
            <a:off x="8412480" y="2926080"/>
            <a:ext cx="3017520" cy="457200"/>
          </a:xfrm>
          <a:prstGeom prst="rect">
            <a:avLst/>
          </a:prstGeom>
          <a:noFill/>
          <a:ln/>
        </p:spPr>
        <p:txBody>
          <a:bodyPr wrap="square" lIns="0" tIns="0" rIns="0" bIns="0" rtlCol="0" anchor="ctr"/>
          <a:lstStyle/>
          <a:p>
            <a:pPr indent="0" marL="0">
              <a:buNone/>
            </a:pPr>
            <a:r>
              <a:rPr lang="en-US" sz="1300" dirty="0">
                <a:solidFill>
                  <a:schemeClr val="tx1"/>
                </a:solidFill>
              </a:rPr>
              <a:t>Assistant learns from decisions</a:t>
            </a:r>
            <a:endParaRPr lang="en-US" sz="1300" dirty="0"/>
          </a:p>
        </p:txBody>
      </p:sp>
      <p:sp>
        <p:nvSpPr>
          <p:cNvPr id="35" name="Phase 3 item 4"/>
          <p:cNvSpPr/>
          <p:nvPr/>
        </p:nvSpPr>
        <p:spPr>
          <a:xfrm>
            <a:off x="8275320" y="3474720"/>
            <a:ext cx="3200400" cy="457200"/>
          </a:xfrm>
          <a:prstGeom prst="roundRect">
            <a:avLst>
              <a:gd name="adj" fmla="val 12000"/>
            </a:avLst>
          </a:prstGeom>
          <a:solidFill>
            <a:schemeClr val="accent6"/>
          </a:solidFill>
          <a:ln w="12700">
            <a:solidFill>
              <a:schemeClr val="accent6"/>
            </a:solidFill>
            <a:prstDash val="solid"/>
          </a:ln>
        </p:spPr>
      </p:sp>
      <p:sp>
        <p:nvSpPr>
          <p:cNvPr id="36" name="Phase 3 item 4 text"/>
          <p:cNvSpPr txBox="1"/>
          <p:nvPr/>
        </p:nvSpPr>
        <p:spPr>
          <a:xfrm>
            <a:off x="8412480" y="3474720"/>
            <a:ext cx="3017520" cy="457200"/>
          </a:xfrm>
          <a:prstGeom prst="rect">
            <a:avLst/>
          </a:prstGeom>
          <a:noFill/>
          <a:ln/>
        </p:spPr>
        <p:txBody>
          <a:bodyPr wrap="square" lIns="0" tIns="0" rIns="0" bIns="0" rtlCol="0" anchor="ctr"/>
          <a:lstStyle/>
          <a:p>
            <a:pPr indent="0" marL="0">
              <a:buNone/>
            </a:pPr>
            <a:r>
              <a:rPr lang="en-US" sz="1300" dirty="0">
                <a:solidFill>
                  <a:schemeClr val="tx1"/>
                </a:solidFill>
              </a:rPr>
              <a:t>Online premium payments</a:t>
            </a:r>
            <a:endParaRPr lang="en-US" sz="1300" dirty="0"/>
          </a:p>
        </p:txBody>
      </p:sp>
      <p:sp>
        <p:nvSpPr>
          <p:cNvPr id="37" name="Phase 3 item 5"/>
          <p:cNvSpPr/>
          <p:nvPr/>
        </p:nvSpPr>
        <p:spPr>
          <a:xfrm>
            <a:off x="8275320" y="4023360"/>
            <a:ext cx="3200400" cy="457200"/>
          </a:xfrm>
          <a:prstGeom prst="roundRect">
            <a:avLst>
              <a:gd name="adj" fmla="val 12000"/>
            </a:avLst>
          </a:prstGeom>
          <a:solidFill>
            <a:schemeClr val="accent6"/>
          </a:solidFill>
          <a:ln w="12700">
            <a:solidFill>
              <a:schemeClr val="accent6"/>
            </a:solidFill>
            <a:prstDash val="solid"/>
          </a:ln>
        </p:spPr>
      </p:sp>
      <p:sp>
        <p:nvSpPr>
          <p:cNvPr id="38" name="Phase 3 item 5 text"/>
          <p:cNvSpPr txBox="1"/>
          <p:nvPr/>
        </p:nvSpPr>
        <p:spPr>
          <a:xfrm>
            <a:off x="8412480" y="4023360"/>
            <a:ext cx="3017520" cy="457200"/>
          </a:xfrm>
          <a:prstGeom prst="rect">
            <a:avLst/>
          </a:prstGeom>
          <a:noFill/>
          <a:ln/>
        </p:spPr>
        <p:txBody>
          <a:bodyPr wrap="square" lIns="0" tIns="0" rIns="0" bIns="0" rtlCol="0" anchor="ctr"/>
          <a:lstStyle/>
          <a:p>
            <a:pPr indent="0" marL="0">
              <a:buNone/>
            </a:pPr>
            <a:r>
              <a:rPr lang="en-US" sz="1300" dirty="0">
                <a:solidFill>
                  <a:schemeClr val="tx1"/>
                </a:solidFill>
              </a:rPr>
              <a:t>Simple copy editor</a:t>
            </a:r>
            <a:endParaRPr lang="en-US" sz="1300" dirty="0"/>
          </a:p>
        </p:txBody>
      </p:sp>
      <p:sp>
        <p:nvSpPr>
          <p:cNvPr id="39" name="Phase 3 item 6"/>
          <p:cNvSpPr/>
          <p:nvPr/>
        </p:nvSpPr>
        <p:spPr>
          <a:xfrm>
            <a:off x="8275320" y="4572000"/>
            <a:ext cx="3200400" cy="457200"/>
          </a:xfrm>
          <a:prstGeom prst="roundRect">
            <a:avLst>
              <a:gd name="adj" fmla="val 12000"/>
            </a:avLst>
          </a:prstGeom>
          <a:solidFill>
            <a:schemeClr val="accent6"/>
          </a:solidFill>
          <a:ln w="12700">
            <a:solidFill>
              <a:schemeClr val="accent6"/>
            </a:solidFill>
            <a:prstDash val="solid"/>
          </a:ln>
        </p:spPr>
      </p:sp>
      <p:sp>
        <p:nvSpPr>
          <p:cNvPr id="40" name="Phase 3 item 6 text"/>
          <p:cNvSpPr txBox="1"/>
          <p:nvPr/>
        </p:nvSpPr>
        <p:spPr>
          <a:xfrm>
            <a:off x="8412480" y="4572000"/>
            <a:ext cx="3017520" cy="457200"/>
          </a:xfrm>
          <a:prstGeom prst="rect">
            <a:avLst/>
          </a:prstGeom>
          <a:noFill/>
          <a:ln/>
        </p:spPr>
        <p:txBody>
          <a:bodyPr wrap="square" lIns="0" tIns="0" rIns="0" bIns="0" rtlCol="0" anchor="ctr"/>
          <a:lstStyle/>
          <a:p>
            <a:pPr indent="0" marL="0">
              <a:buNone/>
            </a:pPr>
            <a:r>
              <a:rPr lang="en-US" sz="1300" dirty="0">
                <a:solidFill>
                  <a:schemeClr val="tx1"/>
                </a:solidFill>
              </a:rPr>
              <a:t>Case studies and news</a:t>
            </a:r>
            <a:endParaRPr lang="en-US" sz="13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04</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Copy still needed</a:t>
            </a:r>
            <a:endParaRPr lang="en-US" sz="4000" dirty="0"/>
          </a:p>
        </p:txBody>
      </p:sp>
      <p:sp>
        <p:nvSpPr>
          <p:cNvPr id="4" name="Text 0"/>
          <p:cNvSpPr/>
          <p:nvPr>
            <p:ph idx="102" type="body" hasCustomPrompt="1"/>
          </p:nvPr>
        </p:nvSpPr>
        <p:spPr>
          <a:xfrm>
            <a:off x="731520" y="3794760"/>
            <a:ext cx="9144000" cy="1097280"/>
          </a:xfrm>
          <a:prstGeom prst="rect">
            <a:avLst/>
          </a:prstGeom>
          <a:noFill/>
          <a:ln/>
        </p:spPr>
        <p:txBody>
          <a:bodyPr wrap="square" lIns="0" tIns="0" rIns="0" bIns="0" rtlCol="0" anchor="t"/>
          <a:lstStyle/>
          <a:p>
            <a:pPr algn="l" indent="0" marL="0">
              <a:buNone/>
            </a:pPr>
            <a:r>
              <a:rPr lang="en-US" sz="2000" dirty="0">
                <a:solidFill>
                  <a:schemeClr val="bg1"/>
                </a:solidFill>
              </a:rPr>
              <a:t>38 pieces of wording before launch. Every one needs a name and a date today.</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Where the copy gaps are</a:t>
            </a:r>
            <a:endParaRPr lang="en-US" sz="2800" dirty="0"/>
          </a:p>
        </p:txBody>
      </p:sp>
      <p:graphicFrame>
        <p:nvGraphicFramePr>
          <p:cNvPr id="3" name="Chart 0" descr=""/>
          <p:cNvGraphicFramePr/>
          <p:nvPr/>
        </p:nvGraphicFramePr>
        <p:xfrm>
          <a:off x="457200" y="1188720"/>
          <a:ext cx="6675120" cy="4572000"/>
        </p:xfrm>
        <a:graphic xmlns:a="http://schemas.openxmlformats.org/drawingml/2006/main">
          <a:graphicData uri="http://schemas.openxmlformats.org/drawingml/2006/chart">
            <c:chart xmlns:c="http://schemas.openxmlformats.org/drawingml/2006/chart" r:id="rId1"/>
          </a:graphicData>
        </a:graphic>
      </p:graphicFrame>
      <p:sp>
        <p:nvSpPr>
          <p:cNvPr id="4" name="Blocking items"/>
          <p:cNvSpPr/>
          <p:nvPr/>
        </p:nvSpPr>
        <p:spPr>
          <a:xfrm>
            <a:off x="7498080" y="1188720"/>
            <a:ext cx="4206240" cy="4572000"/>
          </a:xfrm>
          <a:prstGeom prst="roundRect">
            <a:avLst>
              <a:gd name="adj" fmla="val 1739"/>
            </a:avLst>
          </a:prstGeom>
          <a:solidFill>
            <a:schemeClr val="accent6"/>
          </a:solidFill>
          <a:ln w="12700">
            <a:solidFill>
              <a:srgbClr val="DDE7E5"/>
            </a:solidFill>
            <a:prstDash val="solid"/>
          </a:ln>
        </p:spPr>
      </p:sp>
      <p:sp>
        <p:nvSpPr>
          <p:cNvPr id="5" name="Blocking label"/>
          <p:cNvSpPr txBox="1"/>
          <p:nvPr/>
        </p:nvSpPr>
        <p:spPr>
          <a:xfrm>
            <a:off x="7726680" y="1371600"/>
            <a:ext cx="3749040" cy="274320"/>
          </a:xfrm>
          <a:prstGeom prst="rect">
            <a:avLst/>
          </a:prstGeom>
          <a:noFill/>
          <a:ln/>
        </p:spPr>
        <p:txBody>
          <a:bodyPr wrap="square" lIns="0" tIns="0" rIns="0" bIns="0" rtlCol="0" anchor="ctr"/>
          <a:lstStyle/>
          <a:p>
            <a:pPr indent="0" marL="0">
              <a:buNone/>
            </a:pPr>
            <a:r>
              <a:rPr lang="en-US" sz="1100" b="1" spc="200" kern="0" dirty="0">
                <a:solidFill>
                  <a:schemeClr val="accent3"/>
                </a:solidFill>
              </a:rPr>
              <a:t>BLOCKS LAUNCH</a:t>
            </a:r>
            <a:endParaRPr lang="en-US" sz="1100" dirty="0"/>
          </a:p>
        </p:txBody>
      </p:sp>
      <p:sp>
        <p:nvSpPr>
          <p:cNvPr id="6" name="Blocking list"/>
          <p:cNvSpPr txBox="1"/>
          <p:nvPr/>
        </p:nvSpPr>
        <p:spPr>
          <a:xfrm>
            <a:off x="7726680" y="1737360"/>
            <a:ext cx="3749040" cy="3840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Fair Insurance Code statement</a:t>
            </a:r>
            <a:endParaRPr lang="en-US" sz="1400" dirty="0"/>
          </a:p>
          <a:p>
            <a:pPr marL="342900" indent="-342900">
              <a:spcAft>
                <a:spcPts val="800"/>
              </a:spcAft>
              <a:buSzPct val="100000"/>
              <a:buChar char="•"/>
            </a:pPr>
            <a:r>
              <a:rPr lang="en-US" sz="1400" dirty="0">
                <a:solidFill>
                  <a:schemeClr val="tx1"/>
                </a:solidFill>
              </a:rPr>
              <a:t>Complaints process</a:t>
            </a:r>
            <a:endParaRPr lang="en-US" sz="1400" dirty="0"/>
          </a:p>
          <a:p>
            <a:pPr marL="342900" indent="-342900">
              <a:spcAft>
                <a:spcPts val="800"/>
              </a:spcAft>
              <a:buSzPct val="100000"/>
              <a:buChar char="•"/>
            </a:pPr>
            <a:r>
              <a:rPr lang="en-US" sz="1400" dirty="0">
                <a:solidFill>
                  <a:schemeClr val="tx1"/>
                </a:solidFill>
              </a:rPr>
              <a:t>Dispute resolution scheme</a:t>
            </a:r>
            <a:endParaRPr lang="en-US" sz="1400" dirty="0"/>
          </a:p>
          <a:p>
            <a:pPr marL="342900" indent="-342900">
              <a:spcAft>
                <a:spcPts val="800"/>
              </a:spcAft>
              <a:buSzPct val="100000"/>
              <a:buChar char="•"/>
            </a:pPr>
            <a:r>
              <a:rPr lang="en-US" sz="1400" dirty="0">
                <a:solidFill>
                  <a:schemeClr val="tx1"/>
                </a:solidFill>
              </a:rPr>
              <a:t>Cooling off period</a:t>
            </a:r>
            <a:endParaRPr lang="en-US" sz="1400" dirty="0"/>
          </a:p>
          <a:p>
            <a:pPr marL="342900" indent="-342900">
              <a:spcAft>
                <a:spcPts val="800"/>
              </a:spcAft>
              <a:buSzPct val="100000"/>
              <a:buChar char="•"/>
            </a:pPr>
            <a:r>
              <a:rPr lang="en-US" sz="1400" dirty="0">
                <a:solidFill>
                  <a:schemeClr val="tx1"/>
                </a:solidFill>
              </a:rPr>
              <a:t>FSP number</a:t>
            </a:r>
            <a:endParaRPr lang="en-US" sz="1400" dirty="0"/>
          </a:p>
          <a:p>
            <a:pPr marL="342900" indent="-342900">
              <a:spcAft>
                <a:spcPts val="800"/>
              </a:spcAft>
              <a:buSzPct val="100000"/>
              <a:buChar char="•"/>
            </a:pPr>
            <a:r>
              <a:rPr lang="en-US" sz="1400" dirty="0">
                <a:solidFill>
                  <a:schemeClr val="tx1"/>
                </a:solidFill>
              </a:rPr>
              <a:t>Policy wording contact details</a:t>
            </a:r>
            <a:endParaRPr lang="en-US" sz="1400" dirty="0"/>
          </a:p>
          <a:p>
            <a:pPr marL="342900" indent="-342900">
              <a:spcAft>
                <a:spcPts val="800"/>
              </a:spcAft>
              <a:buSzPct val="100000"/>
              <a:buChar char="•"/>
            </a:pPr>
            <a:r>
              <a:rPr lang="en-US" sz="1400" dirty="0">
                <a:solidFill>
                  <a:schemeClr val="tx1"/>
                </a:solidFill>
              </a:rPr>
              <a:t>Chat wording review</a:t>
            </a:r>
            <a:endParaRPr lang="en-US" sz="14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05</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Getting Phase 1 live</a:t>
            </a:r>
            <a:endParaRPr lang="en-US" sz="4000" dirty="0"/>
          </a:p>
        </p:txBody>
      </p:sp>
      <p:sp>
        <p:nvSpPr>
          <p:cNvPr id="4" name="Text 0"/>
          <p:cNvSpPr/>
          <p:nvPr>
            <p:ph idx="102" type="body" hasCustomPrompt="1"/>
          </p:nvPr>
        </p:nvSpPr>
        <p:spPr>
          <a:xfrm>
            <a:off x="731520" y="3794760"/>
            <a:ext cx="9144000" cy="1097280"/>
          </a:xfrm>
          <a:prstGeom prst="rect">
            <a:avLst/>
          </a:prstGeom>
          <a:noFill/>
          <a:ln/>
        </p:spPr>
        <p:txBody>
          <a:bodyPr wrap="square" lIns="0" tIns="0" rIns="0" bIns="0" rtlCol="0" anchor="t"/>
          <a:lstStyle/>
          <a:p>
            <a:pPr algn="l" indent="0" marL="0">
              <a:buNone/>
            </a:pPr>
            <a:r>
              <a:rPr lang="en-US" sz="2000" dirty="0">
                <a:solidFill>
                  <a:schemeClr val="bg1"/>
                </a:solidFill>
              </a:rPr>
              <a:t>Phase 1 is the public website. Leave with an owner and a date on every line.</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Three phases</a:t>
            </a:r>
            <a:endParaRPr lang="en-US" sz="2800" dirty="0"/>
          </a:p>
        </p:txBody>
      </p:sp>
      <p:sp>
        <p:nvSpPr>
          <p:cNvPr id="3" name="Phase 1 band"/>
          <p:cNvSpPr/>
          <p:nvPr/>
        </p:nvSpPr>
        <p:spPr>
          <a:xfrm>
            <a:off x="457200" y="1188720"/>
            <a:ext cx="3611880" cy="502920"/>
          </a:xfrm>
          <a:prstGeom prst="roundRect">
            <a:avLst>
              <a:gd name="adj" fmla="val 14545"/>
            </a:avLst>
          </a:prstGeom>
          <a:solidFill>
            <a:schemeClr val="accent1"/>
          </a:solidFill>
          <a:ln w="12700">
            <a:solidFill>
              <a:schemeClr val="accent1"/>
            </a:solidFill>
            <a:prstDash val="solid"/>
          </a:ln>
        </p:spPr>
      </p:sp>
      <p:sp>
        <p:nvSpPr>
          <p:cNvPr id="4" name="Phase 1 tag"/>
          <p:cNvSpPr txBox="1"/>
          <p:nvPr/>
        </p:nvSpPr>
        <p:spPr>
          <a:xfrm>
            <a:off x="685800" y="1188720"/>
            <a:ext cx="3200400" cy="502920"/>
          </a:xfrm>
          <a:prstGeom prst="rect">
            <a:avLst/>
          </a:prstGeom>
          <a:noFill/>
          <a:ln/>
        </p:spPr>
        <p:txBody>
          <a:bodyPr wrap="square" lIns="0" tIns="0" rIns="0" bIns="0" rtlCol="0" anchor="ctr"/>
          <a:lstStyle/>
          <a:p>
            <a:pPr indent="0" marL="0">
              <a:buNone/>
            </a:pPr>
            <a:r>
              <a:rPr lang="en-US" sz="1400" b="1" dirty="0">
                <a:solidFill>
                  <a:schemeClr val="bg1"/>
                </a:solidFill>
              </a:rPr>
              <a:t>Phase 1, now</a:t>
            </a:r>
            <a:endParaRPr lang="en-US" sz="1400" dirty="0"/>
          </a:p>
        </p:txBody>
      </p:sp>
      <p:sp>
        <p:nvSpPr>
          <p:cNvPr id="5" name="Phase 1 card"/>
          <p:cNvSpPr/>
          <p:nvPr/>
        </p:nvSpPr>
        <p:spPr>
          <a:xfrm>
            <a:off x="457200" y="1783080"/>
            <a:ext cx="3611880" cy="3931920"/>
          </a:xfrm>
          <a:prstGeom prst="roundRect">
            <a:avLst>
              <a:gd name="adj" fmla="val 2025"/>
            </a:avLst>
          </a:prstGeom>
          <a:solidFill>
            <a:schemeClr val="bg1"/>
          </a:solidFill>
          <a:ln w="12700">
            <a:solidFill>
              <a:srgbClr val="DDE7E5"/>
            </a:solidFill>
            <a:prstDash val="solid"/>
          </a:ln>
        </p:spPr>
      </p:sp>
      <p:sp>
        <p:nvSpPr>
          <p:cNvPr id="6" name="Phase 1 title"/>
          <p:cNvSpPr txBox="1"/>
          <p:nvPr/>
        </p:nvSpPr>
        <p:spPr>
          <a:xfrm>
            <a:off x="685800" y="1920240"/>
            <a:ext cx="3200400" cy="457200"/>
          </a:xfrm>
          <a:prstGeom prst="rect">
            <a:avLst/>
          </a:prstGeom>
          <a:noFill/>
          <a:ln/>
        </p:spPr>
        <p:txBody>
          <a:bodyPr wrap="square" lIns="0" tIns="0" rIns="0" bIns="0" rtlCol="0" anchor="ctr"/>
          <a:lstStyle/>
          <a:p>
            <a:pPr indent="0" marL="0">
              <a:buNone/>
            </a:pPr>
            <a:r>
              <a:rPr lang="en-US" sz="2000" b="1" dirty="0">
                <a:solidFill>
                  <a:schemeClr val="tx2"/>
                </a:solidFill>
              </a:rPr>
              <a:t>Website live</a:t>
            </a:r>
            <a:endParaRPr lang="en-US" sz="2000" dirty="0"/>
          </a:p>
        </p:txBody>
      </p:sp>
      <p:sp>
        <p:nvSpPr>
          <p:cNvPr id="7" name="Phase 1 list"/>
          <p:cNvSpPr txBox="1"/>
          <p:nvPr/>
        </p:nvSpPr>
        <p:spPr>
          <a:xfrm>
            <a:off x="685800" y="2514600"/>
            <a:ext cx="3200400" cy="30175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Compliance wording and final copy</a:t>
            </a:r>
            <a:endParaRPr lang="en-US" sz="1400" dirty="0"/>
          </a:p>
          <a:p>
            <a:pPr marL="342900" indent="-342900">
              <a:spcAft>
                <a:spcPts val="800"/>
              </a:spcAft>
              <a:buSzPct val="100000"/>
              <a:buChar char="•"/>
            </a:pPr>
            <a:r>
              <a:rPr lang="en-US" sz="1400" dirty="0">
                <a:solidFill>
                  <a:schemeClr val="tx1"/>
                </a:solidFill>
              </a:rPr>
              <a:t>Photos, video and licences</a:t>
            </a:r>
            <a:endParaRPr lang="en-US" sz="1400" dirty="0"/>
          </a:p>
          <a:p>
            <a:pPr marL="342900" indent="-342900">
              <a:spcAft>
                <a:spcPts val="800"/>
              </a:spcAft>
              <a:buSzPct val="100000"/>
              <a:buChar char="•"/>
            </a:pPr>
            <a:r>
              <a:rPr lang="en-US" sz="1400" dirty="0">
                <a:solidFill>
                  <a:schemeClr val="tx1"/>
                </a:solidFill>
              </a:rPr>
              <a:t>Domain, email sending, analytics</a:t>
            </a:r>
            <a:endParaRPr lang="en-US" sz="1400" dirty="0"/>
          </a:p>
          <a:p>
            <a:pPr marL="342900" indent="-342900">
              <a:spcAft>
                <a:spcPts val="800"/>
              </a:spcAft>
              <a:buSzPct val="100000"/>
              <a:buChar char="•"/>
            </a:pPr>
            <a:r>
              <a:rPr lang="en-US" sz="1400" dirty="0">
                <a:solidFill>
                  <a:schemeClr val="tx1"/>
                </a:solidFill>
              </a:rPr>
              <a:t>Coming Soon page off</a:t>
            </a:r>
            <a:endParaRPr lang="en-US" sz="1400" dirty="0"/>
          </a:p>
        </p:txBody>
      </p:sp>
      <p:sp>
        <p:nvSpPr>
          <p:cNvPr id="8" name="Phase 2 band"/>
          <p:cNvSpPr/>
          <p:nvPr/>
        </p:nvSpPr>
        <p:spPr>
          <a:xfrm>
            <a:off x="4279392" y="1188720"/>
            <a:ext cx="3611880" cy="502920"/>
          </a:xfrm>
          <a:prstGeom prst="roundRect">
            <a:avLst>
              <a:gd name="adj" fmla="val 14545"/>
            </a:avLst>
          </a:prstGeom>
          <a:solidFill>
            <a:schemeClr val="tx2"/>
          </a:solidFill>
          <a:ln w="12700">
            <a:solidFill>
              <a:schemeClr val="tx2"/>
            </a:solidFill>
            <a:prstDash val="solid"/>
          </a:ln>
        </p:spPr>
      </p:sp>
      <p:sp>
        <p:nvSpPr>
          <p:cNvPr id="9" name="Phase 2 tag"/>
          <p:cNvSpPr txBox="1"/>
          <p:nvPr/>
        </p:nvSpPr>
        <p:spPr>
          <a:xfrm>
            <a:off x="4507992" y="1188720"/>
            <a:ext cx="3200400" cy="502920"/>
          </a:xfrm>
          <a:prstGeom prst="rect">
            <a:avLst/>
          </a:prstGeom>
          <a:noFill/>
          <a:ln/>
        </p:spPr>
        <p:txBody>
          <a:bodyPr wrap="square" lIns="0" tIns="0" rIns="0" bIns="0" rtlCol="0" anchor="ctr"/>
          <a:lstStyle/>
          <a:p>
            <a:pPr indent="0" marL="0">
              <a:buNone/>
            </a:pPr>
            <a:r>
              <a:rPr lang="en-US" sz="1400" b="1" dirty="0">
                <a:solidFill>
                  <a:schemeClr val="bg1"/>
                </a:solidFill>
              </a:rPr>
              <a:t>Phase 2</a:t>
            </a:r>
            <a:endParaRPr lang="en-US" sz="1400" dirty="0"/>
          </a:p>
        </p:txBody>
      </p:sp>
      <p:sp>
        <p:nvSpPr>
          <p:cNvPr id="10" name="Phase 2 card"/>
          <p:cNvSpPr/>
          <p:nvPr/>
        </p:nvSpPr>
        <p:spPr>
          <a:xfrm>
            <a:off x="4279392" y="1783080"/>
            <a:ext cx="3611880" cy="3931920"/>
          </a:xfrm>
          <a:prstGeom prst="roundRect">
            <a:avLst>
              <a:gd name="adj" fmla="val 2025"/>
            </a:avLst>
          </a:prstGeom>
          <a:solidFill>
            <a:schemeClr val="bg1"/>
          </a:solidFill>
          <a:ln w="12700">
            <a:solidFill>
              <a:srgbClr val="DDE7E5"/>
            </a:solidFill>
            <a:prstDash val="solid"/>
          </a:ln>
        </p:spPr>
      </p:sp>
      <p:sp>
        <p:nvSpPr>
          <p:cNvPr id="11" name="Phase 2 title"/>
          <p:cNvSpPr txBox="1"/>
          <p:nvPr/>
        </p:nvSpPr>
        <p:spPr>
          <a:xfrm>
            <a:off x="4507992" y="1920240"/>
            <a:ext cx="3200400" cy="457200"/>
          </a:xfrm>
          <a:prstGeom prst="rect">
            <a:avLst/>
          </a:prstGeom>
          <a:noFill/>
          <a:ln/>
        </p:spPr>
        <p:txBody>
          <a:bodyPr wrap="square" lIns="0" tIns="0" rIns="0" bIns="0" rtlCol="0" anchor="ctr"/>
          <a:lstStyle/>
          <a:p>
            <a:pPr indent="0" marL="0">
              <a:buNone/>
            </a:pPr>
            <a:r>
              <a:rPr lang="en-US" sz="2000" b="1" dirty="0">
                <a:solidFill>
                  <a:schemeClr val="tx2"/>
                </a:solidFill>
              </a:rPr>
              <a:t>Portals live</a:t>
            </a:r>
            <a:endParaRPr lang="en-US" sz="2000" dirty="0"/>
          </a:p>
        </p:txBody>
      </p:sp>
      <p:sp>
        <p:nvSpPr>
          <p:cNvPr id="12" name="Phase 2 list"/>
          <p:cNvSpPr txBox="1"/>
          <p:nvPr/>
        </p:nvSpPr>
        <p:spPr>
          <a:xfrm>
            <a:off x="4507992" y="2514600"/>
            <a:ext cx="3200400" cy="30175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InsuredHQ sync and real data</a:t>
            </a:r>
            <a:endParaRPr lang="en-US" sz="1400" dirty="0"/>
          </a:p>
          <a:p>
            <a:pPr marL="342900" indent="-342900">
              <a:spcAft>
                <a:spcPts val="800"/>
              </a:spcAft>
              <a:buSzPct val="100000"/>
              <a:buChar char="•"/>
            </a:pPr>
            <a:r>
              <a:rPr lang="en-US" sz="1400" dirty="0">
                <a:solidFill>
                  <a:schemeClr val="tx1"/>
                </a:solidFill>
              </a:rPr>
              <a:t>Microsoft and Google sign-in</a:t>
            </a:r>
            <a:endParaRPr lang="en-US" sz="1400" dirty="0"/>
          </a:p>
          <a:p>
            <a:pPr marL="342900" indent="-342900">
              <a:spcAft>
                <a:spcPts val="800"/>
              </a:spcAft>
              <a:buSzPct val="100000"/>
              <a:buChar char="•"/>
            </a:pPr>
            <a:r>
              <a:rPr lang="en-US" sz="1400" dirty="0">
                <a:solidFill>
                  <a:schemeClr val="tx1"/>
                </a:solidFill>
              </a:rPr>
              <a:t>Real broker emails</a:t>
            </a:r>
            <a:endParaRPr lang="en-US" sz="1400" dirty="0"/>
          </a:p>
          <a:p>
            <a:pPr marL="342900" indent="-342900">
              <a:spcAft>
                <a:spcPts val="800"/>
              </a:spcAft>
              <a:buSzPct val="100000"/>
              <a:buChar char="•"/>
            </a:pPr>
            <a:r>
              <a:rPr lang="en-US" sz="1400" dirty="0">
                <a:solidFill>
                  <a:schemeClr val="tx1"/>
                </a:solidFill>
              </a:rPr>
              <a:t>Top-voted Phase 2 ideas</a:t>
            </a:r>
            <a:endParaRPr lang="en-US" sz="1400" dirty="0"/>
          </a:p>
        </p:txBody>
      </p:sp>
      <p:sp>
        <p:nvSpPr>
          <p:cNvPr id="13" name="Phase 3 band"/>
          <p:cNvSpPr/>
          <p:nvPr/>
        </p:nvSpPr>
        <p:spPr>
          <a:xfrm>
            <a:off x="8101584" y="1188720"/>
            <a:ext cx="3611880" cy="502920"/>
          </a:xfrm>
          <a:prstGeom prst="roundRect">
            <a:avLst>
              <a:gd name="adj" fmla="val 14545"/>
            </a:avLst>
          </a:prstGeom>
          <a:solidFill>
            <a:schemeClr val="accent3"/>
          </a:solidFill>
          <a:ln w="12700">
            <a:solidFill>
              <a:schemeClr val="accent3"/>
            </a:solidFill>
            <a:prstDash val="solid"/>
          </a:ln>
        </p:spPr>
      </p:sp>
      <p:sp>
        <p:nvSpPr>
          <p:cNvPr id="14" name="Phase 3 tag"/>
          <p:cNvSpPr txBox="1"/>
          <p:nvPr/>
        </p:nvSpPr>
        <p:spPr>
          <a:xfrm>
            <a:off x="8330184" y="1188720"/>
            <a:ext cx="3200400" cy="502920"/>
          </a:xfrm>
          <a:prstGeom prst="rect">
            <a:avLst/>
          </a:prstGeom>
          <a:noFill/>
          <a:ln/>
        </p:spPr>
        <p:txBody>
          <a:bodyPr wrap="square" lIns="0" tIns="0" rIns="0" bIns="0" rtlCol="0" anchor="ctr"/>
          <a:lstStyle/>
          <a:p>
            <a:pPr indent="0" marL="0">
              <a:buNone/>
            </a:pPr>
            <a:r>
              <a:rPr lang="en-US" sz="1400" b="1" dirty="0">
                <a:solidFill>
                  <a:schemeClr val="bg1"/>
                </a:solidFill>
              </a:rPr>
              <a:t>Phase 3</a:t>
            </a:r>
            <a:endParaRPr lang="en-US" sz="1400" dirty="0"/>
          </a:p>
        </p:txBody>
      </p:sp>
      <p:sp>
        <p:nvSpPr>
          <p:cNvPr id="15" name="Phase 3 card"/>
          <p:cNvSpPr/>
          <p:nvPr/>
        </p:nvSpPr>
        <p:spPr>
          <a:xfrm>
            <a:off x="8101584" y="1783080"/>
            <a:ext cx="3611880" cy="3931920"/>
          </a:xfrm>
          <a:prstGeom prst="roundRect">
            <a:avLst>
              <a:gd name="adj" fmla="val 2025"/>
            </a:avLst>
          </a:prstGeom>
          <a:solidFill>
            <a:schemeClr val="bg1"/>
          </a:solidFill>
          <a:ln w="12700">
            <a:solidFill>
              <a:srgbClr val="DDE7E5"/>
            </a:solidFill>
            <a:prstDash val="solid"/>
          </a:ln>
        </p:spPr>
      </p:sp>
      <p:sp>
        <p:nvSpPr>
          <p:cNvPr id="16" name="Phase 3 title"/>
          <p:cNvSpPr txBox="1"/>
          <p:nvPr/>
        </p:nvSpPr>
        <p:spPr>
          <a:xfrm>
            <a:off x="8330184" y="1920240"/>
            <a:ext cx="3200400" cy="457200"/>
          </a:xfrm>
          <a:prstGeom prst="rect">
            <a:avLst/>
          </a:prstGeom>
          <a:noFill/>
          <a:ln/>
        </p:spPr>
        <p:txBody>
          <a:bodyPr wrap="square" lIns="0" tIns="0" rIns="0" bIns="0" rtlCol="0" anchor="ctr"/>
          <a:lstStyle/>
          <a:p>
            <a:pPr indent="0" marL="0">
              <a:buNone/>
            </a:pPr>
            <a:r>
              <a:rPr lang="en-US" sz="2000" b="1" dirty="0">
                <a:solidFill>
                  <a:schemeClr val="tx2"/>
                </a:solidFill>
              </a:rPr>
              <a:t>Grow</a:t>
            </a:r>
            <a:endParaRPr lang="en-US" sz="2000" dirty="0"/>
          </a:p>
        </p:txBody>
      </p:sp>
      <p:sp>
        <p:nvSpPr>
          <p:cNvPr id="17" name="Phase 3 list"/>
          <p:cNvSpPr txBox="1"/>
          <p:nvPr/>
        </p:nvSpPr>
        <p:spPr>
          <a:xfrm>
            <a:off x="8330184" y="2514600"/>
            <a:ext cx="3200400" cy="30175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Instant indicative quotes</a:t>
            </a:r>
            <a:endParaRPr lang="en-US" sz="1400" dirty="0"/>
          </a:p>
          <a:p>
            <a:pPr marL="342900" indent="-342900">
              <a:spcAft>
                <a:spcPts val="800"/>
              </a:spcAft>
              <a:buSzPct val="100000"/>
              <a:buChar char="•"/>
            </a:pPr>
            <a:r>
              <a:rPr lang="en-US" sz="1400" dirty="0">
                <a:solidFill>
                  <a:schemeClr val="tx1"/>
                </a:solidFill>
              </a:rPr>
              <a:t>Payments and commission statements</a:t>
            </a:r>
            <a:endParaRPr lang="en-US" sz="1400" dirty="0"/>
          </a:p>
          <a:p>
            <a:pPr marL="342900" indent="-342900">
              <a:spcAft>
                <a:spcPts val="800"/>
              </a:spcAft>
              <a:buSzPct val="100000"/>
              <a:buChar char="•"/>
            </a:pPr>
            <a:r>
              <a:rPr lang="en-US" sz="1400" dirty="0">
                <a:solidFill>
                  <a:schemeClr val="tx1"/>
                </a:solidFill>
              </a:rPr>
              <a:t>The rest of the ideas board</a:t>
            </a:r>
            <a:endParaRPr lang="en-US" sz="14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Phase 1 go-live checklist</a:t>
            </a:r>
            <a:endParaRPr lang="en-US" sz="2800" dirty="0"/>
          </a:p>
        </p:txBody>
      </p:sp>
      <p:sp>
        <p:nvSpPr>
          <p:cNvPr id="3" name="Content list"/>
          <p:cNvSpPr/>
          <p:nvPr/>
        </p:nvSpPr>
        <p:spPr>
          <a:xfrm>
            <a:off x="457200" y="1188720"/>
            <a:ext cx="3611880" cy="4754880"/>
          </a:xfrm>
          <a:prstGeom prst="roundRect">
            <a:avLst>
              <a:gd name="adj" fmla="val 2025"/>
            </a:avLst>
          </a:prstGeom>
          <a:solidFill>
            <a:schemeClr val="bg1"/>
          </a:solidFill>
          <a:ln w="12700">
            <a:solidFill>
              <a:srgbClr val="DDE7E5"/>
            </a:solidFill>
            <a:prstDash val="solid"/>
          </a:ln>
        </p:spPr>
      </p:sp>
      <p:sp>
        <p:nvSpPr>
          <p:cNvPr id="4" name="Content title"/>
          <p:cNvSpPr txBox="1"/>
          <p:nvPr/>
        </p:nvSpPr>
        <p:spPr>
          <a:xfrm>
            <a:off x="685800" y="1325880"/>
            <a:ext cx="3200400" cy="411480"/>
          </a:xfrm>
          <a:prstGeom prst="rect">
            <a:avLst/>
          </a:prstGeom>
          <a:noFill/>
          <a:ln/>
        </p:spPr>
        <p:txBody>
          <a:bodyPr wrap="square" lIns="0" tIns="0" rIns="0" bIns="0" rtlCol="0" anchor="ctr"/>
          <a:lstStyle/>
          <a:p>
            <a:pPr indent="0" marL="0">
              <a:buNone/>
            </a:pPr>
            <a:r>
              <a:rPr lang="en-US" sz="1800" b="1" dirty="0">
                <a:solidFill>
                  <a:schemeClr val="accent1"/>
                </a:solidFill>
              </a:rPr>
              <a:t>Content</a:t>
            </a:r>
            <a:endParaRPr lang="en-US" sz="1800" dirty="0"/>
          </a:p>
        </p:txBody>
      </p:sp>
      <p:sp>
        <p:nvSpPr>
          <p:cNvPr id="5" name="Content box 1"/>
          <p:cNvSpPr/>
          <p:nvPr/>
        </p:nvSpPr>
        <p:spPr>
          <a:xfrm>
            <a:off x="685800" y="1901952"/>
            <a:ext cx="201168" cy="201168"/>
          </a:xfrm>
          <a:prstGeom prst="rect">
            <a:avLst/>
          </a:prstGeom>
          <a:solidFill>
            <a:schemeClr val="bg1"/>
          </a:solidFill>
          <a:ln w="15875">
            <a:solidFill>
              <a:schemeClr val="accent1"/>
            </a:solidFill>
            <a:prstDash val="solid"/>
          </a:ln>
        </p:spPr>
      </p:sp>
      <p:sp>
        <p:nvSpPr>
          <p:cNvPr id="6" name="Content item 1"/>
          <p:cNvSpPr txBox="1"/>
          <p:nvPr/>
        </p:nvSpPr>
        <p:spPr>
          <a:xfrm>
            <a:off x="1005840" y="1810512"/>
            <a:ext cx="2926080" cy="566928"/>
          </a:xfrm>
          <a:prstGeom prst="rect">
            <a:avLst/>
          </a:prstGeom>
          <a:noFill/>
          <a:ln/>
        </p:spPr>
        <p:txBody>
          <a:bodyPr wrap="square" lIns="0" tIns="0" rIns="0" bIns="0" rtlCol="0" anchor="t"/>
          <a:lstStyle/>
          <a:p>
            <a:pPr indent="0" marL="0">
              <a:buNone/>
            </a:pPr>
            <a:r>
              <a:rPr lang="en-US" sz="1300" dirty="0">
                <a:solidFill>
                  <a:schemeClr val="tx1"/>
                </a:solidFill>
              </a:rPr>
              <a:t>Compliance wording approved</a:t>
            </a:r>
            <a:endParaRPr lang="en-US" sz="1300" dirty="0"/>
          </a:p>
        </p:txBody>
      </p:sp>
      <p:sp>
        <p:nvSpPr>
          <p:cNvPr id="7" name="Content box 2"/>
          <p:cNvSpPr/>
          <p:nvPr/>
        </p:nvSpPr>
        <p:spPr>
          <a:xfrm>
            <a:off x="685800" y="2542032"/>
            <a:ext cx="201168" cy="201168"/>
          </a:xfrm>
          <a:prstGeom prst="rect">
            <a:avLst/>
          </a:prstGeom>
          <a:solidFill>
            <a:schemeClr val="bg1"/>
          </a:solidFill>
          <a:ln w="15875">
            <a:solidFill>
              <a:schemeClr val="accent1"/>
            </a:solidFill>
            <a:prstDash val="solid"/>
          </a:ln>
        </p:spPr>
      </p:sp>
      <p:sp>
        <p:nvSpPr>
          <p:cNvPr id="8" name="Content item 2"/>
          <p:cNvSpPr txBox="1"/>
          <p:nvPr/>
        </p:nvSpPr>
        <p:spPr>
          <a:xfrm>
            <a:off x="1005840" y="2450592"/>
            <a:ext cx="2926080" cy="566928"/>
          </a:xfrm>
          <a:prstGeom prst="rect">
            <a:avLst/>
          </a:prstGeom>
          <a:noFill/>
          <a:ln/>
        </p:spPr>
        <p:txBody>
          <a:bodyPr wrap="square" lIns="0" tIns="0" rIns="0" bIns="0" rtlCol="0" anchor="t"/>
          <a:lstStyle/>
          <a:p>
            <a:pPr indent="0" marL="0">
              <a:buNone/>
            </a:pPr>
            <a:r>
              <a:rPr lang="en-US" sz="1300" dirty="0">
                <a:solidFill>
                  <a:schemeClr val="tx1"/>
                </a:solidFill>
              </a:rPr>
              <a:t>FSP number confirmed</a:t>
            </a:r>
            <a:endParaRPr lang="en-US" sz="1300" dirty="0"/>
          </a:p>
        </p:txBody>
      </p:sp>
      <p:sp>
        <p:nvSpPr>
          <p:cNvPr id="9" name="Content box 3"/>
          <p:cNvSpPr/>
          <p:nvPr/>
        </p:nvSpPr>
        <p:spPr>
          <a:xfrm>
            <a:off x="685800" y="3182112"/>
            <a:ext cx="201168" cy="201168"/>
          </a:xfrm>
          <a:prstGeom prst="rect">
            <a:avLst/>
          </a:prstGeom>
          <a:solidFill>
            <a:schemeClr val="bg1"/>
          </a:solidFill>
          <a:ln w="15875">
            <a:solidFill>
              <a:schemeClr val="accent1"/>
            </a:solidFill>
            <a:prstDash val="solid"/>
          </a:ln>
        </p:spPr>
      </p:sp>
      <p:sp>
        <p:nvSpPr>
          <p:cNvPr id="10" name="Content item 3"/>
          <p:cNvSpPr txBox="1"/>
          <p:nvPr/>
        </p:nvSpPr>
        <p:spPr>
          <a:xfrm>
            <a:off x="1005840" y="3090672"/>
            <a:ext cx="2926080" cy="566928"/>
          </a:xfrm>
          <a:prstGeom prst="rect">
            <a:avLst/>
          </a:prstGeom>
          <a:noFill/>
          <a:ln/>
        </p:spPr>
        <p:txBody>
          <a:bodyPr wrap="square" lIns="0" tIns="0" rIns="0" bIns="0" rtlCol="0" anchor="t"/>
          <a:lstStyle/>
          <a:p>
            <a:pPr indent="0" marL="0">
              <a:buNone/>
            </a:pPr>
            <a:r>
              <a:rPr lang="en-US" sz="1300" dirty="0">
                <a:solidFill>
                  <a:schemeClr val="tx1"/>
                </a:solidFill>
              </a:rPr>
              <a:t>Video and stock photos licensed</a:t>
            </a:r>
            <a:endParaRPr lang="en-US" sz="1300" dirty="0"/>
          </a:p>
        </p:txBody>
      </p:sp>
      <p:sp>
        <p:nvSpPr>
          <p:cNvPr id="11" name="Content box 4"/>
          <p:cNvSpPr/>
          <p:nvPr/>
        </p:nvSpPr>
        <p:spPr>
          <a:xfrm>
            <a:off x="685800" y="3822192"/>
            <a:ext cx="201168" cy="201168"/>
          </a:xfrm>
          <a:prstGeom prst="rect">
            <a:avLst/>
          </a:prstGeom>
          <a:solidFill>
            <a:schemeClr val="bg1"/>
          </a:solidFill>
          <a:ln w="15875">
            <a:solidFill>
              <a:schemeClr val="accent1"/>
            </a:solidFill>
            <a:prstDash val="solid"/>
          </a:ln>
        </p:spPr>
      </p:sp>
      <p:sp>
        <p:nvSpPr>
          <p:cNvPr id="12" name="Content item 4"/>
          <p:cNvSpPr txBox="1"/>
          <p:nvPr/>
        </p:nvSpPr>
        <p:spPr>
          <a:xfrm>
            <a:off x="1005840" y="3730752"/>
            <a:ext cx="2926080" cy="566928"/>
          </a:xfrm>
          <a:prstGeom prst="rect">
            <a:avLst/>
          </a:prstGeom>
          <a:noFill/>
          <a:ln/>
        </p:spPr>
        <p:txBody>
          <a:bodyPr wrap="square" lIns="0" tIns="0" rIns="0" bIns="0" rtlCol="0" anchor="t"/>
          <a:lstStyle/>
          <a:p>
            <a:pPr indent="0" marL="0">
              <a:buNone/>
            </a:pPr>
            <a:r>
              <a:rPr lang="en-US" sz="1300" dirty="0">
                <a:solidFill>
                  <a:schemeClr val="tx1"/>
                </a:solidFill>
              </a:rPr>
              <a:t>FAQ answers approved</a:t>
            </a:r>
            <a:endParaRPr lang="en-US" sz="1300" dirty="0"/>
          </a:p>
        </p:txBody>
      </p:sp>
      <p:sp>
        <p:nvSpPr>
          <p:cNvPr id="13" name="Content box 5"/>
          <p:cNvSpPr/>
          <p:nvPr/>
        </p:nvSpPr>
        <p:spPr>
          <a:xfrm>
            <a:off x="685800" y="4462272"/>
            <a:ext cx="201168" cy="201168"/>
          </a:xfrm>
          <a:prstGeom prst="rect">
            <a:avLst/>
          </a:prstGeom>
          <a:solidFill>
            <a:schemeClr val="bg1"/>
          </a:solidFill>
          <a:ln w="15875">
            <a:solidFill>
              <a:schemeClr val="accent1"/>
            </a:solidFill>
            <a:prstDash val="solid"/>
          </a:ln>
        </p:spPr>
      </p:sp>
      <p:sp>
        <p:nvSpPr>
          <p:cNvPr id="14" name="Content item 5"/>
          <p:cNvSpPr txBox="1"/>
          <p:nvPr/>
        </p:nvSpPr>
        <p:spPr>
          <a:xfrm>
            <a:off x="1005840" y="4370832"/>
            <a:ext cx="2926080" cy="566928"/>
          </a:xfrm>
          <a:prstGeom prst="rect">
            <a:avLst/>
          </a:prstGeom>
          <a:noFill/>
          <a:ln/>
        </p:spPr>
        <p:txBody>
          <a:bodyPr wrap="square" lIns="0" tIns="0" rIns="0" bIns="0" rtlCol="0" anchor="t"/>
          <a:lstStyle/>
          <a:p>
            <a:pPr indent="0" marL="0">
              <a:buNone/>
            </a:pPr>
            <a:r>
              <a:rPr lang="en-US" sz="1300" dirty="0">
                <a:solidFill>
                  <a:schemeClr val="tx1"/>
                </a:solidFill>
              </a:rPr>
              <a:t>Chat wording reviewed</a:t>
            </a:r>
            <a:endParaRPr lang="en-US" sz="1300" dirty="0"/>
          </a:p>
        </p:txBody>
      </p:sp>
      <p:sp>
        <p:nvSpPr>
          <p:cNvPr id="15" name="Content box 6"/>
          <p:cNvSpPr/>
          <p:nvPr/>
        </p:nvSpPr>
        <p:spPr>
          <a:xfrm>
            <a:off x="685800" y="5102352"/>
            <a:ext cx="201168" cy="201168"/>
          </a:xfrm>
          <a:prstGeom prst="rect">
            <a:avLst/>
          </a:prstGeom>
          <a:solidFill>
            <a:schemeClr val="bg1"/>
          </a:solidFill>
          <a:ln w="15875">
            <a:solidFill>
              <a:schemeClr val="accent1"/>
            </a:solidFill>
            <a:prstDash val="solid"/>
          </a:ln>
        </p:spPr>
      </p:sp>
      <p:sp>
        <p:nvSpPr>
          <p:cNvPr id="16" name="Content item 6"/>
          <p:cNvSpPr txBox="1"/>
          <p:nvPr/>
        </p:nvSpPr>
        <p:spPr>
          <a:xfrm>
            <a:off x="1005840" y="5010912"/>
            <a:ext cx="2926080" cy="566928"/>
          </a:xfrm>
          <a:prstGeom prst="rect">
            <a:avLst/>
          </a:prstGeom>
          <a:noFill/>
          <a:ln/>
        </p:spPr>
        <p:txBody>
          <a:bodyPr wrap="square" lIns="0" tIns="0" rIns="0" bIns="0" rtlCol="0" anchor="t"/>
          <a:lstStyle/>
          <a:p>
            <a:pPr indent="0" marL="0">
              <a:buNone/>
            </a:pPr>
            <a:r>
              <a:rPr lang="en-US" sz="1300" dirty="0">
                <a:solidFill>
                  <a:schemeClr val="tx1"/>
                </a:solidFill>
              </a:rPr>
              <a:t>Otta story and case studies, or pages hidden</a:t>
            </a:r>
            <a:endParaRPr lang="en-US" sz="1300" dirty="0"/>
          </a:p>
        </p:txBody>
      </p:sp>
      <p:sp>
        <p:nvSpPr>
          <p:cNvPr id="17" name="Technical list"/>
          <p:cNvSpPr/>
          <p:nvPr/>
        </p:nvSpPr>
        <p:spPr>
          <a:xfrm>
            <a:off x="4279392" y="1188720"/>
            <a:ext cx="3611880" cy="4754880"/>
          </a:xfrm>
          <a:prstGeom prst="roundRect">
            <a:avLst>
              <a:gd name="adj" fmla="val 2025"/>
            </a:avLst>
          </a:prstGeom>
          <a:solidFill>
            <a:schemeClr val="bg1"/>
          </a:solidFill>
          <a:ln w="12700">
            <a:solidFill>
              <a:srgbClr val="DDE7E5"/>
            </a:solidFill>
            <a:prstDash val="solid"/>
          </a:ln>
        </p:spPr>
      </p:sp>
      <p:sp>
        <p:nvSpPr>
          <p:cNvPr id="18" name="Technical title"/>
          <p:cNvSpPr txBox="1"/>
          <p:nvPr/>
        </p:nvSpPr>
        <p:spPr>
          <a:xfrm>
            <a:off x="4507992" y="1325880"/>
            <a:ext cx="3200400" cy="411480"/>
          </a:xfrm>
          <a:prstGeom prst="rect">
            <a:avLst/>
          </a:prstGeom>
          <a:noFill/>
          <a:ln/>
        </p:spPr>
        <p:txBody>
          <a:bodyPr wrap="square" lIns="0" tIns="0" rIns="0" bIns="0" rtlCol="0" anchor="ctr"/>
          <a:lstStyle/>
          <a:p>
            <a:pPr indent="0" marL="0">
              <a:buNone/>
            </a:pPr>
            <a:r>
              <a:rPr lang="en-US" sz="1800" b="1" dirty="0">
                <a:solidFill>
                  <a:schemeClr val="accent1"/>
                </a:solidFill>
              </a:rPr>
              <a:t>Technical</a:t>
            </a:r>
            <a:endParaRPr lang="en-US" sz="1800" dirty="0"/>
          </a:p>
        </p:txBody>
      </p:sp>
      <p:sp>
        <p:nvSpPr>
          <p:cNvPr id="19" name="Technical box 1"/>
          <p:cNvSpPr/>
          <p:nvPr/>
        </p:nvSpPr>
        <p:spPr>
          <a:xfrm>
            <a:off x="4507992" y="1901952"/>
            <a:ext cx="201168" cy="201168"/>
          </a:xfrm>
          <a:prstGeom prst="rect">
            <a:avLst/>
          </a:prstGeom>
          <a:solidFill>
            <a:schemeClr val="bg1"/>
          </a:solidFill>
          <a:ln w="15875">
            <a:solidFill>
              <a:schemeClr val="accent1"/>
            </a:solidFill>
            <a:prstDash val="solid"/>
          </a:ln>
        </p:spPr>
      </p:sp>
      <p:sp>
        <p:nvSpPr>
          <p:cNvPr id="20" name="Technical item 1"/>
          <p:cNvSpPr txBox="1"/>
          <p:nvPr/>
        </p:nvSpPr>
        <p:spPr>
          <a:xfrm>
            <a:off x="4828032" y="1810512"/>
            <a:ext cx="2926080" cy="566928"/>
          </a:xfrm>
          <a:prstGeom prst="rect">
            <a:avLst/>
          </a:prstGeom>
          <a:noFill/>
          <a:ln/>
        </p:spPr>
        <p:txBody>
          <a:bodyPr wrap="square" lIns="0" tIns="0" rIns="0" bIns="0" rtlCol="0" anchor="t"/>
          <a:lstStyle/>
          <a:p>
            <a:pPr indent="0" marL="0">
              <a:buNone/>
            </a:pPr>
            <a:r>
              <a:rPr lang="en-US" sz="1300" dirty="0">
                <a:solidFill>
                  <a:schemeClr val="tx1"/>
                </a:solidFill>
              </a:rPr>
              <a:t>ottainsurance.co.nz pointed at the site</a:t>
            </a:r>
            <a:endParaRPr lang="en-US" sz="1300" dirty="0"/>
          </a:p>
        </p:txBody>
      </p:sp>
      <p:sp>
        <p:nvSpPr>
          <p:cNvPr id="21" name="Technical box 2"/>
          <p:cNvSpPr/>
          <p:nvPr/>
        </p:nvSpPr>
        <p:spPr>
          <a:xfrm>
            <a:off x="4507992" y="2542032"/>
            <a:ext cx="201168" cy="201168"/>
          </a:xfrm>
          <a:prstGeom prst="rect">
            <a:avLst/>
          </a:prstGeom>
          <a:solidFill>
            <a:schemeClr val="bg1"/>
          </a:solidFill>
          <a:ln w="15875">
            <a:solidFill>
              <a:schemeClr val="accent1"/>
            </a:solidFill>
            <a:prstDash val="solid"/>
          </a:ln>
        </p:spPr>
      </p:sp>
      <p:sp>
        <p:nvSpPr>
          <p:cNvPr id="22" name="Technical item 2"/>
          <p:cNvSpPr txBox="1"/>
          <p:nvPr/>
        </p:nvSpPr>
        <p:spPr>
          <a:xfrm>
            <a:off x="4828032" y="2450592"/>
            <a:ext cx="2926080" cy="566928"/>
          </a:xfrm>
          <a:prstGeom prst="rect">
            <a:avLst/>
          </a:prstGeom>
          <a:noFill/>
          <a:ln/>
        </p:spPr>
        <p:txBody>
          <a:bodyPr wrap="square" lIns="0" tIns="0" rIns="0" bIns="0" rtlCol="0" anchor="t"/>
          <a:lstStyle/>
          <a:p>
            <a:pPr indent="0" marL="0">
              <a:buNone/>
            </a:pPr>
            <a:r>
              <a:rPr lang="en-US" sz="1300" dirty="0">
                <a:solidFill>
                  <a:schemeClr val="tx1"/>
                </a:solidFill>
              </a:rPr>
              <a:t>Sending domain verified in Brevo</a:t>
            </a:r>
            <a:endParaRPr lang="en-US" sz="1300" dirty="0"/>
          </a:p>
        </p:txBody>
      </p:sp>
      <p:sp>
        <p:nvSpPr>
          <p:cNvPr id="23" name="Technical box 3"/>
          <p:cNvSpPr/>
          <p:nvPr/>
        </p:nvSpPr>
        <p:spPr>
          <a:xfrm>
            <a:off x="4507992" y="3182112"/>
            <a:ext cx="201168" cy="201168"/>
          </a:xfrm>
          <a:prstGeom prst="rect">
            <a:avLst/>
          </a:prstGeom>
          <a:solidFill>
            <a:schemeClr val="bg1"/>
          </a:solidFill>
          <a:ln w="15875">
            <a:solidFill>
              <a:schemeClr val="accent1"/>
            </a:solidFill>
            <a:prstDash val="solid"/>
          </a:ln>
        </p:spPr>
      </p:sp>
      <p:sp>
        <p:nvSpPr>
          <p:cNvPr id="24" name="Technical item 3"/>
          <p:cNvSpPr txBox="1"/>
          <p:nvPr/>
        </p:nvSpPr>
        <p:spPr>
          <a:xfrm>
            <a:off x="4828032" y="3090672"/>
            <a:ext cx="2926080" cy="566928"/>
          </a:xfrm>
          <a:prstGeom prst="rect">
            <a:avLst/>
          </a:prstGeom>
          <a:noFill/>
          <a:ln/>
        </p:spPr>
        <p:txBody>
          <a:bodyPr wrap="square" lIns="0" tIns="0" rIns="0" bIns="0" rtlCol="0" anchor="t"/>
          <a:lstStyle/>
          <a:p>
            <a:pPr indent="0" marL="0">
              <a:buNone/>
            </a:pPr>
            <a:r>
              <a:rPr lang="en-US" sz="1300" dirty="0">
                <a:solidFill>
                  <a:schemeClr val="tx1"/>
                </a:solidFill>
              </a:rPr>
              <a:t>Team inboxes confirmed</a:t>
            </a:r>
            <a:endParaRPr lang="en-US" sz="1300" dirty="0"/>
          </a:p>
        </p:txBody>
      </p:sp>
      <p:sp>
        <p:nvSpPr>
          <p:cNvPr id="25" name="Technical box 4"/>
          <p:cNvSpPr/>
          <p:nvPr/>
        </p:nvSpPr>
        <p:spPr>
          <a:xfrm>
            <a:off x="4507992" y="3822192"/>
            <a:ext cx="201168" cy="201168"/>
          </a:xfrm>
          <a:prstGeom prst="rect">
            <a:avLst/>
          </a:prstGeom>
          <a:solidFill>
            <a:schemeClr val="bg1"/>
          </a:solidFill>
          <a:ln w="15875">
            <a:solidFill>
              <a:schemeClr val="accent1"/>
            </a:solidFill>
            <a:prstDash val="solid"/>
          </a:ln>
        </p:spPr>
      </p:sp>
      <p:sp>
        <p:nvSpPr>
          <p:cNvPr id="26" name="Technical item 4"/>
          <p:cNvSpPr txBox="1"/>
          <p:nvPr/>
        </p:nvSpPr>
        <p:spPr>
          <a:xfrm>
            <a:off x="4828032" y="3730752"/>
            <a:ext cx="2926080" cy="566928"/>
          </a:xfrm>
          <a:prstGeom prst="rect">
            <a:avLst/>
          </a:prstGeom>
          <a:noFill/>
          <a:ln/>
        </p:spPr>
        <p:txBody>
          <a:bodyPr wrap="square" lIns="0" tIns="0" rIns="0" bIns="0" rtlCol="0" anchor="t"/>
          <a:lstStyle/>
          <a:p>
            <a:pPr indent="0" marL="0">
              <a:buNone/>
            </a:pPr>
            <a:r>
              <a:rPr lang="en-US" sz="1300" dirty="0">
                <a:solidFill>
                  <a:schemeClr val="tx1"/>
                </a:solidFill>
              </a:rPr>
              <a:t>Demo email redirect off</a:t>
            </a:r>
            <a:endParaRPr lang="en-US" sz="1300" dirty="0"/>
          </a:p>
        </p:txBody>
      </p:sp>
      <p:sp>
        <p:nvSpPr>
          <p:cNvPr id="27" name="Technical box 5"/>
          <p:cNvSpPr/>
          <p:nvPr/>
        </p:nvSpPr>
        <p:spPr>
          <a:xfrm>
            <a:off x="4507992" y="4462272"/>
            <a:ext cx="201168" cy="201168"/>
          </a:xfrm>
          <a:prstGeom prst="rect">
            <a:avLst/>
          </a:prstGeom>
          <a:solidFill>
            <a:schemeClr val="bg1"/>
          </a:solidFill>
          <a:ln w="15875">
            <a:solidFill>
              <a:schemeClr val="accent1"/>
            </a:solidFill>
            <a:prstDash val="solid"/>
          </a:ln>
        </p:spPr>
      </p:sp>
      <p:sp>
        <p:nvSpPr>
          <p:cNvPr id="28" name="Technical item 5"/>
          <p:cNvSpPr txBox="1"/>
          <p:nvPr/>
        </p:nvSpPr>
        <p:spPr>
          <a:xfrm>
            <a:off x="4828032" y="4370832"/>
            <a:ext cx="2926080" cy="566928"/>
          </a:xfrm>
          <a:prstGeom prst="rect">
            <a:avLst/>
          </a:prstGeom>
          <a:noFill/>
          <a:ln/>
        </p:spPr>
        <p:txBody>
          <a:bodyPr wrap="square" lIns="0" tIns="0" rIns="0" bIns="0" rtlCol="0" anchor="t"/>
          <a:lstStyle/>
          <a:p>
            <a:pPr indent="0" marL="0">
              <a:buNone/>
            </a:pPr>
            <a:r>
              <a:rPr lang="en-US" sz="1300" dirty="0">
                <a:solidFill>
                  <a:schemeClr val="tx1"/>
                </a:solidFill>
              </a:rPr>
              <a:t>Privacy policy page live</a:t>
            </a:r>
            <a:endParaRPr lang="en-US" sz="1300" dirty="0"/>
          </a:p>
        </p:txBody>
      </p:sp>
      <p:sp>
        <p:nvSpPr>
          <p:cNvPr id="29" name="Technical box 6"/>
          <p:cNvSpPr/>
          <p:nvPr/>
        </p:nvSpPr>
        <p:spPr>
          <a:xfrm>
            <a:off x="4507992" y="5102352"/>
            <a:ext cx="201168" cy="201168"/>
          </a:xfrm>
          <a:prstGeom prst="rect">
            <a:avLst/>
          </a:prstGeom>
          <a:solidFill>
            <a:schemeClr val="bg1"/>
          </a:solidFill>
          <a:ln w="15875">
            <a:solidFill>
              <a:schemeClr val="accent1"/>
            </a:solidFill>
            <a:prstDash val="solid"/>
          </a:ln>
        </p:spPr>
      </p:sp>
      <p:sp>
        <p:nvSpPr>
          <p:cNvPr id="30" name="Technical item 6"/>
          <p:cNvSpPr txBox="1"/>
          <p:nvPr/>
        </p:nvSpPr>
        <p:spPr>
          <a:xfrm>
            <a:off x="4828032" y="5010912"/>
            <a:ext cx="2926080" cy="566928"/>
          </a:xfrm>
          <a:prstGeom prst="rect">
            <a:avLst/>
          </a:prstGeom>
          <a:noFill/>
          <a:ln/>
        </p:spPr>
        <p:txBody>
          <a:bodyPr wrap="square" lIns="0" tIns="0" rIns="0" bIns="0" rtlCol="0" anchor="t"/>
          <a:lstStyle/>
          <a:p>
            <a:pPr indent="0" marL="0">
              <a:buNone/>
            </a:pPr>
            <a:r>
              <a:rPr lang="en-US" sz="1300" dirty="0">
                <a:solidFill>
                  <a:schemeClr val="tx1"/>
                </a:solidFill>
              </a:rPr>
              <a:t>Coming Soon page off, analytics on</a:t>
            </a:r>
            <a:endParaRPr lang="en-US" sz="1300" dirty="0"/>
          </a:p>
        </p:txBody>
      </p:sp>
      <p:sp>
        <p:nvSpPr>
          <p:cNvPr id="31" name="Decisions list"/>
          <p:cNvSpPr/>
          <p:nvPr/>
        </p:nvSpPr>
        <p:spPr>
          <a:xfrm>
            <a:off x="8101584" y="1188720"/>
            <a:ext cx="3611880" cy="4754880"/>
          </a:xfrm>
          <a:prstGeom prst="roundRect">
            <a:avLst>
              <a:gd name="adj" fmla="val 2025"/>
            </a:avLst>
          </a:prstGeom>
          <a:solidFill>
            <a:schemeClr val="bg1"/>
          </a:solidFill>
          <a:ln w="12700">
            <a:solidFill>
              <a:srgbClr val="DDE7E5"/>
            </a:solidFill>
            <a:prstDash val="solid"/>
          </a:ln>
        </p:spPr>
      </p:sp>
      <p:sp>
        <p:nvSpPr>
          <p:cNvPr id="32" name="Decisions title"/>
          <p:cNvSpPr txBox="1"/>
          <p:nvPr/>
        </p:nvSpPr>
        <p:spPr>
          <a:xfrm>
            <a:off x="8330184" y="1325880"/>
            <a:ext cx="3200400" cy="411480"/>
          </a:xfrm>
          <a:prstGeom prst="rect">
            <a:avLst/>
          </a:prstGeom>
          <a:noFill/>
          <a:ln/>
        </p:spPr>
        <p:txBody>
          <a:bodyPr wrap="square" lIns="0" tIns="0" rIns="0" bIns="0" rtlCol="0" anchor="ctr"/>
          <a:lstStyle/>
          <a:p>
            <a:pPr indent="0" marL="0">
              <a:buNone/>
            </a:pPr>
            <a:r>
              <a:rPr lang="en-US" sz="1800" b="1" dirty="0">
                <a:solidFill>
                  <a:schemeClr val="accent1"/>
                </a:solidFill>
              </a:rPr>
              <a:t>Decisions</a:t>
            </a:r>
            <a:endParaRPr lang="en-US" sz="1800" dirty="0"/>
          </a:p>
        </p:txBody>
      </p:sp>
      <p:sp>
        <p:nvSpPr>
          <p:cNvPr id="33" name="Decisions box 1"/>
          <p:cNvSpPr/>
          <p:nvPr/>
        </p:nvSpPr>
        <p:spPr>
          <a:xfrm>
            <a:off x="8330184" y="1901952"/>
            <a:ext cx="201168" cy="201168"/>
          </a:xfrm>
          <a:prstGeom prst="rect">
            <a:avLst/>
          </a:prstGeom>
          <a:solidFill>
            <a:schemeClr val="bg1"/>
          </a:solidFill>
          <a:ln w="15875">
            <a:solidFill>
              <a:schemeClr val="accent1"/>
            </a:solidFill>
            <a:prstDash val="solid"/>
          </a:ln>
        </p:spPr>
      </p:sp>
      <p:sp>
        <p:nvSpPr>
          <p:cNvPr id="34" name="Decisions item 1"/>
          <p:cNvSpPr txBox="1"/>
          <p:nvPr/>
        </p:nvSpPr>
        <p:spPr>
          <a:xfrm>
            <a:off x="8650224" y="1810512"/>
            <a:ext cx="2926080" cy="566928"/>
          </a:xfrm>
          <a:prstGeom prst="rect">
            <a:avLst/>
          </a:prstGeom>
          <a:noFill/>
          <a:ln/>
        </p:spPr>
        <p:txBody>
          <a:bodyPr wrap="square" lIns="0" tIns="0" rIns="0" bIns="0" rtlCol="0" anchor="t"/>
          <a:lstStyle/>
          <a:p>
            <a:pPr indent="0" marL="0">
              <a:buNone/>
            </a:pPr>
            <a:r>
              <a:rPr lang="en-US" sz="1300" dirty="0">
                <a:solidFill>
                  <a:schemeClr val="tx1"/>
                </a:solidFill>
              </a:rPr>
              <a:t>Launch date</a:t>
            </a:r>
            <a:endParaRPr lang="en-US" sz="1300" dirty="0"/>
          </a:p>
        </p:txBody>
      </p:sp>
      <p:sp>
        <p:nvSpPr>
          <p:cNvPr id="35" name="Decisions box 2"/>
          <p:cNvSpPr/>
          <p:nvPr/>
        </p:nvSpPr>
        <p:spPr>
          <a:xfrm>
            <a:off x="8330184" y="2542032"/>
            <a:ext cx="201168" cy="201168"/>
          </a:xfrm>
          <a:prstGeom prst="rect">
            <a:avLst/>
          </a:prstGeom>
          <a:solidFill>
            <a:schemeClr val="bg1"/>
          </a:solidFill>
          <a:ln w="15875">
            <a:solidFill>
              <a:schemeClr val="accent1"/>
            </a:solidFill>
            <a:prstDash val="solid"/>
          </a:ln>
        </p:spPr>
      </p:sp>
      <p:sp>
        <p:nvSpPr>
          <p:cNvPr id="36" name="Decisions item 2"/>
          <p:cNvSpPr txBox="1"/>
          <p:nvPr/>
        </p:nvSpPr>
        <p:spPr>
          <a:xfrm>
            <a:off x="8650224" y="2450592"/>
            <a:ext cx="2926080" cy="566928"/>
          </a:xfrm>
          <a:prstGeom prst="rect">
            <a:avLst/>
          </a:prstGeom>
          <a:noFill/>
          <a:ln/>
        </p:spPr>
        <p:txBody>
          <a:bodyPr wrap="square" lIns="0" tIns="0" rIns="0" bIns="0" rtlCol="0" anchor="t"/>
          <a:lstStyle/>
          <a:p>
            <a:pPr indent="0" marL="0">
              <a:buNone/>
            </a:pPr>
            <a:r>
              <a:rPr lang="en-US" sz="1300" dirty="0">
                <a:solidFill>
                  <a:schemeClr val="tx1"/>
                </a:solidFill>
              </a:rPr>
              <a:t>Who signs off compliance</a:t>
            </a:r>
            <a:endParaRPr lang="en-US" sz="1300" dirty="0"/>
          </a:p>
        </p:txBody>
      </p:sp>
      <p:sp>
        <p:nvSpPr>
          <p:cNvPr id="37" name="Decisions box 3"/>
          <p:cNvSpPr/>
          <p:nvPr/>
        </p:nvSpPr>
        <p:spPr>
          <a:xfrm>
            <a:off x="8330184" y="3182112"/>
            <a:ext cx="201168" cy="201168"/>
          </a:xfrm>
          <a:prstGeom prst="rect">
            <a:avLst/>
          </a:prstGeom>
          <a:solidFill>
            <a:schemeClr val="bg1"/>
          </a:solidFill>
          <a:ln w="15875">
            <a:solidFill>
              <a:schemeClr val="accent1"/>
            </a:solidFill>
            <a:prstDash val="solid"/>
          </a:ln>
        </p:spPr>
      </p:sp>
      <p:sp>
        <p:nvSpPr>
          <p:cNvPr id="38" name="Decisions item 3"/>
          <p:cNvSpPr txBox="1"/>
          <p:nvPr/>
        </p:nvSpPr>
        <p:spPr>
          <a:xfrm>
            <a:off x="8650224" y="3090672"/>
            <a:ext cx="2926080" cy="566928"/>
          </a:xfrm>
          <a:prstGeom prst="rect">
            <a:avLst/>
          </a:prstGeom>
          <a:noFill/>
          <a:ln/>
        </p:spPr>
        <p:txBody>
          <a:bodyPr wrap="square" lIns="0" tIns="0" rIns="0" bIns="0" rtlCol="0" anchor="t"/>
          <a:lstStyle/>
          <a:p>
            <a:pPr indent="0" marL="0">
              <a:buNone/>
            </a:pPr>
            <a:r>
              <a:rPr lang="en-US" sz="1300" dirty="0">
                <a:solidFill>
                  <a:schemeClr val="tx1"/>
                </a:solidFill>
              </a:rPr>
              <a:t>Chat at launch: Brad, both or none</a:t>
            </a:r>
            <a:endParaRPr lang="en-US" sz="1300" dirty="0"/>
          </a:p>
        </p:txBody>
      </p:sp>
      <p:sp>
        <p:nvSpPr>
          <p:cNvPr id="39" name="Decisions box 4"/>
          <p:cNvSpPr/>
          <p:nvPr/>
        </p:nvSpPr>
        <p:spPr>
          <a:xfrm>
            <a:off x="8330184" y="3822192"/>
            <a:ext cx="201168" cy="201168"/>
          </a:xfrm>
          <a:prstGeom prst="rect">
            <a:avLst/>
          </a:prstGeom>
          <a:solidFill>
            <a:schemeClr val="bg1"/>
          </a:solidFill>
          <a:ln w="15875">
            <a:solidFill>
              <a:schemeClr val="accent1"/>
            </a:solidFill>
            <a:prstDash val="solid"/>
          </a:ln>
        </p:spPr>
      </p:sp>
      <p:sp>
        <p:nvSpPr>
          <p:cNvPr id="40" name="Decisions item 4"/>
          <p:cNvSpPr txBox="1"/>
          <p:nvPr/>
        </p:nvSpPr>
        <p:spPr>
          <a:xfrm>
            <a:off x="8650224" y="3730752"/>
            <a:ext cx="2926080" cy="566928"/>
          </a:xfrm>
          <a:prstGeom prst="rect">
            <a:avLst/>
          </a:prstGeom>
          <a:noFill/>
          <a:ln/>
        </p:spPr>
        <p:txBody>
          <a:bodyPr wrap="square" lIns="0" tIns="0" rIns="0" bIns="0" rtlCol="0" anchor="t"/>
          <a:lstStyle/>
          <a:p>
            <a:pPr indent="0" marL="0">
              <a:buNone/>
            </a:pPr>
            <a:r>
              <a:rPr lang="en-US" sz="1300" dirty="0">
                <a:solidFill>
                  <a:schemeClr val="tx1"/>
                </a:solidFill>
              </a:rPr>
              <a:t>Account Login: live portal or coming soon</a:t>
            </a:r>
            <a:endParaRPr lang="en-US" sz="1300" dirty="0"/>
          </a:p>
        </p:txBody>
      </p:sp>
      <p:sp>
        <p:nvSpPr>
          <p:cNvPr id="41" name="Decisions box 5"/>
          <p:cNvSpPr/>
          <p:nvPr/>
        </p:nvSpPr>
        <p:spPr>
          <a:xfrm>
            <a:off x="8330184" y="4462272"/>
            <a:ext cx="201168" cy="201168"/>
          </a:xfrm>
          <a:prstGeom prst="rect">
            <a:avLst/>
          </a:prstGeom>
          <a:solidFill>
            <a:schemeClr val="bg1"/>
          </a:solidFill>
          <a:ln w="15875">
            <a:solidFill>
              <a:schemeClr val="accent1"/>
            </a:solidFill>
            <a:prstDash val="solid"/>
          </a:ln>
        </p:spPr>
      </p:sp>
      <p:sp>
        <p:nvSpPr>
          <p:cNvPr id="42" name="Decisions item 5"/>
          <p:cNvSpPr txBox="1"/>
          <p:nvPr/>
        </p:nvSpPr>
        <p:spPr>
          <a:xfrm>
            <a:off x="8650224" y="4370832"/>
            <a:ext cx="2926080" cy="566928"/>
          </a:xfrm>
          <a:prstGeom prst="rect">
            <a:avLst/>
          </a:prstGeom>
          <a:noFill/>
          <a:ln/>
        </p:spPr>
        <p:txBody>
          <a:bodyPr wrap="square" lIns="0" tIns="0" rIns="0" bIns="0" rtlCol="0" anchor="t"/>
          <a:lstStyle/>
          <a:p>
            <a:pPr indent="0" marL="0">
              <a:buNone/>
            </a:pPr>
            <a:r>
              <a:rPr lang="en-US" sz="1300" dirty="0">
                <a:solidFill>
                  <a:schemeClr val="tx1"/>
                </a:solidFill>
              </a:rPr>
              <a:t>Handling direct enquiries</a:t>
            </a:r>
            <a:endParaRPr lang="en-US" sz="1300" dirty="0"/>
          </a:p>
        </p:txBody>
      </p:sp>
      <p:sp>
        <p:nvSpPr>
          <p:cNvPr id="43" name="Decisions box 6"/>
          <p:cNvSpPr/>
          <p:nvPr/>
        </p:nvSpPr>
        <p:spPr>
          <a:xfrm>
            <a:off x="8330184" y="5102352"/>
            <a:ext cx="201168" cy="201168"/>
          </a:xfrm>
          <a:prstGeom prst="rect">
            <a:avLst/>
          </a:prstGeom>
          <a:solidFill>
            <a:schemeClr val="bg1"/>
          </a:solidFill>
          <a:ln w="15875">
            <a:solidFill>
              <a:schemeClr val="accent1"/>
            </a:solidFill>
            <a:prstDash val="solid"/>
          </a:ln>
        </p:spPr>
      </p:sp>
      <p:sp>
        <p:nvSpPr>
          <p:cNvPr id="44" name="Decisions item 6"/>
          <p:cNvSpPr txBox="1"/>
          <p:nvPr/>
        </p:nvSpPr>
        <p:spPr>
          <a:xfrm>
            <a:off x="8650224" y="5010912"/>
            <a:ext cx="2926080" cy="566928"/>
          </a:xfrm>
          <a:prstGeom prst="rect">
            <a:avLst/>
          </a:prstGeom>
          <a:noFill/>
          <a:ln/>
        </p:spPr>
        <p:txBody>
          <a:bodyPr wrap="square" lIns="0" tIns="0" rIns="0" bIns="0" rtlCol="0" anchor="t"/>
          <a:lstStyle/>
          <a:p>
            <a:pPr indent="0" marL="0">
              <a:buNone/>
            </a:pPr>
            <a:r>
              <a:rPr lang="en-US" sz="1300" dirty="0">
                <a:solidFill>
                  <a:schemeClr val="tx1"/>
                </a:solidFill>
              </a:rPr>
              <a:t>Portal and admin addresses</a:t>
            </a:r>
            <a:endParaRPr lang="en-US" sz="13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title" hasCustomPrompt="1"/>
          </p:nvPr>
        </p:nvSpPr>
        <p:spPr>
          <a:xfrm>
            <a:off x="731520" y="3017520"/>
            <a:ext cx="10515600" cy="1371600"/>
          </a:xfrm>
          <a:prstGeom prst="rect">
            <a:avLst/>
          </a:prstGeom>
          <a:noFill/>
          <a:ln/>
        </p:spPr>
        <p:txBody>
          <a:bodyPr wrap="square" lIns="0" tIns="0" rIns="0" bIns="0" rtlCol="0" anchor="t"/>
          <a:lstStyle/>
          <a:p>
            <a:pPr algn="l" indent="0" marL="0">
              <a:buNone/>
            </a:pPr>
            <a:r>
              <a:rPr lang="en-US" sz="4400" b="1" dirty="0">
                <a:solidFill>
                  <a:schemeClr val="bg1"/>
                </a:solidFill>
              </a:rPr>
              <a:t>Next steps</a:t>
            </a:r>
            <a:endParaRPr lang="en-US" sz="4400" dirty="0"/>
          </a:p>
        </p:txBody>
      </p:sp>
      <p:sp>
        <p:nvSpPr>
          <p:cNvPr id="3" name="Text 1"/>
          <p:cNvSpPr/>
          <p:nvPr>
            <p:ph idx="103" type="body" hasCustomPrompt="1"/>
          </p:nvPr>
        </p:nvSpPr>
        <p:spPr>
          <a:xfrm>
            <a:off x="731520" y="4434840"/>
            <a:ext cx="10058400" cy="822960"/>
          </a:xfrm>
          <a:prstGeom prst="rect">
            <a:avLst/>
          </a:prstGeom>
          <a:noFill/>
          <a:ln/>
        </p:spPr>
        <p:txBody>
          <a:bodyPr wrap="square" lIns="0" tIns="0" rIns="0" bIns="0" rtlCol="0" anchor="t"/>
          <a:lstStyle/>
          <a:p>
            <a:pPr algn="l" indent="0" marL="0">
              <a:buNone/>
            </a:pPr>
            <a:r>
              <a:rPr lang="en-US" sz="2000" dirty="0">
                <a:solidFill>
                  <a:schemeClr val="bg1"/>
                </a:solidFill>
              </a:rPr>
              <a:t>Owners on every copy item  ·  Launch date agreed  ·  Compliance sign-off booked  ·  Votes in for Phase 2</a:t>
            </a:r>
            <a:endParaRPr lang="en-US" sz="2000" dirty="0"/>
          </a:p>
        </p:txBody>
      </p:sp>
    </p:spTree>
  </p:cSld>
  <p:clrMapOvr>
    <a:masterClrMapping/>
  </p:clrMapOvr>
</p:sld>
</file>

<file path=ppt/theme/theme1.xml><?xml version="1.0" encoding="utf-8"?>
<a:theme xmlns:a="http://schemas.openxmlformats.org/drawingml/2006/main" name="Otta">
  <a:themeElements>
    <a:clrScheme name="Otta">
      <a:dk1>
        <a:srgbClr val="303133"/>
      </a:dk1>
      <a:lt1>
        <a:srgbClr val="FFFFFF"/>
      </a:lt1>
      <a:dk2>
        <a:srgbClr val="014C69"/>
      </a:dk2>
      <a:lt2>
        <a:srgbClr val="F2F7F6"/>
      </a:lt2>
      <a:accent1>
        <a:srgbClr val="2E7D74"/>
      </a:accent1>
      <a:accent2>
        <a:srgbClr val="61B9AD"/>
      </a:accent2>
      <a:accent3>
        <a:srgbClr val="5E008D"/>
      </a:accent3>
      <a:accent4>
        <a:srgbClr val="014C69"/>
      </a:accent4>
      <a:accent5>
        <a:srgbClr val="E8F4F2"/>
      </a:accent5>
      <a:accent6>
        <a:srgbClr val="F1E6F7"/>
      </a:accent6>
      <a:hlink>
        <a:srgbClr val="2E7D74"/>
      </a:hlink>
      <a:folHlink>
        <a:srgbClr val="5E008D"/>
      </a:folHlink>
    </a:clrScheme>
    <a:fontScheme name="Ott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Otta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Otta product demo</dc:title>
  <dc:subject>PptxGenJS Presentation</dc:subject>
  <dc:creator>Otta</dc:creator>
  <cp:lastModifiedBy>Otta</cp:lastModifiedBy>
  <cp:revision>1</cp:revision>
  <dcterms:created xsi:type="dcterms:W3CDTF">2026-10-15T02:12:53Z</dcterms:created>
  <dcterms:modified xsi:type="dcterms:W3CDTF">2026-10-15T02:12:53Z</dcterms:modified>
</cp:coreProperties>
</file>